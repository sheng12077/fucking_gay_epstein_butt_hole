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8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</p:sldIdLst>
  <p:sldSz cx="18288000" cy="10287000"/>
  <p:notesSz cx="6858000" cy="9144000"/>
  <p:embeddedFontLst>
    <p:embeddedFont>
      <p:font typeface="Noto Serif Bold" charset="1" panose="02020800060500020200"/>
      <p:regular r:id="rId118"/>
    </p:embeddedFont>
    <p:embeddedFont>
      <p:font typeface="Noto Serif" charset="1" panose="02020600060500020200"/>
      <p:regular r:id="rId119"/>
    </p:embeddedFont>
    <p:embeddedFont>
      <p:font typeface="Noto Sans Bold" charset="1" panose="020B0802040504020204"/>
      <p:regular r:id="rId121"/>
    </p:embeddedFont>
    <p:embeddedFont>
      <p:font typeface="芫荽" charset="1" panose="00000000000000000000"/>
      <p:regular r:id="rId122"/>
    </p:embeddedFont>
    <p:embeddedFont>
      <p:font typeface="Noto Sans" charset="1" panose="020B0502040504020204"/>
      <p:regular r:id="rId1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notesMasters/notesMaster1.xml" Type="http://schemas.openxmlformats.org/officeDocument/2006/relationships/notesMaster"/><Relationship Id="rId116" Target="theme/theme2.xml" Type="http://schemas.openxmlformats.org/officeDocument/2006/relationships/theme"/><Relationship Id="rId117" Target="notesSlides/notesSlide1.xml" Type="http://schemas.openxmlformats.org/officeDocument/2006/relationships/notesSlide"/><Relationship Id="rId118" Target="fonts/font118.fntdata" Type="http://schemas.openxmlformats.org/officeDocument/2006/relationships/font"/><Relationship Id="rId119" Target="fonts/font119.fntdata" Type="http://schemas.openxmlformats.org/officeDocument/2006/relationships/font"/><Relationship Id="rId12" Target="slides/slide7.xml" Type="http://schemas.openxmlformats.org/officeDocument/2006/relationships/slide"/><Relationship Id="rId120" Target="notesSlides/notesSlide2.xml" Type="http://schemas.openxmlformats.org/officeDocument/2006/relationships/notesSlide"/><Relationship Id="rId121" Target="fonts/font121.fntdata" Type="http://schemas.openxmlformats.org/officeDocument/2006/relationships/font"/><Relationship Id="rId122" Target="fonts/font122.fntdata" Type="http://schemas.openxmlformats.org/officeDocument/2006/relationships/font"/><Relationship Id="rId123" Target="notesSlides/notesSlide3.xml" Type="http://schemas.openxmlformats.org/officeDocument/2006/relationships/notesSlide"/><Relationship Id="rId124" Target="notesSlides/notesSlide4.xml" Type="http://schemas.openxmlformats.org/officeDocument/2006/relationships/notesSlide"/><Relationship Id="rId125" Target="fonts/font125.fntdata" Type="http://schemas.openxmlformats.org/officeDocument/2006/relationships/font"/><Relationship Id="rId126" Target="notesSlides/notesSlide5.xml" Type="http://schemas.openxmlformats.org/officeDocument/2006/relationships/notesSlide"/><Relationship Id="rId127" Target="notesSlides/notesSlide6.xml" Type="http://schemas.openxmlformats.org/officeDocument/2006/relationships/notesSlide"/><Relationship Id="rId128" Target="notesSlides/notesSlide7.xml" Type="http://schemas.openxmlformats.org/officeDocument/2006/relationships/notesSlide"/><Relationship Id="rId129" Target="notesSlides/notesSlide8.xml" Type="http://schemas.openxmlformats.org/officeDocument/2006/relationships/notesSlide"/><Relationship Id="rId13" Target="slides/slide8.xml" Type="http://schemas.openxmlformats.org/officeDocument/2006/relationships/slide"/><Relationship Id="rId130" Target="notesSlides/notesSlide9.xml" Type="http://schemas.openxmlformats.org/officeDocument/2006/relationships/notesSlide"/><Relationship Id="rId131" Target="notesSlides/notesSlide10.xml" Type="http://schemas.openxmlformats.org/officeDocument/2006/relationships/notesSlide"/><Relationship Id="rId132" Target="notesSlides/notesSlide11.xml" Type="http://schemas.openxmlformats.org/officeDocument/2006/relationships/notesSlide"/><Relationship Id="rId133" Target="notesSlides/notesSlide12.xml" Type="http://schemas.openxmlformats.org/officeDocument/2006/relationships/notesSlide"/><Relationship Id="rId134" Target="notesSlides/notesSlide13.xml" Type="http://schemas.openxmlformats.org/officeDocument/2006/relationships/notesSlide"/><Relationship Id="rId135" Target="notesSlides/notesSlide14.xml" Type="http://schemas.openxmlformats.org/officeDocument/2006/relationships/notesSlide"/><Relationship Id="rId136" Target="notesSlides/notesSlide15.xml" Type="http://schemas.openxmlformats.org/officeDocument/2006/relationships/notesSlide"/><Relationship Id="rId137" Target="notesSlides/notesSlide16.xml" Type="http://schemas.openxmlformats.org/officeDocument/2006/relationships/notesSlide"/><Relationship Id="rId138" Target="notesSlides/notesSlide17.xml" Type="http://schemas.openxmlformats.org/officeDocument/2006/relationships/notesSlide"/><Relationship Id="rId139" Target="notesSlides/notesSlide18.xml" Type="http://schemas.openxmlformats.org/officeDocument/2006/relationships/notesSlide"/><Relationship Id="rId14" Target="slides/slide9.xml" Type="http://schemas.openxmlformats.org/officeDocument/2006/relationships/slide"/><Relationship Id="rId140" Target="notesSlides/notesSlide19.xml" Type="http://schemas.openxmlformats.org/officeDocument/2006/relationships/notesSlide"/><Relationship Id="rId141" Target="notesSlides/notesSlide20.xml" Type="http://schemas.openxmlformats.org/officeDocument/2006/relationships/notesSlide"/><Relationship Id="rId142" Target="notesSlides/notesSlide21.xml" Type="http://schemas.openxmlformats.org/officeDocument/2006/relationships/notesSlide"/><Relationship Id="rId143" Target="notesSlides/notesSlide22.xml" Type="http://schemas.openxmlformats.org/officeDocument/2006/relationships/notesSlide"/><Relationship Id="rId144" Target="notesSlides/notesSlide23.xml" Type="http://schemas.openxmlformats.org/officeDocument/2006/relationships/notesSlide"/><Relationship Id="rId145" Target="notesSlides/notesSlide24.xml" Type="http://schemas.openxmlformats.org/officeDocument/2006/relationships/notesSlide"/><Relationship Id="rId146" Target="notesSlides/notesSlide25.xml" Type="http://schemas.openxmlformats.org/officeDocument/2006/relationships/notesSlide"/><Relationship Id="rId147" Target="notesSlides/notesSlide26.xml" Type="http://schemas.openxmlformats.org/officeDocument/2006/relationships/notesSlide"/><Relationship Id="rId148" Target="notesSlides/notesSlide27.xml" Type="http://schemas.openxmlformats.org/officeDocument/2006/relationships/notesSlide"/><Relationship Id="rId149" Target="notesSlides/notesSlide28.xml" Type="http://schemas.openxmlformats.org/officeDocument/2006/relationships/notesSlide"/><Relationship Id="rId15" Target="slides/slide10.xml" Type="http://schemas.openxmlformats.org/officeDocument/2006/relationships/slide"/><Relationship Id="rId150" Target="notesSlides/notesSlide29.xml" Type="http://schemas.openxmlformats.org/officeDocument/2006/relationships/notesSlide"/><Relationship Id="rId151" Target="notesSlides/notesSlide30.xml" Type="http://schemas.openxmlformats.org/officeDocument/2006/relationships/notesSlide"/><Relationship Id="rId152" Target="notesSlides/notesSlide31.xml" Type="http://schemas.openxmlformats.org/officeDocument/2006/relationships/notesSlide"/><Relationship Id="rId153" Target="notesSlides/notesSlide32.xml" Type="http://schemas.openxmlformats.org/officeDocument/2006/relationships/notesSlide"/><Relationship Id="rId154" Target="notesSlides/notesSlide33.xml" Type="http://schemas.openxmlformats.org/officeDocument/2006/relationships/notesSlide"/><Relationship Id="rId155" Target="notesSlides/notesSlide34.xml" Type="http://schemas.openxmlformats.org/officeDocument/2006/relationships/notesSlide"/><Relationship Id="rId156" Target="notesSlides/notesSlide35.xml" Type="http://schemas.openxmlformats.org/officeDocument/2006/relationships/notesSlide"/><Relationship Id="rId157" Target="notesSlides/notesSlide36.xml" Type="http://schemas.openxmlformats.org/officeDocument/2006/relationships/notesSlide"/><Relationship Id="rId158" Target="notesSlides/notesSlide37.xml" Type="http://schemas.openxmlformats.org/officeDocument/2006/relationships/notesSlide"/><Relationship Id="rId159" Target="notesSlides/notesSlide38.xml" Type="http://schemas.openxmlformats.org/officeDocument/2006/relationships/notesSlide"/><Relationship Id="rId16" Target="slides/slide11.xml" Type="http://schemas.openxmlformats.org/officeDocument/2006/relationships/slide"/><Relationship Id="rId160" Target="notesSlides/notesSlide39.xml" Type="http://schemas.openxmlformats.org/officeDocument/2006/relationships/notesSlide"/><Relationship Id="rId161" Target="notesSlides/notesSlide40.xml" Type="http://schemas.openxmlformats.org/officeDocument/2006/relationships/notesSlide"/><Relationship Id="rId162" Target="notesSlides/notesSlide41.xml" Type="http://schemas.openxmlformats.org/officeDocument/2006/relationships/notesSlide"/><Relationship Id="rId163" Target="notesSlides/notesSlide42.xml" Type="http://schemas.openxmlformats.org/officeDocument/2006/relationships/notesSlide"/><Relationship Id="rId164" Target="notesSlides/notesSlide43.xml" Type="http://schemas.openxmlformats.org/officeDocument/2006/relationships/notesSlide"/><Relationship Id="rId165" Target="notesSlides/notesSlide44.xml" Type="http://schemas.openxmlformats.org/officeDocument/2006/relationships/notesSlide"/><Relationship Id="rId166" Target="notesSlides/notesSlide45.xml" Type="http://schemas.openxmlformats.org/officeDocument/2006/relationships/notesSlide"/><Relationship Id="rId167" Target="notesSlides/notesSlide46.xml" Type="http://schemas.openxmlformats.org/officeDocument/2006/relationships/notesSlide"/><Relationship Id="rId168" Target="notesSlides/notesSlide47.xml" Type="http://schemas.openxmlformats.org/officeDocument/2006/relationships/notesSlide"/><Relationship Id="rId169" Target="notesSlides/notesSlide48.xml" Type="http://schemas.openxmlformats.org/officeDocument/2006/relationships/notesSlide"/><Relationship Id="rId17" Target="slides/slide12.xml" Type="http://schemas.openxmlformats.org/officeDocument/2006/relationships/slide"/><Relationship Id="rId170" Target="notesSlides/notesSlide49.xml" Type="http://schemas.openxmlformats.org/officeDocument/2006/relationships/notesSlide"/><Relationship Id="rId171" Target="notesSlides/notesSlide50.xml" Type="http://schemas.openxmlformats.org/officeDocument/2006/relationships/notesSlide"/><Relationship Id="rId172" Target="notesSlides/notesSlide51.xml" Type="http://schemas.openxmlformats.org/officeDocument/2006/relationships/notesSlide"/><Relationship Id="rId173" Target="notesSlides/notesSlide52.xml" Type="http://schemas.openxmlformats.org/officeDocument/2006/relationships/notesSlide"/><Relationship Id="rId174" Target="notesSlides/notesSlide53.xml" Type="http://schemas.openxmlformats.org/officeDocument/2006/relationships/notesSlide"/><Relationship Id="rId175" Target="notesSlides/notesSlide54.xml" Type="http://schemas.openxmlformats.org/officeDocument/2006/relationships/notesSlide"/><Relationship Id="rId176" Target="notesSlides/notesSlide55.xml" Type="http://schemas.openxmlformats.org/officeDocument/2006/relationships/notesSlide"/><Relationship Id="rId177" Target="notesSlides/notesSlide56.xml" Type="http://schemas.openxmlformats.org/officeDocument/2006/relationships/notesSlide"/><Relationship Id="rId178" Target="notesSlides/notesSlide57.xml" Type="http://schemas.openxmlformats.org/officeDocument/2006/relationships/notesSlide"/><Relationship Id="rId179" Target="notesSlides/notesSlide58.xml" Type="http://schemas.openxmlformats.org/officeDocument/2006/relationships/notesSlide"/><Relationship Id="rId18" Target="slides/slide13.xml" Type="http://schemas.openxmlformats.org/officeDocument/2006/relationships/slide"/><Relationship Id="rId180" Target="notesSlides/notesSlide59.xml" Type="http://schemas.openxmlformats.org/officeDocument/2006/relationships/notesSlide"/><Relationship Id="rId181" Target="notesSlides/notesSlide60.xml" Type="http://schemas.openxmlformats.org/officeDocument/2006/relationships/notesSlide"/><Relationship Id="rId182" Target="notesSlides/notesSlide61.xml" Type="http://schemas.openxmlformats.org/officeDocument/2006/relationships/notesSlide"/><Relationship Id="rId183" Target="notesSlides/notesSlide62.xml" Type="http://schemas.openxmlformats.org/officeDocument/2006/relationships/notesSlide"/><Relationship Id="rId184" Target="notesSlides/notesSlide63.xml" Type="http://schemas.openxmlformats.org/officeDocument/2006/relationships/notesSlide"/><Relationship Id="rId185" Target="notesSlides/notesSlide64.xml" Type="http://schemas.openxmlformats.org/officeDocument/2006/relationships/notesSlide"/><Relationship Id="rId186" Target="notesSlides/notesSlide65.xml" Type="http://schemas.openxmlformats.org/officeDocument/2006/relationships/notesSlide"/><Relationship Id="rId187" Target="notesSlides/notesSlide66.xml" Type="http://schemas.openxmlformats.org/officeDocument/2006/relationships/notesSlide"/><Relationship Id="rId188" Target="notesSlides/notesSlide67.xml" Type="http://schemas.openxmlformats.org/officeDocument/2006/relationships/notesSlide"/><Relationship Id="rId189" Target="notesSlides/notesSlide68.xml" Type="http://schemas.openxmlformats.org/officeDocument/2006/relationships/notesSlide"/><Relationship Id="rId19" Target="slides/slide14.xml" Type="http://schemas.openxmlformats.org/officeDocument/2006/relationships/slide"/><Relationship Id="rId190" Target="notesSlides/notesSlide69.xml" Type="http://schemas.openxmlformats.org/officeDocument/2006/relationships/notesSlide"/><Relationship Id="rId191" Target="notesSlides/notesSlide70.xml" Type="http://schemas.openxmlformats.org/officeDocument/2006/relationships/notesSlide"/><Relationship Id="rId192" Target="notesSlides/notesSlide71.xml" Type="http://schemas.openxmlformats.org/officeDocument/2006/relationships/notesSlide"/><Relationship Id="rId193" Target="notesSlides/notesSlide72.xml" Type="http://schemas.openxmlformats.org/officeDocument/2006/relationships/notesSlide"/><Relationship Id="rId194" Target="notesSlides/notesSlide73.xml" Type="http://schemas.openxmlformats.org/officeDocument/2006/relationships/notesSlide"/><Relationship Id="rId195" Target="notesSlides/notesSlide74.xml" Type="http://schemas.openxmlformats.org/officeDocument/2006/relationships/notesSlide"/><Relationship Id="rId196" Target="notesSlides/notesSlide75.xml" Type="http://schemas.openxmlformats.org/officeDocument/2006/relationships/notesSlide"/><Relationship Id="rId197" Target="notesSlides/notesSlide76.xml" Type="http://schemas.openxmlformats.org/officeDocument/2006/relationships/notesSlide"/><Relationship Id="rId198" Target="notesSlides/notesSlide77.xml" Type="http://schemas.openxmlformats.org/officeDocument/2006/relationships/notesSlide"/><Relationship Id="rId199" Target="notesSlides/notesSlide78.xml" Type="http://schemas.openxmlformats.org/officeDocument/2006/relationships/notes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00" Target="notesSlides/notesSlide79.xml" Type="http://schemas.openxmlformats.org/officeDocument/2006/relationships/notesSlide"/><Relationship Id="rId201" Target="notesSlides/notesSlide80.xml" Type="http://schemas.openxmlformats.org/officeDocument/2006/relationships/notesSlide"/><Relationship Id="rId202" Target="notesSlides/notesSlide81.xml" Type="http://schemas.openxmlformats.org/officeDocument/2006/relationships/notesSlide"/><Relationship Id="rId203" Target="notesSlides/notesSlide82.xml" Type="http://schemas.openxmlformats.org/officeDocument/2006/relationships/notesSlide"/><Relationship Id="rId204" Target="notesSlides/notesSlide83.xml" Type="http://schemas.openxmlformats.org/officeDocument/2006/relationships/notesSlide"/><Relationship Id="rId205" Target="notesSlides/notesSlide84.xml" Type="http://schemas.openxmlformats.org/officeDocument/2006/relationships/notesSlide"/><Relationship Id="rId206" Target="notesSlides/notesSlide85.xml" Type="http://schemas.openxmlformats.org/officeDocument/2006/relationships/notesSlide"/><Relationship Id="rId207" Target="notesSlides/notesSlide86.xml" Type="http://schemas.openxmlformats.org/officeDocument/2006/relationships/notesSlide"/><Relationship Id="rId208" Target="notesSlides/notesSlide87.xml" Type="http://schemas.openxmlformats.org/officeDocument/2006/relationships/notesSlide"/><Relationship Id="rId209" Target="notesSlides/notesSlide88.xml" Type="http://schemas.openxmlformats.org/officeDocument/2006/relationships/notesSlide"/><Relationship Id="rId21" Target="slides/slide16.xml" Type="http://schemas.openxmlformats.org/officeDocument/2006/relationships/slide"/><Relationship Id="rId210" Target="notesSlides/notesSlide89.xml" Type="http://schemas.openxmlformats.org/officeDocument/2006/relationships/notes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1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2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3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4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5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6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7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8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9.xml" Type="http://schemas.openxmlformats.org/officeDocument/2006/relationships/slide"/></Relationships>
</file>

<file path=ppt/notesSlides/_rels/notesSlide5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0.xml" Type="http://schemas.openxmlformats.org/officeDocument/2006/relationships/slide"/></Relationships>
</file>

<file path=ppt/notesSlides/_rels/notesSlide5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1.xml" Type="http://schemas.openxmlformats.org/officeDocument/2006/relationships/slide"/></Relationships>
</file>

<file path=ppt/notesSlides/_rels/notesSlide5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2.xml" Type="http://schemas.openxmlformats.org/officeDocument/2006/relationships/slide"/></Relationships>
</file>

<file path=ppt/notesSlides/_rels/notesSlide5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3.xml" Type="http://schemas.openxmlformats.org/officeDocument/2006/relationships/slide"/></Relationships>
</file>

<file path=ppt/notesSlides/_rels/notesSlide5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4.xml" Type="http://schemas.openxmlformats.org/officeDocument/2006/relationships/slide"/></Relationships>
</file>

<file path=ppt/notesSlides/_rels/notesSlide5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5.xml" Type="http://schemas.openxmlformats.org/officeDocument/2006/relationships/slide"/></Relationships>
</file>

<file path=ppt/notesSlides/_rels/notesSlide5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6.xml" Type="http://schemas.openxmlformats.org/officeDocument/2006/relationships/slide"/></Relationships>
</file>

<file path=ppt/notesSlides/_rels/notesSlide5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7.xml" Type="http://schemas.openxmlformats.org/officeDocument/2006/relationships/slide"/></Relationships>
</file>

<file path=ppt/notesSlides/_rels/notesSlide6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8.xml" Type="http://schemas.openxmlformats.org/officeDocument/2006/relationships/slide"/></Relationships>
</file>

<file path=ppt/notesSlides/_rels/notesSlide6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9.xml" Type="http://schemas.openxmlformats.org/officeDocument/2006/relationships/slide"/></Relationships>
</file>

<file path=ppt/notesSlides/_rels/notesSlide6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0.xml" Type="http://schemas.openxmlformats.org/officeDocument/2006/relationships/slide"/></Relationships>
</file>

<file path=ppt/notesSlides/_rels/notesSlide6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1.xml" Type="http://schemas.openxmlformats.org/officeDocument/2006/relationships/slide"/></Relationships>
</file>

<file path=ppt/notesSlides/_rels/notesSlide6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2.xml" Type="http://schemas.openxmlformats.org/officeDocument/2006/relationships/slide"/></Relationships>
</file>

<file path=ppt/notesSlides/_rels/notesSlide6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3.xml" Type="http://schemas.openxmlformats.org/officeDocument/2006/relationships/slide"/></Relationships>
</file>

<file path=ppt/notesSlides/_rels/notesSlide6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4.xml" Type="http://schemas.openxmlformats.org/officeDocument/2006/relationships/slide"/></Relationships>
</file>

<file path=ppt/notesSlides/_rels/notesSlide6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5.xml" Type="http://schemas.openxmlformats.org/officeDocument/2006/relationships/slide"/></Relationships>
</file>

<file path=ppt/notesSlides/_rels/notesSlide6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6.xml" Type="http://schemas.openxmlformats.org/officeDocument/2006/relationships/slide"/></Relationships>
</file>

<file path=ppt/notesSlides/_rels/notesSlide6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7.xml" Type="http://schemas.openxmlformats.org/officeDocument/2006/relationships/slide"/></Relationships>
</file>

<file path=ppt/notesSlides/_rels/notesSlide7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8.xml" Type="http://schemas.openxmlformats.org/officeDocument/2006/relationships/slide"/></Relationships>
</file>

<file path=ppt/notesSlides/_rels/notesSlide7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9.xml" Type="http://schemas.openxmlformats.org/officeDocument/2006/relationships/slide"/></Relationships>
</file>

<file path=ppt/notesSlides/_rels/notesSlide7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0.xml" Type="http://schemas.openxmlformats.org/officeDocument/2006/relationships/slide"/></Relationships>
</file>

<file path=ppt/notesSlides/_rels/notesSlide7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1.xml" Type="http://schemas.openxmlformats.org/officeDocument/2006/relationships/slide"/></Relationships>
</file>

<file path=ppt/notesSlides/_rels/notesSlide7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2.xml" Type="http://schemas.openxmlformats.org/officeDocument/2006/relationships/slide"/></Relationships>
</file>

<file path=ppt/notesSlides/_rels/notesSlide7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3.xml" Type="http://schemas.openxmlformats.org/officeDocument/2006/relationships/slide"/></Relationships>
</file>

<file path=ppt/notesSlides/_rels/notesSlide7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4.xml" Type="http://schemas.openxmlformats.org/officeDocument/2006/relationships/slide"/></Relationships>
</file>

<file path=ppt/notesSlides/_rels/notesSlide7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5.xml" Type="http://schemas.openxmlformats.org/officeDocument/2006/relationships/slide"/></Relationships>
</file>

<file path=ppt/notesSlides/_rels/notesSlide7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6.xml" Type="http://schemas.openxmlformats.org/officeDocument/2006/relationships/slide"/></Relationships>
</file>

<file path=ppt/notesSlides/_rels/notesSlide7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4.xml" Type="http://schemas.openxmlformats.org/officeDocument/2006/relationships/slide"/></Relationships>
</file>

<file path=ppt/notesSlides/_rels/notesSlide8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6.xml" Type="http://schemas.openxmlformats.org/officeDocument/2006/relationships/slide"/></Relationships>
</file>

<file path=ppt/notesSlides/_rels/notesSlide8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7.xml" Type="http://schemas.openxmlformats.org/officeDocument/2006/relationships/slide"/></Relationships>
</file>

<file path=ppt/notesSlides/_rels/notesSlide8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8.xml" Type="http://schemas.openxmlformats.org/officeDocument/2006/relationships/slide"/></Relationships>
</file>

<file path=ppt/notesSlides/_rels/notesSlide8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9.xml" Type="http://schemas.openxmlformats.org/officeDocument/2006/relationships/slide"/></Relationships>
</file>

<file path=ppt/notesSlides/_rels/notesSlide8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1.xml" Type="http://schemas.openxmlformats.org/officeDocument/2006/relationships/slide"/></Relationships>
</file>

<file path=ppt/notesSlides/_rels/notesSlide8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2.xml" Type="http://schemas.openxmlformats.org/officeDocument/2006/relationships/slide"/></Relationships>
</file>

<file path=ppt/notesSlides/_rels/notesSlide8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3.xml" Type="http://schemas.openxmlformats.org/officeDocument/2006/relationships/slide"/></Relationships>
</file>

<file path=ppt/notesSlides/_rels/notesSlide8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4.xml" Type="http://schemas.openxmlformats.org/officeDocument/2006/relationships/slide"/></Relationships>
</file>

<file path=ppt/notesSlides/_rels/notesSlide8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6.xml" Type="http://schemas.openxmlformats.org/officeDocument/2006/relationships/slide"/></Relationships>
</file>

<file path=ppt/notesSlides/_rels/notesSlide8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67676767</a:t>
            </a:r>
          </a:p>
          <a:p>
            <a:r>
              <a:rPr lang="en-US"/>
              <a:t>測試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郲:ㄌㄞˊ </a:t>
            </a:r>
          </a:p>
          <a:p>
            <a:r>
              <a:rPr lang="en-US"/>
              <a:t>逵:ㄎㄨㄟˊ(指交叉路口或寬廣的大路)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「入許」位在周鄭關係惡化與鄭國權力上升的過程中。</a:t>
            </a:r>
          </a:p>
          <a:p>
            <a:r>
              <a:rPr lang="en-US"/>
              <a:t/>
            </a:r>
          </a:p>
          <a:p>
            <a:r>
              <a:rPr lang="en-US"/>
              <a:t>到前712年，實際討伐、分配諸侯國命運的是齊、魯、鄭，而非周天子直接主持；前707年周王甚至親征鄭而戰敗，權力轉移更明顯。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分析「會、謀、伐、授兵」：戰爭不是突然發生，而是經過會商、禮制程序與正當性語言。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功能是「先確立戰爭決策」，後面才接「軍事動員 → 私人衝突 → 正式攻城」。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最容易被忽略的是：「於郲」與「謀」——它們讓這句話成為一場正式外交會商，而非單純史事記錄。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後面會提及可以跳過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為什麼《左傳》特別說『謀』？</a:t>
            </a:r>
          </a:p>
          <a:p>
            <a:r>
              <a:rPr lang="en-US"/>
              <a:t/>
            </a:r>
          </a:p>
          <a:p>
            <a:r>
              <a:rPr lang="en-US"/>
              <a:t>可以答：它把伐許界定成經過外交協商的共同軍事決策，並為《春秋》經文後來的「公及齊侯、鄭伯入許」提供敘事背景。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前一年明言「王命」；伐許這一年，文本卻沒有在「謀伐許」時交代王命。</a:t>
            </a:r>
          </a:p>
          <a:p>
            <a:r>
              <a:rPr lang="en-US"/>
              <a:t/>
            </a:r>
          </a:p>
          <a:p>
            <a:r>
              <a:rPr lang="en-US"/>
              <a:t>→ 這個落差，後來正成為經學家批評鄭莊公「專擅」的重要切入點。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為什麼要打許？</a:t>
            </a:r>
          </a:p>
          <a:p>
            <a:r>
              <a:rPr lang="en-US"/>
              <a:t>第一句沒有說，後文才補出理由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不要硬說「伐＝不正義、討＝正義」；更精確的說法是：文本用「討」把出兵理由框架成對有罪者的懲罰。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因此：後世經學家會問——諸侯能否自行判定另一個諸侯「有罪」並出兵？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共同問題：鄭莊公有沒有資格自己判斷「許有罪」？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注意：這是後世詮釋，不等於《左傳》原文明說。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這一段真正重要的是「順序」：國家動員在前，私人衝突緊接其後。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這一段真正重要的是「順序」：國家動員在前，私人衝突緊接其後。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這一段真正重要的是「順序」：國家動員在前，私人衝突緊接其後。</a:t>
            </a:r>
          </a:p>
          <a:p>
            <a:r>
              <a:rPr lang="en-US"/>
              <a:t/>
            </a:r>
          </a:p>
          <a:p>
            <a:r>
              <a:rPr lang="en-US"/>
              <a:t>逵:ㄎㄨㄟˊ(指交叉路口或寬廣的大路)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前一句是諸侯會商；這一句開始進入鄭國內部的執行階段。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伐許不是私人械鬥，而是經過國君決策與國家儀式啟動的戰爭。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這個排列本身就值得解讀：制度有秩序，不代表人能克制欲望。</a:t>
            </a:r>
          </a:p>
          <a:p>
            <a:r>
              <a:rPr lang="en-US"/>
              <a:t/>
            </a:r>
          </a:p>
          <a:p>
            <a:r>
              <a:rPr lang="en-US"/>
              <a:t>可用的文本判斷：國家秩序與個人情緒被刻意放在同一場景中，為後面「私怨殺同袍」預作鋪墊。</a:t>
            </a:r>
          </a:p>
          <a:p>
            <a:r>
              <a:rPr lang="en-US"/>
              <a:t/>
            </a:r>
          </a:p>
          <a:p>
            <a:r>
              <a:rPr lang="en-US"/>
              <a:t>敘事的反差：最正式的「大宮」，緊接最私人的「爭車」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「爭車」不是一句帶過：動作一步步升高衝突</a:t>
            </a:r>
          </a:p>
          <a:p>
            <a:r>
              <a:rPr lang="en-US"/>
              <a:t/>
            </a:r>
          </a:p>
          <a:p>
            <a:r>
              <a:rPr lang="en-US"/>
              <a:t>《左傳》用連續動詞把「競爭」寫成「追逐—忿怒」，為後面殺人準備心理因果。</a:t>
            </a:r>
          </a:p>
          <a:p>
            <a:r>
              <a:rPr lang="en-US"/>
              <a:t/>
            </a:r>
          </a:p>
          <a:p>
            <a:r>
              <a:rPr lang="en-US"/>
              <a:t>「怒」是敘事轉折點：下一次兩人直接互動，已不是爭車，而是在攻城時射殺。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《左傳》常先交代一個看似細小的私人事件，後面再讓它進入國家大事。這裡「怒」就是把爭車與戰場射殺接起來的鉸鏈。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攻城勝利只是前半段；後半段要處理「許是否滅亡、誰有權取得許、為何魯隱公拒絕」。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這正是康凱淋（2026）指出的「敘事重心」：經文並列三國，傳文卻突出鄭。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夏季會商只明寫魯、鄭；秋季正式伐許時，齊侯加入聯軍。</a:t>
            </a:r>
          </a:p>
          <a:p>
            <a:r>
              <a:rPr lang="en-US"/>
              <a:t/>
            </a:r>
          </a:p>
          <a:p>
            <a:r>
              <a:rPr lang="en-US"/>
              <a:t>回答人物關係題時要分清楚：魯隱公與鄭莊公是戰前會商者；齊僖公是正式聯軍成員，並在戰後首先提出「讓許」。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「傅」在此指迫近、逼近許城；敘事開始進入攻城現場。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「蝥弧」不是普通軍旗；它直接代表國君權威。</a:t>
            </a:r>
          </a:p>
          <a:p>
            <a:r>
              <a:rPr lang="en-US"/>
              <a:t/>
            </a:r>
          </a:p>
          <a:p>
            <a:r>
              <a:rPr lang="en-US"/>
              <a:t>這也解釋後面瑕叔盈為何能喊「君登矣」：旗幟本身具有代表國君的政治功能。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瑕叔盈的功能是把「個人先登」轉化成「全軍登城」。</a:t>
            </a:r>
          </a:p>
          <a:p>
            <a:r>
              <a:rPr lang="en-US"/>
              <a:t/>
            </a:r>
          </a:p>
          <a:p>
            <a:r>
              <a:rPr lang="en-US"/>
              <a:t>可提出的判斷：個人可被替換，但代表國君與國家的軍事符號不能中斷。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鄭莊公本人沒有登城；瑕叔盈利用君旗的象徵權威鼓舞軍隊。</a:t>
            </a:r>
          </a:p>
          <a:p>
            <a:r>
              <a:rPr lang="en-US"/>
              <a:t/>
            </a:r>
          </a:p>
          <a:p>
            <a:r>
              <a:rPr lang="en-US"/>
              <a:t>瑕叔盈不是單純接替潁考叔，他把象徵性的「君」重新帶回軍隊，修補了子都造成的中斷。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至少在經文與傳文的表述上，許國被攻入、國君出奔，但沒有在此刻被正式寫成「滅國」。</a:t>
            </a:r>
          </a:p>
          <a:p>
            <a:r>
              <a:rPr lang="en-US"/>
              <a:t/>
            </a:r>
          </a:p>
          <a:p>
            <a:r>
              <a:rPr lang="en-US"/>
              <a:t>答題時不要把「攻入許國」直接簡化成「鄭國滅許」。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齊、魯、鄭共同作戰，因此勝利後不能假裝只有鄭國一方有發言權。</a:t>
            </a:r>
          </a:p>
          <a:p>
            <a:r>
              <a:rPr lang="en-US"/>
              <a:t/>
            </a:r>
          </a:p>
          <a:p>
            <a:r>
              <a:rPr lang="en-US"/>
              <a:t>「讓」不只是客氣：它處理聯軍勝利後最敏感的問題——誰能把軍事勝利轉化成政治控制。這也避免三國因戰果分配而立即發生新的衝突。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「不共」與「討」</a:t>
            </a:r>
          </a:p>
          <a:p>
            <a:r>
              <a:rPr lang="en-US"/>
              <a:t>它們不是單純字義，而是在建立戰爭的正當性語言。</a:t>
            </a:r>
          </a:p>
          <a:p>
            <a:r>
              <a:rPr lang="en-US"/>
              <a:t/>
            </a:r>
          </a:p>
          <a:p>
            <a:r>
              <a:rPr lang="en-US"/>
              <a:t>真正關鍵不是「許有沒有被打」，而是誰有資格判定許「有罪」並發動「討」。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他的辭令把出兵定義成「討罪」，不是「取地」。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所以：「討罪」若已完成，就不應再把懲罰無限延伸成吞併。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這一句是戰後結果，也回頭驗證前文為何一直突出鄭國人物。</a:t>
            </a:r>
          </a:p>
          <a:p>
            <a:r>
              <a:rPr lang="en-US"/>
              <a:t/>
            </a:r>
          </a:p>
          <a:p>
            <a:r>
              <a:rPr lang="en-US"/>
              <a:t>換句話說，「乃與鄭人」不是突然發生；整篇敘事早已一步步把讀者帶向「鄭國是主體」的理解。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這不是替鄭莊公「找理由」，而是解釋為何許對鄭的戰略價值特別高。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「禮／義」與「利益」不是二選一：文本故意讓兩者並存</a:t>
            </a:r>
          </a:p>
          <a:p>
            <a:r>
              <a:rPr lang="en-US"/>
              <a:t/>
            </a:r>
          </a:p>
          <a:p>
            <a:r>
              <a:rPr lang="en-US"/>
              <a:t>表面政治語言談討罪與禮讓；底層仍然存在軍事、土地與勢力分配。</a:t>
            </a:r>
          </a:p>
          <a:p>
            <a:r>
              <a:rPr lang="en-US"/>
              <a:t/>
            </a:r>
          </a:p>
          <a:p>
            <a:r>
              <a:rPr lang="en-US"/>
              <a:t>春秋政治不是「有禮就沒有利益」，而是利益往往需要透過禮、義、討罪等語言取得正當性。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這篇論文不是替鄭莊公辯護，而是提醒我們：經義判斷必須放回整篇故事。</a:t>
            </a:r>
          </a:p>
          <a:p>
            <a:r>
              <a:rPr lang="en-US"/>
              <a:t/>
            </a:r>
          </a:p>
          <a:p>
            <a:r>
              <a:rPr lang="en-US"/>
              <a:t>康凱淋的結論方向：古文評選的價值，就在於把前後情節與「君子曰」一起讀，而不是只抓一句褒貶。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先把人物關係講清楚，後面所有「為什麼」才有基礎。</a:t>
            </a:r>
          </a:p>
          <a:p>
            <a:r>
              <a:rPr lang="en-US"/>
              <a:t/>
            </a:r>
          </a:p>
          <a:p>
            <a:r>
              <a:rPr lang="en-US"/>
              <a:t>戰後「齊讓魯 → 魯拒 → 乃與鄭」＝聯盟內部重新協調戰果。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既是軍事主導者，也是最有爭議的人物</a:t>
            </a:r>
          </a:p>
          <a:p>
            <a:r>
              <a:rPr lang="en-US"/>
              <a:t/>
            </a:r>
          </a:p>
          <a:p>
            <a:r>
              <a:rPr lang="en-US"/>
              <a:t>康凱淋指出：《左傳》的敘事情節幾乎都繫於鄭國人物，後世因此形成「首謀在鄭」的判斷。</a:t>
            </a:r>
          </a:p>
          <a:p>
            <a:r>
              <a:rPr lang="en-US"/>
              <a:t/>
            </a:r>
          </a:p>
          <a:p>
            <a:r>
              <a:rPr lang="en-US"/>
              <a:t>所以不要把他只說成「仁君」或「侵略者」：真正有價值的是兩種評價如何同時成立。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既是軍事主導者，也是最有爭議的人物</a:t>
            </a:r>
          </a:p>
          <a:p>
            <a:r>
              <a:rPr lang="en-US"/>
              <a:t/>
            </a:r>
          </a:p>
          <a:p>
            <a:r>
              <a:rPr lang="en-US"/>
              <a:t>康凱淋指出：《左傳》的敘事情節幾乎都繫於鄭國人物，後世因此形成「首謀在鄭」的判斷。</a:t>
            </a:r>
          </a:p>
          <a:p>
            <a:r>
              <a:rPr lang="en-US"/>
              <a:t/>
            </a:r>
          </a:p>
          <a:p>
            <a:r>
              <a:rPr lang="en-US"/>
              <a:t>所以不要把他只說成「仁君」或「侵略者」：真正有價值的是兩種評價如何同時成立。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既是軍事主導者，也是最有爭議的人物</a:t>
            </a:r>
          </a:p>
          <a:p>
            <a:r>
              <a:rPr lang="en-US"/>
              <a:t/>
            </a:r>
          </a:p>
          <a:p>
            <a:r>
              <a:rPr lang="en-US"/>
              <a:t>康凱淋指出：《左傳》的敘事情節幾乎都繫於鄭國人物，後世因此形成「首謀在鄭」的判斷。</a:t>
            </a:r>
          </a:p>
          <a:p>
            <a:r>
              <a:rPr lang="en-US"/>
              <a:t/>
            </a:r>
          </a:p>
          <a:p>
            <a:r>
              <a:rPr lang="en-US"/>
              <a:t>所以不要把他只說成「仁君」或「侵略者」：真正有價值的是兩種評價如何同時成立。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既是軍事主導者，也是最有爭議的人物</a:t>
            </a:r>
          </a:p>
          <a:p>
            <a:r>
              <a:rPr lang="en-US"/>
              <a:t/>
            </a:r>
          </a:p>
          <a:p>
            <a:r>
              <a:rPr lang="en-US"/>
              <a:t>康凱淋指出：《左傳》的敘事情節幾乎都繫於鄭國人物，後世因此形成「首謀在鄭」的判斷。</a:t>
            </a:r>
          </a:p>
          <a:p>
            <a:r>
              <a:rPr lang="en-US"/>
              <a:t/>
            </a:r>
          </a:p>
          <a:p>
            <a:r>
              <a:rPr lang="en-US"/>
              <a:t>所以不要把他只說成「仁君」或「侵略者」：真正有價值的是兩種評價如何同時成立。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既是軍事主導者，也是最有爭議的人物</a:t>
            </a:r>
          </a:p>
          <a:p>
            <a:r>
              <a:rPr lang="en-US"/>
              <a:t/>
            </a:r>
          </a:p>
          <a:p>
            <a:r>
              <a:rPr lang="en-US"/>
              <a:t>康凱淋指出：《左傳》的敘事情節幾乎都繫於鄭國人物，後世因此形成「首謀在鄭」的判斷。</a:t>
            </a:r>
          </a:p>
          <a:p>
            <a:r>
              <a:rPr lang="en-US"/>
              <a:t/>
            </a:r>
          </a:p>
          <a:p>
            <a:r>
              <a:rPr lang="en-US"/>
              <a:t>所以不要把他只說成「仁君」或「侵略者」：真正有價值的是兩種評價如何同時成立。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參與戰爭，但戰後又刻意與「貪土」拉開距離</a:t>
            </a:r>
          </a:p>
          <a:p>
            <a:r>
              <a:rPr lang="en-US"/>
              <a:t/>
            </a:r>
          </a:p>
          <a:p>
            <a:r>
              <a:rPr lang="en-US"/>
              <a:t>但後世經學家也會追問：既然你參與無王命的伐國，是否仍然有「黨惡」之責？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老師若問「為什麼不要？」不要只答「因為有禮」。</a:t>
            </a:r>
          </a:p>
          <a:p>
            <a:r>
              <a:rPr lang="en-US"/>
              <a:t/>
            </a:r>
          </a:p>
          <a:p>
            <a:r>
              <a:rPr lang="en-US"/>
              <a:t>最穩妥的回答方式：先說文本明示，再說制度／政治效果；不要把後世推論當成原文事實。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老師若問「為什麼不要？」不要只答「因為有禮」。</a:t>
            </a:r>
          </a:p>
          <a:p>
            <a:r>
              <a:rPr lang="en-US"/>
              <a:t/>
            </a:r>
          </a:p>
          <a:p>
            <a:r>
              <a:rPr lang="en-US"/>
              <a:t>最穩妥的回答方式：先說文本明示，再說制度／政治效果；不要把後世推論當成原文事實。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老師若問「為什麼不要？」不要只答「因為有禮」。</a:t>
            </a:r>
          </a:p>
          <a:p>
            <a:r>
              <a:rPr lang="en-US"/>
              <a:t/>
            </a:r>
          </a:p>
          <a:p>
            <a:r>
              <a:rPr lang="en-US"/>
              <a:t>最穩妥的回答方式：先說文本明示，再說制度／政治效果；不要把後世推論當成原文事實。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齊侯與許莊公：一個在「讓」，一個在「奔」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齊侯與許莊公：一個在「讓」，一個在「奔」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同一場戰爭，每個人都在維護自己的「位置」</a:t>
            </a:r>
          </a:p>
          <a:p>
            <a:r>
              <a:rPr lang="en-US"/>
              <a:t>人物互動不是單純道德故事，而是各自政治身分下的選擇。</a:t>
            </a:r>
          </a:p>
          <a:p>
            <a:r>
              <a:rPr lang="en-US"/>
              <a:t/>
            </a:r>
          </a:p>
          <a:p>
            <a:r>
              <a:rPr lang="en-US"/>
              <a:t>交接句: </a:t>
            </a:r>
          </a:p>
          <a:p>
            <a:r>
              <a:rPr lang="en-US"/>
              <a:t>下一位把鏡頭縮小到鄭國內部：潁考叔、子都、瑕叔盈之間的互動，如何讓「公／私」衝突變得具體。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這一組人物最適合回答：「私人情緒怎麼破壞公共秩序？個人死亡後，國家行動怎麼繼續？」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十年前他已出現在「鄭伯克段於鄢」的敘事中。</a:t>
            </a:r>
          </a:p>
          <a:p>
            <a:r>
              <a:rPr lang="en-US"/>
              <a:t/>
            </a:r>
          </a:p>
          <a:p>
            <a:r>
              <a:rPr lang="en-US"/>
              <a:t>潁考叔以孝與勸諫幫助鄭莊公處理與母親武姜的關係(山洞故事)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十年前他已出現在「鄭伯克段於鄢」的敘事中。</a:t>
            </a:r>
          </a:p>
          <a:p>
            <a:r>
              <a:rPr lang="en-US"/>
              <a:t/>
            </a:r>
          </a:p>
          <a:p>
            <a:r>
              <a:rPr lang="en-US"/>
              <a:t>潁考叔以孝與勸諫幫助鄭莊公處理與母親武姜的關係(山洞故事)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所以這不是普通私人鬥毆，而是私怨直接破壞公共軍事行動。</a:t>
            </a:r>
          </a:p>
          <a:p>
            <a:r>
              <a:rPr lang="en-US"/>
              <a:t/>
            </a:r>
          </a:p>
          <a:p>
            <a:r>
              <a:rPr lang="en-US"/>
              <a:t>最值得回答的「為什麼」：為什麼《左傳》先寫爭車？因為沒有前面的「怒」，這裡的射殺就失去人物動機。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篇幅很短，卻是把「死亡」轉成「勝利」的關鍵人物</a:t>
            </a:r>
          </a:p>
          <a:p>
            <a:r>
              <a:rPr lang="en-US"/>
              <a:t/>
            </a:r>
          </a:p>
          <a:p>
            <a:r>
              <a:rPr lang="en-US"/>
              <a:t>他不是新的英雄線，而是完成「君旗不倒、軍事行動續接」。</a:t>
            </a:r>
          </a:p>
          <a:p>
            <a:r>
              <a:rPr lang="en-US"/>
              <a:t/>
            </a:r>
          </a:p>
          <a:p>
            <a:r>
              <a:rPr lang="en-US"/>
              <a:t>文本效果：潁考叔之死很悲劇，但《左傳》沒有讓敘事停在私人悲劇，而是立刻回到國家戰爭。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篇幅很短，卻是把「死亡」轉成「勝利」的關鍵人物</a:t>
            </a:r>
          </a:p>
          <a:p>
            <a:r>
              <a:rPr lang="en-US"/>
              <a:t/>
            </a:r>
          </a:p>
          <a:p>
            <a:r>
              <a:rPr lang="en-US"/>
              <a:t>他不是新的英雄線，而是完成「君旗不倒、軍事行動續接」。</a:t>
            </a:r>
          </a:p>
          <a:p>
            <a:r>
              <a:rPr lang="en-US"/>
              <a:t/>
            </a:r>
          </a:p>
          <a:p>
            <a:r>
              <a:rPr lang="en-US"/>
              <a:t>文本效果：潁考叔之死很悲劇，但《左傳》沒有讓敘事停在私人悲劇，而是立刻回到國家戰爭。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篇幅很短，卻是把「死亡」轉成「勝利」的關鍵人物</a:t>
            </a:r>
          </a:p>
          <a:p>
            <a:r>
              <a:rPr lang="en-US"/>
              <a:t/>
            </a:r>
          </a:p>
          <a:p>
            <a:r>
              <a:rPr lang="en-US"/>
              <a:t>他不是新的英雄線，而是完成「君旗不倒、軍事行動續接」。</a:t>
            </a:r>
          </a:p>
          <a:p>
            <a:r>
              <a:rPr lang="en-US"/>
              <a:t/>
            </a:r>
          </a:p>
          <a:p>
            <a:r>
              <a:rPr lang="en-US"/>
              <a:t>文本效果：潁考叔之死很悲劇，但《左傳》沒有讓敘事停在私人悲劇，而是立刻回到國家戰爭。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篇幅很短，卻是把「死亡」轉成「勝利」的關鍵人物</a:t>
            </a:r>
          </a:p>
          <a:p>
            <a:r>
              <a:rPr lang="en-US"/>
              <a:t/>
            </a:r>
          </a:p>
          <a:p>
            <a:r>
              <a:rPr lang="en-US"/>
              <a:t>他不是新的英雄線，而是完成「君旗不倒、軍事行動續接」。</a:t>
            </a:r>
          </a:p>
          <a:p>
            <a:r>
              <a:rPr lang="en-US"/>
              <a:t/>
            </a:r>
          </a:p>
          <a:p>
            <a:r>
              <a:rPr lang="en-US"/>
              <a:t>文本效果：潁考叔之死很悲劇，但《左傳》沒有讓敘事停在私人悲劇，而是立刻回到國家戰爭。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【分區】第 5 區｜人物分析 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【分區】第 5 區｜人物分析 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【分區】第 5 區｜人物分析 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呂祖謙《東萊博議》把問題提升成：一個人的德行，能不能從「孝」推到軍旅中的「肅」？</a:t>
            </a:r>
          </a:p>
          <a:p>
            <a:r>
              <a:rPr lang="en-US"/>
              <a:t/>
            </a:r>
          </a:p>
          <a:p>
            <a:r>
              <a:rPr lang="en-US"/>
              <a:t>《東萊博議》把問題提升成：一個人的德行，能不能從「孝」推到軍旅中的「肅」？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【分區】第 6 區｜自問自答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【分區】第 6 區｜自問自答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【分區】第 6 區｜自問自答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這兩題看似禮貌，其實都牽涉聯軍戰果與戰爭正當性。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最好答案是把《左傳》的價值判斷與後世政治批判並列。</a:t>
            </a:r>
          </a:p>
          <a:p>
            <a:r>
              <a:rPr lang="en-US"/>
              <a:t/>
            </a:r>
          </a:p>
          <a:p>
            <a:r>
              <a:rPr lang="en-US"/>
              <a:t>綜合：鄭莊公可以同時是「懂政治分寸的人」與「有現實權力計算的人」；這正是文本最值得討論之處。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不要把鄭莊公簡化成「仁君」或「侵略者」二選一。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把「入許」放進更大的周鄭權力變化</a:t>
            </a:r>
          </a:p>
          <a:p>
            <a:r>
              <a:rPr lang="en-US"/>
              <a:t>《史記・鄭世家》不以同樣篇幅細寫入許，卻補出鄭莊公與周王室長期衝突的政治輪廓。</a:t>
            </a:r>
          </a:p>
          <a:p>
            <a:r>
              <a:rPr lang="en-US"/>
              <a:t/>
            </a:r>
          </a:p>
          <a:p>
            <a:r>
              <a:rPr lang="en-US"/>
              <a:t>所以「入許」可以讀成春秋初期權力中心由周王室逐步移向強勢諸侯的一個切面。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長時段看鄭—許：前712年不是一次性衝突，</a:t>
            </a:r>
          </a:p>
          <a:p>
            <a:r>
              <a:rPr lang="en-US"/>
              <a:t/>
            </a:r>
          </a:p>
          <a:p>
            <a:r>
              <a:rPr lang="en-US"/>
              <a:t>後續《左傳》再記鄭伐許、許依楚、遷國與鄭滅許。</a:t>
            </a:r>
          </a:p>
          <a:p>
            <a:r>
              <a:rPr lang="en-US"/>
              <a:t/>
            </a:r>
          </a:p>
          <a:p>
            <a:r>
              <a:rPr lang="en-US"/>
              <a:t>這些後續事件能反證：鄭許衝突有穩定的空間與權力結構，不宜只理解成鄭莊公一個人的偶發野心。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9.xml" Type="http://schemas.openxmlformats.org/officeDocument/2006/relationships/notesSlid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0.xml" Type="http://schemas.openxmlformats.org/officeDocument/2006/relationships/notesSlid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1.xml" Type="http://schemas.openxmlformats.org/officeDocument/2006/relationships/notesSlid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0.xml" Type="http://schemas.openxmlformats.org/officeDocument/2006/relationships/notesSlid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1.xml" Type="http://schemas.openxmlformats.org/officeDocument/2006/relationships/notesSlid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2.xml" Type="http://schemas.openxmlformats.org/officeDocument/2006/relationships/notesSlid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3.xml" Type="http://schemas.openxmlformats.org/officeDocument/2006/relationships/notesSlid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4.xml" Type="http://schemas.openxmlformats.org/officeDocument/2006/relationships/notesSlid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5.xml" Type="http://schemas.openxmlformats.org/officeDocument/2006/relationships/notesSlid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6.xml" Type="http://schemas.openxmlformats.org/officeDocument/2006/relationships/notesSlid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7.xml" Type="http://schemas.openxmlformats.org/officeDocument/2006/relationships/notesSlid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8.xml" Type="http://schemas.openxmlformats.org/officeDocument/2006/relationships/notesSlid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9.xml" Type="http://schemas.openxmlformats.org/officeDocument/2006/relationships/notesSlid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0.xml" Type="http://schemas.openxmlformats.org/officeDocument/2006/relationships/notesSlid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1.xml" Type="http://schemas.openxmlformats.org/officeDocument/2006/relationships/notesSlid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9.xml" Type="http://schemas.openxmlformats.org/officeDocument/2006/relationships/notesSlid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3.xml" Type="http://schemas.openxmlformats.org/officeDocument/2006/relationships/notesSlid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4.xml" Type="http://schemas.openxmlformats.org/officeDocument/2006/relationships/notesSlid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5.xml" Type="http://schemas.openxmlformats.org/officeDocument/2006/relationships/notesSlid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7.xml" Type="http://schemas.openxmlformats.org/officeDocument/2006/relationships/notesSlid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HX3tkCSgU.mp4" Type="http://schemas.openxmlformats.org/officeDocument/2006/relationships/video"/><Relationship Id="rId4" Target="../media/VAHX3tkCSgU.mp4" Type="http://schemas.microsoft.com/office/2007/relationships/media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8.xml" Type="http://schemas.openxmlformats.org/officeDocument/2006/relationships/notesSlide"/><Relationship Id="rId3" Target="../media/image1.jpeg" Type="http://schemas.openxmlformats.org/officeDocument/2006/relationships/image"/><Relationship Id="rId4" Target="https://zh.wikisource.org/zh-hant/%E6%98%A5%E7%A7%8B%E5%B7%A6%E5%82%B3%E6%AD%A3%E7%BE%A9/%E5%8D%B703" TargetMode="External" Type="http://schemas.openxmlformats.org/officeDocument/2006/relationships/hyperlink"/><Relationship Id="rId5" Target="https://ctext.org/chun-qiu-zuo-zhuan/yin-gong/zh" TargetMode="External" Type="http://schemas.openxmlformats.org/officeDocument/2006/relationships/hyperlink"/><Relationship Id="rId6" Target="https://zh.wikisource.org/zh/%E5%B7%A6%E5%82%B3%E4%BA%8B%E7%B7%AF_(%E5%9B%9B%E5%BA%AB%E5%85%A8%E6%9B%B8%E6%9C%AC)/%E5%8D%B701" TargetMode="External" Type="http://schemas.openxmlformats.org/officeDocument/2006/relationships/hyperlink"/><Relationship Id="rId7" Target="https://ctext.org/wiki.pl?chapter=190871&amp;if=gb" TargetMode="External" Type="http://schemas.openxmlformats.org/officeDocument/2006/relationships/hyperlink"/><Relationship Id="rId8" Target="https://www.shidianguji.com/zh/book/SK0458/chapter/1l9uwkkl72nu0" TargetMode="External" Type="http://schemas.openxmlformats.org/officeDocument/2006/relationships/hyperlink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9.xml" Type="http://schemas.openxmlformats.org/officeDocument/2006/relationships/notesSlide"/><Relationship Id="rId3" Target="../media/image1.jpeg" Type="http://schemas.openxmlformats.org/officeDocument/2006/relationships/image"/><Relationship Id="rId4" Target="https://www.ch.ntnu.edu.tw/SIS/downloadfile.php?issue_id=69&amp;paper_id=643&amp;periodicalsDir=DESC&amp;periodicalsOrder=Sorter_issue_ch" TargetMode="External" Type="http://schemas.openxmlformats.org/officeDocument/2006/relationships/hyperlink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654206" y="3138021"/>
            <a:ext cx="6979587" cy="2380208"/>
            <a:chOff x="0" y="0"/>
            <a:chExt cx="9306117" cy="31736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06120" cy="3173615"/>
            </a:xfrm>
            <a:custGeom>
              <a:avLst/>
              <a:gdLst/>
              <a:ahLst/>
              <a:cxnLst/>
              <a:rect r="r" b="b" t="t" l="l"/>
              <a:pathLst>
                <a:path h="3173615" w="9306120">
                  <a:moveTo>
                    <a:pt x="0" y="0"/>
                  </a:moveTo>
                  <a:lnTo>
                    <a:pt x="9306120" y="0"/>
                  </a:lnTo>
                  <a:lnTo>
                    <a:pt x="9306120" y="3173615"/>
                  </a:lnTo>
                  <a:lnTo>
                    <a:pt x="0" y="3173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891" r="-131880" b="-5408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306117" cy="3173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 b="true">
                  <a:solidFill>
                    <a:srgbClr val="263A3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鄭莊入許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239801"/>
            <a:ext cx="16184337" cy="1265634"/>
            <a:chOff x="0" y="0"/>
            <a:chExt cx="21579116" cy="1687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120" cy="1687516"/>
            </a:xfrm>
            <a:custGeom>
              <a:avLst/>
              <a:gdLst/>
              <a:ahLst/>
              <a:cxnLst/>
              <a:rect r="r" b="b" t="t" l="l"/>
              <a:pathLst>
                <a:path h="1687516" w="21579120">
                  <a:moveTo>
                    <a:pt x="0" y="0"/>
                  </a:moveTo>
                  <a:lnTo>
                    <a:pt x="21579120" y="0"/>
                  </a:lnTo>
                  <a:lnTo>
                    <a:pt x="21579120" y="1687516"/>
                  </a:lnTo>
                  <a:lnTo>
                    <a:pt x="0" y="16875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6" r="0" b="-18978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579116" cy="1687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>
                  <a:solidFill>
                    <a:srgbClr val="263A3A"/>
                  </a:solidFill>
                  <a:latin typeface="Noto Serif"/>
                  <a:ea typeface="Noto Serif"/>
                  <a:cs typeface="Noto Serif"/>
                  <a:sym typeface="Noto Serif"/>
                </a:rPr>
                <a:t>第六組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11454" y="1028700"/>
            <a:ext cx="1636721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47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原文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15279" y="2163704"/>
            <a:ext cx="16129092" cy="6778149"/>
            <a:chOff x="0" y="0"/>
            <a:chExt cx="21505456" cy="9037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05545" cy="9037620"/>
            </a:xfrm>
            <a:custGeom>
              <a:avLst/>
              <a:gdLst/>
              <a:ahLst/>
              <a:cxnLst/>
              <a:rect r="r" b="b" t="t" l="l"/>
              <a:pathLst>
                <a:path h="9037620" w="21505545">
                  <a:moveTo>
                    <a:pt x="0" y="1506333"/>
                  </a:moveTo>
                  <a:cubicBezTo>
                    <a:pt x="0" y="674389"/>
                    <a:pt x="676783" y="0"/>
                    <a:pt x="1511681" y="0"/>
                  </a:cubicBezTo>
                  <a:lnTo>
                    <a:pt x="19993863" y="0"/>
                  </a:lnTo>
                  <a:cubicBezTo>
                    <a:pt x="20828761" y="0"/>
                    <a:pt x="21505545" y="674389"/>
                    <a:pt x="21505545" y="1506333"/>
                  </a:cubicBezTo>
                  <a:lnTo>
                    <a:pt x="21505545" y="7531287"/>
                  </a:lnTo>
                  <a:cubicBezTo>
                    <a:pt x="21505545" y="8363231"/>
                    <a:pt x="20828761" y="9037620"/>
                    <a:pt x="19993863" y="9037620"/>
                  </a:cubicBezTo>
                  <a:lnTo>
                    <a:pt x="1511681" y="9037620"/>
                  </a:lnTo>
                  <a:cubicBezTo>
                    <a:pt x="676783" y="9037494"/>
                    <a:pt x="0" y="8363104"/>
                    <a:pt x="0" y="7531287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11454" y="2552403"/>
            <a:ext cx="15064197" cy="60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隱十一年夏，公會鄭伯於郲，謀伐許也。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鄭伯將伐許。五月甲辰，授兵於大宮。公孫閼與潁考叔爭車，潁考叔挾輈以走，子都拔棘以逐之，及大逵，弗及，子都怒。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秋七月，公會齊侯、鄭伯伐許。庚辰，傅於許。潁考叔取鄭伯之旗蝥弧以先登，子都自下射之，顛。瑕叔盈又以蝥弧登，周麾而呼曰：「君登矣。」鄭師畢登。壬午，遂入許。許莊公奔衛。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齊侯以許讓公。公曰：「君謂許不共，故從君討之。許既伏其罪矣，雖君有命，寡人弗敢與聞。」乃與鄭人。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971" y="1626761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時間線與政治意義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AutoShape 5" id="5"/>
          <p:cNvSpPr/>
          <p:nvPr/>
        </p:nvSpPr>
        <p:spPr>
          <a:xfrm>
            <a:off x="1663766" y="5835670"/>
            <a:ext cx="15126241" cy="38544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888560" y="5689979"/>
            <a:ext cx="328860" cy="328860"/>
            <a:chOff x="0" y="0"/>
            <a:chExt cx="438480" cy="438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17060" y="3901327"/>
            <a:ext cx="14853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前722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580" y="4587127"/>
            <a:ext cx="230831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鄭伯克段於鄢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4537" y="6507367"/>
            <a:ext cx="240444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內部權力整合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86140" y="5689979"/>
            <a:ext cx="328860" cy="328860"/>
            <a:chOff x="0" y="0"/>
            <a:chExt cx="438480" cy="438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14640" y="3901327"/>
            <a:ext cx="14853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前720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03160" y="4587127"/>
            <a:ext cx="230831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周鄭交質／交惡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62117" y="6507367"/>
            <a:ext cx="240444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王室與鄭的關係惡化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83720" y="5689979"/>
            <a:ext cx="328860" cy="328860"/>
            <a:chOff x="0" y="0"/>
            <a:chExt cx="438480" cy="438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312220" y="3901327"/>
            <a:ext cx="14853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前713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0740" y="4587127"/>
            <a:ext cx="230831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鄭參與主導諸侯軍事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59697" y="6507367"/>
            <a:ext cx="240444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區域影響力上升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81300" y="5689979"/>
            <a:ext cx="328860" cy="328860"/>
            <a:chOff x="0" y="0"/>
            <a:chExt cx="438480" cy="438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809800" y="3901327"/>
            <a:ext cx="14853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前712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98320" y="4587127"/>
            <a:ext cx="230831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齊、魯、鄭入許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57277" y="6507367"/>
            <a:ext cx="240444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本篇事件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878880" y="5689979"/>
            <a:ext cx="328860" cy="328860"/>
            <a:chOff x="0" y="0"/>
            <a:chExt cx="438480" cy="438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307380" y="3901327"/>
            <a:ext cx="14853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前707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95900" y="4587127"/>
            <a:ext cx="23083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繻葛之戰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54857" y="6507367"/>
            <a:ext cx="240444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4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周桓王伐鄭反敗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3649">
                <a:solidFill>
                  <a:srgbClr val="647A73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18551"/>
            <a:ext cx="15681417" cy="76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從「謀伐」開始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82017" y="4543739"/>
            <a:ext cx="237689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54D4C"/>
                </a:solidFill>
                <a:latin typeface="芫荽"/>
                <a:ea typeface="芫荽"/>
                <a:cs typeface="芫荽"/>
                <a:sym typeface="芫荽"/>
              </a:rPr>
              <a:t>原文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36297" y="5143500"/>
            <a:ext cx="14949897" cy="2125440"/>
            <a:chOff x="0" y="0"/>
            <a:chExt cx="19933196" cy="2833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33200" cy="2833924"/>
            </a:xfrm>
            <a:custGeom>
              <a:avLst/>
              <a:gdLst/>
              <a:ahLst/>
              <a:cxnLst/>
              <a:rect r="r" b="b" t="t" l="l"/>
              <a:pathLst>
                <a:path h="2833924" w="19933200">
                  <a:moveTo>
                    <a:pt x="0" y="0"/>
                  </a:moveTo>
                  <a:lnTo>
                    <a:pt x="19933200" y="0"/>
                  </a:lnTo>
                  <a:lnTo>
                    <a:pt x="19933200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0" b="-870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933196" cy="283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隱十一年夏，公會鄭伯於郲，謀伐許也。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鄭伯將伐許。五月甲辰，授兵於大宮。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99784" y="744750"/>
            <a:ext cx="16458657" cy="769725"/>
            <a:chOff x="0" y="0"/>
            <a:chExt cx="21944876" cy="1026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026303"/>
            </a:xfrm>
            <a:custGeom>
              <a:avLst/>
              <a:gdLst/>
              <a:ahLst/>
              <a:cxnLst/>
              <a:rect r="r" b="b" t="t" l="l"/>
              <a:pathLst>
                <a:path h="1026303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026303"/>
                  </a:lnTo>
                  <a:lnTo>
                    <a:pt x="0" y="10263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669" r="0" b="-3656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02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第一句的</a:t>
              </a:r>
              <a:r>
                <a:rPr lang="en-US" sz="39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4個問題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1981200"/>
            <a:ext cx="5501097" cy="6735537"/>
            <a:chOff x="0" y="0"/>
            <a:chExt cx="7334796" cy="89807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34758" cy="8980678"/>
            </a:xfrm>
            <a:custGeom>
              <a:avLst/>
              <a:gdLst/>
              <a:ahLst/>
              <a:cxnLst/>
              <a:rect r="r" b="b" t="t" l="l"/>
              <a:pathLst>
                <a:path h="8980678" w="733475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7188073" y="0"/>
                  </a:lnTo>
                  <a:cubicBezTo>
                    <a:pt x="7269099" y="0"/>
                    <a:pt x="7334758" y="65659"/>
                    <a:pt x="7334758" y="146685"/>
                  </a:cubicBezTo>
                  <a:lnTo>
                    <a:pt x="7334758" y="8833993"/>
                  </a:lnTo>
                  <a:cubicBezTo>
                    <a:pt x="7334758" y="8915019"/>
                    <a:pt x="7269099" y="8980678"/>
                    <a:pt x="7188073" y="8980678"/>
                  </a:cubicBezTo>
                  <a:lnTo>
                    <a:pt x="146685" y="8980678"/>
                  </a:lnTo>
                  <a:cubicBezTo>
                    <a:pt x="65659" y="8980678"/>
                    <a:pt x="0" y="8915019"/>
                    <a:pt x="0" y="883399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968364" y="2149843"/>
            <a:ext cx="1512734" cy="6499059"/>
            <a:chOff x="0" y="0"/>
            <a:chExt cx="1830235" cy="7863116"/>
          </a:xfrm>
        </p:grpSpPr>
        <p:sp>
          <p:nvSpPr>
            <p:cNvPr name="Freeform 10" id="10" descr="/mnt/data/user-X17PPZYNgbKkwZu49YD75MkR/4e0606483f4041d9b5e762931dbfb67a/mnt/data/image(20261006-082714).png"/>
            <p:cNvSpPr/>
            <p:nvPr/>
          </p:nvSpPr>
          <p:spPr>
            <a:xfrm flipH="false" flipV="false" rot="0">
              <a:off x="0" y="0"/>
              <a:ext cx="1830197" cy="7863078"/>
            </a:xfrm>
            <a:custGeom>
              <a:avLst/>
              <a:gdLst/>
              <a:ahLst/>
              <a:cxnLst/>
              <a:rect r="r" b="b" t="t" l="l"/>
              <a:pathLst>
                <a:path h="7863078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7863078"/>
                  </a:lnTo>
                  <a:lnTo>
                    <a:pt x="0" y="7863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" t="0" r="-1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054215" y="2322195"/>
            <a:ext cx="128130" cy="2555967"/>
            <a:chOff x="0" y="0"/>
            <a:chExt cx="170840" cy="34079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815" cy="3407918"/>
            </a:xfrm>
            <a:custGeom>
              <a:avLst/>
              <a:gdLst/>
              <a:ahLst/>
              <a:cxnLst/>
              <a:rect r="r" b="b" t="t" l="l"/>
              <a:pathLst>
                <a:path h="340791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3407918"/>
                  </a:lnTo>
                  <a:lnTo>
                    <a:pt x="0" y="340791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365962" y="2302107"/>
            <a:ext cx="10393765" cy="2515262"/>
            <a:chOff x="0" y="0"/>
            <a:chExt cx="12617996" cy="3053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18000" cy="3053516"/>
            </a:xfrm>
            <a:custGeom>
              <a:avLst/>
              <a:gdLst/>
              <a:ahLst/>
              <a:cxnLst/>
              <a:rect r="r" b="b" t="t" l="l"/>
              <a:pathLst>
                <a:path h="3053516" w="12618000">
                  <a:moveTo>
                    <a:pt x="0" y="0"/>
                  </a:moveTo>
                  <a:lnTo>
                    <a:pt x="12618000" y="0"/>
                  </a:lnTo>
                  <a:lnTo>
                    <a:pt x="12618000" y="3053516"/>
                  </a:lnTo>
                  <a:lnTo>
                    <a:pt x="0" y="3053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17" r="0" b="-3051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2617996" cy="305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隱十一年夏，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公會鄭伯於郲，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謀伐許也。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65962" y="4205475"/>
            <a:ext cx="10393765" cy="697916"/>
            <a:chOff x="0" y="0"/>
            <a:chExt cx="12617996" cy="8472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18000" cy="847267"/>
            </a:xfrm>
            <a:custGeom>
              <a:avLst/>
              <a:gdLst/>
              <a:ahLst/>
              <a:cxnLst/>
              <a:rect r="r" b="b" t="t" l="l"/>
              <a:pathLst>
                <a:path h="847267" w="12618000">
                  <a:moveTo>
                    <a:pt x="0" y="0"/>
                  </a:moveTo>
                  <a:lnTo>
                    <a:pt x="12618000" y="0"/>
                  </a:lnTo>
                  <a:lnTo>
                    <a:pt x="12618000" y="847267"/>
                  </a:lnTo>
                  <a:lnTo>
                    <a:pt x="0" y="8472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807" r="0" b="-2095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2617996" cy="856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《左傳・隱公十一年》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31113" y="5218221"/>
            <a:ext cx="1822392" cy="643883"/>
            <a:chOff x="0" y="0"/>
            <a:chExt cx="2036356" cy="719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6318" cy="719455"/>
            </a:xfrm>
            <a:custGeom>
              <a:avLst/>
              <a:gdLst/>
              <a:ahLst/>
              <a:cxnLst/>
              <a:rect r="r" b="b" t="t" l="l"/>
              <a:pathLst>
                <a:path h="719455" w="2036318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1809115" y="0"/>
                  </a:lnTo>
                  <a:cubicBezTo>
                    <a:pt x="1934591" y="0"/>
                    <a:pt x="2036318" y="101727"/>
                    <a:pt x="2036318" y="227203"/>
                  </a:cubicBezTo>
                  <a:lnTo>
                    <a:pt x="2036318" y="492252"/>
                  </a:lnTo>
                  <a:cubicBezTo>
                    <a:pt x="2036318" y="617728"/>
                    <a:pt x="1934591" y="719455"/>
                    <a:pt x="1809115" y="719455"/>
                  </a:cubicBezTo>
                  <a:lnTo>
                    <a:pt x="227203" y="719455"/>
                  </a:lnTo>
                  <a:cubicBezTo>
                    <a:pt x="101727" y="719455"/>
                    <a:pt x="0" y="617728"/>
                    <a:pt x="0" y="492252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273285" y="5218221"/>
            <a:ext cx="1538059" cy="637045"/>
            <a:chOff x="0" y="0"/>
            <a:chExt cx="1718640" cy="7118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18640" cy="711838"/>
            </a:xfrm>
            <a:custGeom>
              <a:avLst/>
              <a:gdLst/>
              <a:ahLst/>
              <a:cxnLst/>
              <a:rect r="r" b="b" t="t" l="l"/>
              <a:pathLst>
                <a:path h="711838" w="1718640">
                  <a:moveTo>
                    <a:pt x="0" y="0"/>
                  </a:moveTo>
                  <a:lnTo>
                    <a:pt x="1718640" y="0"/>
                  </a:lnTo>
                  <a:lnTo>
                    <a:pt x="1718640" y="711838"/>
                  </a:lnTo>
                  <a:lnTo>
                    <a:pt x="0" y="7118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59" r="0" b="2347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718640" cy="721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Who？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95520" y="5184659"/>
            <a:ext cx="9246393" cy="758244"/>
            <a:chOff x="0" y="0"/>
            <a:chExt cx="10331996" cy="8472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332000" cy="847272"/>
            </a:xfrm>
            <a:custGeom>
              <a:avLst/>
              <a:gdLst/>
              <a:ahLst/>
              <a:cxnLst/>
              <a:rect r="r" b="b" t="t" l="l"/>
              <a:pathLst>
                <a:path h="847272" w="10332000">
                  <a:moveTo>
                    <a:pt x="0" y="0"/>
                  </a:moveTo>
                  <a:lnTo>
                    <a:pt x="10332000" y="0"/>
                  </a:lnTo>
                  <a:lnTo>
                    <a:pt x="10332000" y="847272"/>
                  </a:lnTo>
                  <a:lnTo>
                    <a:pt x="0" y="847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274" r="0" b="-1699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331996" cy="856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「公」與「鄭伯」是誰？彼此什麼關係？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131113" y="6331014"/>
            <a:ext cx="1822392" cy="643883"/>
            <a:chOff x="0" y="0"/>
            <a:chExt cx="2036356" cy="719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36318" cy="719455"/>
            </a:xfrm>
            <a:custGeom>
              <a:avLst/>
              <a:gdLst/>
              <a:ahLst/>
              <a:cxnLst/>
              <a:rect r="r" b="b" t="t" l="l"/>
              <a:pathLst>
                <a:path h="719455" w="2036318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1809115" y="0"/>
                  </a:lnTo>
                  <a:cubicBezTo>
                    <a:pt x="1934591" y="0"/>
                    <a:pt x="2036318" y="101727"/>
                    <a:pt x="2036318" y="227203"/>
                  </a:cubicBezTo>
                  <a:lnTo>
                    <a:pt x="2036318" y="492252"/>
                  </a:lnTo>
                  <a:cubicBezTo>
                    <a:pt x="2036318" y="617728"/>
                    <a:pt x="1934591" y="719455"/>
                    <a:pt x="1809115" y="719455"/>
                  </a:cubicBezTo>
                  <a:lnTo>
                    <a:pt x="227203" y="719455"/>
                  </a:lnTo>
                  <a:cubicBezTo>
                    <a:pt x="101727" y="719455"/>
                    <a:pt x="0" y="617728"/>
                    <a:pt x="0" y="492252"/>
                  </a:cubicBezTo>
                  <a:close/>
                </a:path>
              </a:pathLst>
            </a:custGeom>
            <a:solidFill>
              <a:srgbClr val="F2E4DF"/>
            </a:solidFill>
            <a:ln w="19050" cap="sq">
              <a:solidFill>
                <a:srgbClr val="F2E4D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054215" y="5924588"/>
            <a:ext cx="1976200" cy="1456736"/>
            <a:chOff x="0" y="0"/>
            <a:chExt cx="1718640" cy="12668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18640" cy="1266877"/>
            </a:xfrm>
            <a:custGeom>
              <a:avLst/>
              <a:gdLst/>
              <a:ahLst/>
              <a:cxnLst/>
              <a:rect r="r" b="b" t="t" l="l"/>
              <a:pathLst>
                <a:path h="1266877" w="1718640">
                  <a:moveTo>
                    <a:pt x="0" y="0"/>
                  </a:moveTo>
                  <a:lnTo>
                    <a:pt x="1718640" y="0"/>
                  </a:lnTo>
                  <a:lnTo>
                    <a:pt x="1718640" y="1266877"/>
                  </a:lnTo>
                  <a:lnTo>
                    <a:pt x="0" y="12668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66" r="0" b="569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718640" cy="1276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Where？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88284" y="6183749"/>
            <a:ext cx="9246393" cy="758244"/>
            <a:chOff x="0" y="0"/>
            <a:chExt cx="10331996" cy="8472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332000" cy="847272"/>
            </a:xfrm>
            <a:custGeom>
              <a:avLst/>
              <a:gdLst/>
              <a:ahLst/>
              <a:cxnLst/>
              <a:rect r="r" b="b" t="t" l="l"/>
              <a:pathLst>
                <a:path h="847272" w="10332000">
                  <a:moveTo>
                    <a:pt x="0" y="0"/>
                  </a:moveTo>
                  <a:lnTo>
                    <a:pt x="10332000" y="0"/>
                  </a:lnTo>
                  <a:lnTo>
                    <a:pt x="10332000" y="847272"/>
                  </a:lnTo>
                  <a:lnTo>
                    <a:pt x="0" y="847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274" r="0" b="-1699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331996" cy="856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為什麼在「郲」會面？郲屬誰？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31113" y="7443796"/>
            <a:ext cx="1822392" cy="643883"/>
            <a:chOff x="0" y="0"/>
            <a:chExt cx="2036356" cy="719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36318" cy="719455"/>
            </a:xfrm>
            <a:custGeom>
              <a:avLst/>
              <a:gdLst/>
              <a:ahLst/>
              <a:cxnLst/>
              <a:rect r="r" b="b" t="t" l="l"/>
              <a:pathLst>
                <a:path h="719455" w="2036318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1809115" y="0"/>
                  </a:lnTo>
                  <a:cubicBezTo>
                    <a:pt x="1934591" y="0"/>
                    <a:pt x="2036318" y="101727"/>
                    <a:pt x="2036318" y="227203"/>
                  </a:cubicBezTo>
                  <a:lnTo>
                    <a:pt x="2036318" y="492252"/>
                  </a:lnTo>
                  <a:cubicBezTo>
                    <a:pt x="2036318" y="617728"/>
                    <a:pt x="1934591" y="719455"/>
                    <a:pt x="1809115" y="719455"/>
                  </a:cubicBezTo>
                  <a:lnTo>
                    <a:pt x="227203" y="719455"/>
                  </a:lnTo>
                  <a:cubicBezTo>
                    <a:pt x="101727" y="719455"/>
                    <a:pt x="0" y="617728"/>
                    <a:pt x="0" y="492252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273285" y="7411574"/>
            <a:ext cx="1538059" cy="637045"/>
            <a:chOff x="0" y="0"/>
            <a:chExt cx="1718640" cy="7118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18640" cy="711838"/>
            </a:xfrm>
            <a:custGeom>
              <a:avLst/>
              <a:gdLst/>
              <a:ahLst/>
              <a:cxnLst/>
              <a:rect r="r" b="b" t="t" l="l"/>
              <a:pathLst>
                <a:path h="711838" w="1718640">
                  <a:moveTo>
                    <a:pt x="0" y="0"/>
                  </a:moveTo>
                  <a:lnTo>
                    <a:pt x="1718640" y="0"/>
                  </a:lnTo>
                  <a:lnTo>
                    <a:pt x="1718640" y="711838"/>
                  </a:lnTo>
                  <a:lnTo>
                    <a:pt x="0" y="7118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59" r="0" b="2347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718640" cy="721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What？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95520" y="7350975"/>
            <a:ext cx="9246393" cy="758244"/>
            <a:chOff x="0" y="0"/>
            <a:chExt cx="10331996" cy="8472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32000" cy="847272"/>
            </a:xfrm>
            <a:custGeom>
              <a:avLst/>
              <a:gdLst/>
              <a:ahLst/>
              <a:cxnLst/>
              <a:rect r="r" b="b" t="t" l="l"/>
              <a:pathLst>
                <a:path h="847272" w="10332000">
                  <a:moveTo>
                    <a:pt x="0" y="0"/>
                  </a:moveTo>
                  <a:lnTo>
                    <a:pt x="10332000" y="0"/>
                  </a:lnTo>
                  <a:lnTo>
                    <a:pt x="10332000" y="847272"/>
                  </a:lnTo>
                  <a:lnTo>
                    <a:pt x="0" y="847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274" r="0" b="-1699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0331996" cy="856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「謀」表示什麼層級的政治行動？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131113" y="8557237"/>
            <a:ext cx="1822392" cy="643883"/>
            <a:chOff x="0" y="0"/>
            <a:chExt cx="2036356" cy="719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36318" cy="719455"/>
            </a:xfrm>
            <a:custGeom>
              <a:avLst/>
              <a:gdLst/>
              <a:ahLst/>
              <a:cxnLst/>
              <a:rect r="r" b="b" t="t" l="l"/>
              <a:pathLst>
                <a:path h="719455" w="2036318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1809115" y="0"/>
                  </a:lnTo>
                  <a:cubicBezTo>
                    <a:pt x="1934591" y="0"/>
                    <a:pt x="2036318" y="101727"/>
                    <a:pt x="2036318" y="227203"/>
                  </a:cubicBezTo>
                  <a:lnTo>
                    <a:pt x="2036318" y="492252"/>
                  </a:lnTo>
                  <a:cubicBezTo>
                    <a:pt x="2036318" y="617728"/>
                    <a:pt x="1934591" y="719455"/>
                    <a:pt x="1809115" y="719455"/>
                  </a:cubicBezTo>
                  <a:lnTo>
                    <a:pt x="227203" y="719455"/>
                  </a:lnTo>
                  <a:cubicBezTo>
                    <a:pt x="101727" y="719455"/>
                    <a:pt x="0" y="617728"/>
                    <a:pt x="0" y="492252"/>
                  </a:cubicBezTo>
                  <a:close/>
                </a:path>
              </a:pathLst>
            </a:custGeom>
            <a:solidFill>
              <a:srgbClr val="F2E4DF"/>
            </a:solidFill>
            <a:ln w="19050" cap="sq">
              <a:solidFill>
                <a:srgbClr val="F2E4D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273285" y="8522309"/>
            <a:ext cx="1538059" cy="637045"/>
            <a:chOff x="0" y="0"/>
            <a:chExt cx="1718640" cy="7118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18640" cy="711838"/>
            </a:xfrm>
            <a:custGeom>
              <a:avLst/>
              <a:gdLst/>
              <a:ahLst/>
              <a:cxnLst/>
              <a:rect r="r" b="b" t="t" l="l"/>
              <a:pathLst>
                <a:path h="711838" w="1718640">
                  <a:moveTo>
                    <a:pt x="0" y="0"/>
                  </a:moveTo>
                  <a:lnTo>
                    <a:pt x="1718640" y="0"/>
                  </a:lnTo>
                  <a:lnTo>
                    <a:pt x="1718640" y="711838"/>
                  </a:lnTo>
                  <a:lnTo>
                    <a:pt x="0" y="7118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59" r="0" b="234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718640" cy="721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Why？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88284" y="8500056"/>
            <a:ext cx="9943296" cy="758244"/>
            <a:chOff x="0" y="0"/>
            <a:chExt cx="11110722" cy="8472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10726" cy="847272"/>
            </a:xfrm>
            <a:custGeom>
              <a:avLst/>
              <a:gdLst/>
              <a:ahLst/>
              <a:cxnLst/>
              <a:rect r="r" b="b" t="t" l="l"/>
              <a:pathLst>
                <a:path h="847272" w="11110726">
                  <a:moveTo>
                    <a:pt x="0" y="0"/>
                  </a:moveTo>
                  <a:lnTo>
                    <a:pt x="11110726" y="0"/>
                  </a:lnTo>
                  <a:lnTo>
                    <a:pt x="11110726" y="847272"/>
                  </a:lnTo>
                  <a:lnTo>
                    <a:pt x="0" y="847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274" r="7008" b="-1699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1110722" cy="856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許國為何成為討伐對象？理由何時才揭露？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671" y="962213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夏季戰前討論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2365409" y="4576982"/>
            <a:ext cx="15007594" cy="57625"/>
          </a:xfrm>
          <a:prstGeom prst="line">
            <a:avLst/>
          </a:prstGeom>
          <a:ln cap="rnd" w="28575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242538" y="4207298"/>
            <a:ext cx="782412" cy="782412"/>
            <a:chOff x="0" y="0"/>
            <a:chExt cx="1043216" cy="1043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3178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43178">
                  <a:moveTo>
                    <a:pt x="0" y="521589"/>
                  </a:moveTo>
                  <a:cubicBezTo>
                    <a:pt x="0" y="233553"/>
                    <a:pt x="233553" y="0"/>
                    <a:pt x="521589" y="0"/>
                  </a:cubicBezTo>
                  <a:cubicBezTo>
                    <a:pt x="809625" y="0"/>
                    <a:pt x="1043178" y="233553"/>
                    <a:pt x="1043178" y="521589"/>
                  </a:cubicBezTo>
                  <a:cubicBezTo>
                    <a:pt x="1043178" y="809625"/>
                    <a:pt x="809625" y="1043178"/>
                    <a:pt x="521589" y="1043178"/>
                  </a:cubicBezTo>
                  <a:cubicBezTo>
                    <a:pt x="233553" y="1043178"/>
                    <a:pt x="0" y="809625"/>
                    <a:pt x="0" y="521589"/>
                  </a:cubicBezTo>
                  <a:close/>
                </a:path>
              </a:pathLst>
            </a:custGeom>
            <a:solidFill>
              <a:srgbClr val="647A73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76765" y="3192885"/>
            <a:ext cx="1713957" cy="772286"/>
            <a:chOff x="0" y="0"/>
            <a:chExt cx="2285276" cy="1029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5280" cy="1029719"/>
            </a:xfrm>
            <a:custGeom>
              <a:avLst/>
              <a:gdLst/>
              <a:ahLst/>
              <a:cxnLst/>
              <a:rect r="r" b="b" t="t" l="l"/>
              <a:pathLst>
                <a:path h="1029719" w="2285280">
                  <a:moveTo>
                    <a:pt x="0" y="0"/>
                  </a:moveTo>
                  <a:lnTo>
                    <a:pt x="2285280" y="0"/>
                  </a:lnTo>
                  <a:lnTo>
                    <a:pt x="2285280" y="1029719"/>
                  </a:lnTo>
                  <a:lnTo>
                    <a:pt x="0" y="1029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8" r="0" b="168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85276" cy="10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春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6705" y="5291328"/>
            <a:ext cx="2676525" cy="1972436"/>
            <a:chOff x="0" y="0"/>
            <a:chExt cx="3568700" cy="26299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68704" cy="2629919"/>
            </a:xfrm>
            <a:custGeom>
              <a:avLst/>
              <a:gdLst/>
              <a:ahLst/>
              <a:cxnLst/>
              <a:rect r="r" b="b" t="t" l="l"/>
              <a:pathLst>
                <a:path h="2629919" w="3568704">
                  <a:moveTo>
                    <a:pt x="0" y="0"/>
                  </a:moveTo>
                  <a:lnTo>
                    <a:pt x="3568704" y="0"/>
                  </a:lnTo>
                  <a:lnTo>
                    <a:pt x="3568704" y="2629919"/>
                  </a:lnTo>
                  <a:lnTo>
                    <a:pt x="0" y="2629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07" t="0" r="-32115" b="131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568700" cy="2629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滕侯、薛侯來朝</a:t>
              </a:r>
            </a:p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「爭長」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57338" y="4207298"/>
            <a:ext cx="782412" cy="782412"/>
            <a:chOff x="0" y="0"/>
            <a:chExt cx="1043216" cy="1043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3178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43178">
                  <a:moveTo>
                    <a:pt x="0" y="521589"/>
                  </a:moveTo>
                  <a:cubicBezTo>
                    <a:pt x="0" y="233553"/>
                    <a:pt x="233553" y="0"/>
                    <a:pt x="521589" y="0"/>
                  </a:cubicBezTo>
                  <a:cubicBezTo>
                    <a:pt x="809625" y="0"/>
                    <a:pt x="1043178" y="233553"/>
                    <a:pt x="1043178" y="521589"/>
                  </a:cubicBezTo>
                  <a:cubicBezTo>
                    <a:pt x="1043178" y="809625"/>
                    <a:pt x="809625" y="1043178"/>
                    <a:pt x="521589" y="1043178"/>
                  </a:cubicBezTo>
                  <a:cubicBezTo>
                    <a:pt x="233553" y="1043178"/>
                    <a:pt x="0" y="809625"/>
                    <a:pt x="0" y="521589"/>
                  </a:cubicBezTo>
                  <a:close/>
                </a:path>
              </a:pathLst>
            </a:custGeom>
            <a:solidFill>
              <a:srgbClr val="A14D34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1565" y="3192885"/>
            <a:ext cx="1713957" cy="772286"/>
            <a:chOff x="0" y="0"/>
            <a:chExt cx="2285276" cy="10297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5280" cy="1029719"/>
            </a:xfrm>
            <a:custGeom>
              <a:avLst/>
              <a:gdLst/>
              <a:ahLst/>
              <a:cxnLst/>
              <a:rect r="r" b="b" t="t" l="l"/>
              <a:pathLst>
                <a:path h="1029719" w="2285280">
                  <a:moveTo>
                    <a:pt x="0" y="0"/>
                  </a:moveTo>
                  <a:lnTo>
                    <a:pt x="2285280" y="0"/>
                  </a:lnTo>
                  <a:lnTo>
                    <a:pt x="2285280" y="1029719"/>
                  </a:lnTo>
                  <a:lnTo>
                    <a:pt x="0" y="1029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8" r="0" b="168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85276" cy="10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夏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11505" y="5291328"/>
            <a:ext cx="2674077" cy="1972436"/>
            <a:chOff x="0" y="0"/>
            <a:chExt cx="3565436" cy="26299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65440" cy="2629919"/>
            </a:xfrm>
            <a:custGeom>
              <a:avLst/>
              <a:gdLst/>
              <a:ahLst/>
              <a:cxnLst/>
              <a:rect r="r" b="b" t="t" l="l"/>
              <a:pathLst>
                <a:path h="2629919" w="3565440">
                  <a:moveTo>
                    <a:pt x="0" y="0"/>
                  </a:moveTo>
                  <a:lnTo>
                    <a:pt x="3565440" y="0"/>
                  </a:lnTo>
                  <a:lnTo>
                    <a:pt x="3565440" y="2629919"/>
                  </a:lnTo>
                  <a:lnTo>
                    <a:pt x="0" y="2629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36" t="0" r="-32236" b="1310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565436" cy="2629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魯隱公會鄭莊公於郲</a:t>
              </a:r>
            </a:p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「謀伐許」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34978" y="4207298"/>
            <a:ext cx="782412" cy="782412"/>
            <a:chOff x="0" y="0"/>
            <a:chExt cx="1043216" cy="1043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3178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43178">
                  <a:moveTo>
                    <a:pt x="0" y="521589"/>
                  </a:moveTo>
                  <a:cubicBezTo>
                    <a:pt x="0" y="233553"/>
                    <a:pt x="233553" y="0"/>
                    <a:pt x="521589" y="0"/>
                  </a:cubicBezTo>
                  <a:cubicBezTo>
                    <a:pt x="809625" y="0"/>
                    <a:pt x="1043178" y="233553"/>
                    <a:pt x="1043178" y="521589"/>
                  </a:cubicBezTo>
                  <a:cubicBezTo>
                    <a:pt x="1043178" y="809625"/>
                    <a:pt x="809625" y="1043178"/>
                    <a:pt x="521589" y="1043178"/>
                  </a:cubicBezTo>
                  <a:cubicBezTo>
                    <a:pt x="233553" y="1043178"/>
                    <a:pt x="0" y="809625"/>
                    <a:pt x="0" y="521589"/>
                  </a:cubicBezTo>
                  <a:close/>
                </a:path>
              </a:pathLst>
            </a:custGeom>
            <a:solidFill>
              <a:srgbClr val="647A73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869205" y="3192885"/>
            <a:ext cx="1713957" cy="772286"/>
            <a:chOff x="0" y="0"/>
            <a:chExt cx="2285276" cy="10297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5280" cy="1029719"/>
            </a:xfrm>
            <a:custGeom>
              <a:avLst/>
              <a:gdLst/>
              <a:ahLst/>
              <a:cxnLst/>
              <a:rect r="r" b="b" t="t" l="l"/>
              <a:pathLst>
                <a:path h="1029719" w="2285280">
                  <a:moveTo>
                    <a:pt x="0" y="0"/>
                  </a:moveTo>
                  <a:lnTo>
                    <a:pt x="2285280" y="0"/>
                  </a:lnTo>
                  <a:lnTo>
                    <a:pt x="2285280" y="1029719"/>
                  </a:lnTo>
                  <a:lnTo>
                    <a:pt x="0" y="1029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8" r="0" b="168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285276" cy="10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五月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89145" y="5291328"/>
            <a:ext cx="2674077" cy="2572511"/>
            <a:chOff x="0" y="0"/>
            <a:chExt cx="3565436" cy="34300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65440" cy="3430019"/>
            </a:xfrm>
            <a:custGeom>
              <a:avLst/>
              <a:gdLst/>
              <a:ahLst/>
              <a:cxnLst/>
              <a:rect r="r" b="b" t="t" l="l"/>
              <a:pathLst>
                <a:path h="3430019" w="3565440">
                  <a:moveTo>
                    <a:pt x="0" y="0"/>
                  </a:moveTo>
                  <a:lnTo>
                    <a:pt x="3565440" y="0"/>
                  </a:lnTo>
                  <a:lnTo>
                    <a:pt x="3565440" y="3430019"/>
                  </a:lnTo>
                  <a:lnTo>
                    <a:pt x="0" y="3430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36" t="0" r="-32236" b="333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565436" cy="3430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鄭國「授兵於大宮」</a:t>
              </a:r>
            </a:p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子都、潁考叔爭車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49778" y="4207298"/>
            <a:ext cx="782412" cy="782412"/>
            <a:chOff x="0" y="0"/>
            <a:chExt cx="1043216" cy="1043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3178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43178">
                  <a:moveTo>
                    <a:pt x="0" y="521589"/>
                  </a:moveTo>
                  <a:cubicBezTo>
                    <a:pt x="0" y="233553"/>
                    <a:pt x="233553" y="0"/>
                    <a:pt x="521589" y="0"/>
                  </a:cubicBezTo>
                  <a:cubicBezTo>
                    <a:pt x="809625" y="0"/>
                    <a:pt x="1043178" y="233553"/>
                    <a:pt x="1043178" y="521589"/>
                  </a:cubicBezTo>
                  <a:cubicBezTo>
                    <a:pt x="1043178" y="809625"/>
                    <a:pt x="809625" y="1043178"/>
                    <a:pt x="521589" y="1043178"/>
                  </a:cubicBezTo>
                  <a:cubicBezTo>
                    <a:pt x="233553" y="1043178"/>
                    <a:pt x="0" y="809625"/>
                    <a:pt x="0" y="521589"/>
                  </a:cubicBezTo>
                  <a:close/>
                </a:path>
              </a:pathLst>
            </a:custGeom>
            <a:solidFill>
              <a:srgbClr val="647A73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984005" y="3192885"/>
            <a:ext cx="1713957" cy="772286"/>
            <a:chOff x="0" y="0"/>
            <a:chExt cx="2285276" cy="10297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85280" cy="1029719"/>
            </a:xfrm>
            <a:custGeom>
              <a:avLst/>
              <a:gdLst/>
              <a:ahLst/>
              <a:cxnLst/>
              <a:rect r="r" b="b" t="t" l="l"/>
              <a:pathLst>
                <a:path h="1029719" w="2285280">
                  <a:moveTo>
                    <a:pt x="0" y="0"/>
                  </a:moveTo>
                  <a:lnTo>
                    <a:pt x="2285280" y="0"/>
                  </a:lnTo>
                  <a:lnTo>
                    <a:pt x="2285280" y="1029719"/>
                  </a:lnTo>
                  <a:lnTo>
                    <a:pt x="0" y="1029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8" r="0" b="168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285276" cy="10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秋七月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503945" y="5291328"/>
            <a:ext cx="2674077" cy="1972436"/>
            <a:chOff x="0" y="0"/>
            <a:chExt cx="3565436" cy="26299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65440" cy="2629919"/>
            </a:xfrm>
            <a:custGeom>
              <a:avLst/>
              <a:gdLst/>
              <a:ahLst/>
              <a:cxnLst/>
              <a:rect r="r" b="b" t="t" l="l"/>
              <a:pathLst>
                <a:path h="2629919" w="3565440">
                  <a:moveTo>
                    <a:pt x="0" y="0"/>
                  </a:moveTo>
                  <a:lnTo>
                    <a:pt x="3565440" y="0"/>
                  </a:lnTo>
                  <a:lnTo>
                    <a:pt x="3565440" y="2629919"/>
                  </a:lnTo>
                  <a:lnTo>
                    <a:pt x="0" y="2629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36" t="0" r="-32236" b="131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565436" cy="2629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魯、齊、鄭正式伐許</a:t>
              </a:r>
            </a:p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壬午遂入許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9077" y="1028700"/>
            <a:ext cx="16458657" cy="918521"/>
            <a:chOff x="0" y="0"/>
            <a:chExt cx="21944876" cy="12246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24698"/>
            </a:xfrm>
            <a:custGeom>
              <a:avLst/>
              <a:gdLst/>
              <a:ahLst/>
              <a:cxnLst/>
              <a:rect r="r" b="b" t="t" l="l"/>
              <a:pathLst>
                <a:path h="1224698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24698"/>
                  </a:lnTo>
                  <a:lnTo>
                    <a:pt x="0" y="12246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109" r="0" b="-29017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24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0"/>
                </a:lnSpc>
              </a:pPr>
              <a:r>
                <a:rPr lang="en-US" sz="465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政治資訊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46760" y="2324100"/>
            <a:ext cx="3141840" cy="7243484"/>
            <a:chOff x="0" y="0"/>
            <a:chExt cx="4189120" cy="9657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88968" cy="9657926"/>
            </a:xfrm>
            <a:custGeom>
              <a:avLst/>
              <a:gdLst/>
              <a:ahLst/>
              <a:cxnLst/>
              <a:rect r="r" b="b" t="t" l="l"/>
              <a:pathLst>
                <a:path h="9657926" w="4188968">
                  <a:moveTo>
                    <a:pt x="0" y="200997"/>
                  </a:moveTo>
                  <a:cubicBezTo>
                    <a:pt x="0" y="89988"/>
                    <a:pt x="65786" y="0"/>
                    <a:pt x="146939" y="0"/>
                  </a:cubicBezTo>
                  <a:lnTo>
                    <a:pt x="4042029" y="0"/>
                  </a:lnTo>
                  <a:cubicBezTo>
                    <a:pt x="4123182" y="0"/>
                    <a:pt x="4188968" y="89988"/>
                    <a:pt x="4188968" y="200997"/>
                  </a:cubicBezTo>
                  <a:lnTo>
                    <a:pt x="4188968" y="9456929"/>
                  </a:lnTo>
                  <a:cubicBezTo>
                    <a:pt x="4188968" y="9567938"/>
                    <a:pt x="4123182" y="9657926"/>
                    <a:pt x="4042029" y="9657926"/>
                  </a:cubicBezTo>
                  <a:lnTo>
                    <a:pt x="146939" y="9657926"/>
                  </a:lnTo>
                  <a:cubicBezTo>
                    <a:pt x="65786" y="9657926"/>
                    <a:pt x="0" y="9567938"/>
                    <a:pt x="0" y="9456929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19077" y="2897384"/>
            <a:ext cx="2797740" cy="1031173"/>
            <a:chOff x="0" y="0"/>
            <a:chExt cx="3730320" cy="13748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30320" cy="1374901"/>
            </a:xfrm>
            <a:custGeom>
              <a:avLst/>
              <a:gdLst/>
              <a:ahLst/>
              <a:cxnLst/>
              <a:rect r="r" b="b" t="t" l="l"/>
              <a:pathLst>
                <a:path h="1374901" w="3730320">
                  <a:moveTo>
                    <a:pt x="0" y="0"/>
                  </a:moveTo>
                  <a:lnTo>
                    <a:pt x="3730320" y="0"/>
                  </a:lnTo>
                  <a:lnTo>
                    <a:pt x="3730320" y="1374901"/>
                  </a:lnTo>
                  <a:lnTo>
                    <a:pt x="0" y="1374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3" r="0" b="105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30320" cy="1384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隱十一年夏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0655" y="4235364"/>
            <a:ext cx="1774050" cy="738129"/>
            <a:chOff x="0" y="0"/>
            <a:chExt cx="2365400" cy="984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65375" cy="984138"/>
            </a:xfrm>
            <a:custGeom>
              <a:avLst/>
              <a:gdLst/>
              <a:ahLst/>
              <a:cxnLst/>
              <a:rect r="r" b="b" t="t" l="l"/>
              <a:pathLst>
                <a:path h="984138" w="2365375">
                  <a:moveTo>
                    <a:pt x="0" y="310789"/>
                  </a:moveTo>
                  <a:cubicBezTo>
                    <a:pt x="0" y="139152"/>
                    <a:pt x="101727" y="0"/>
                    <a:pt x="227203" y="0"/>
                  </a:cubicBezTo>
                  <a:lnTo>
                    <a:pt x="2138172" y="0"/>
                  </a:lnTo>
                  <a:cubicBezTo>
                    <a:pt x="2263648" y="0"/>
                    <a:pt x="2365375" y="139152"/>
                    <a:pt x="2365375" y="310789"/>
                  </a:cubicBezTo>
                  <a:lnTo>
                    <a:pt x="2365375" y="673348"/>
                  </a:lnTo>
                  <a:cubicBezTo>
                    <a:pt x="2365375" y="844986"/>
                    <a:pt x="2263648" y="984138"/>
                    <a:pt x="2138172" y="984138"/>
                  </a:cubicBezTo>
                  <a:lnTo>
                    <a:pt x="227203" y="984138"/>
                  </a:lnTo>
                  <a:cubicBezTo>
                    <a:pt x="101727" y="984138"/>
                    <a:pt x="0" y="844986"/>
                    <a:pt x="0" y="673348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49803" y="4190361"/>
            <a:ext cx="1535763" cy="802078"/>
            <a:chOff x="0" y="0"/>
            <a:chExt cx="2047685" cy="10694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7680" cy="1069436"/>
            </a:xfrm>
            <a:custGeom>
              <a:avLst/>
              <a:gdLst/>
              <a:ahLst/>
              <a:cxnLst/>
              <a:rect r="r" b="b" t="t" l="l"/>
              <a:pathLst>
                <a:path h="1069436" w="2047680">
                  <a:moveTo>
                    <a:pt x="0" y="0"/>
                  </a:moveTo>
                  <a:lnTo>
                    <a:pt x="2047680" y="0"/>
                  </a:lnTo>
                  <a:lnTo>
                    <a:pt x="2047680" y="1069436"/>
                  </a:lnTo>
                  <a:lnTo>
                    <a:pt x="0" y="1069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3" r="0" b="430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047685" cy="107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時間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1163" y="5561735"/>
            <a:ext cx="2633043" cy="2907375"/>
            <a:chOff x="0" y="0"/>
            <a:chExt cx="3510724" cy="3876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10720" cy="3876504"/>
            </a:xfrm>
            <a:custGeom>
              <a:avLst/>
              <a:gdLst/>
              <a:ahLst/>
              <a:cxnLst/>
              <a:rect r="r" b="b" t="t" l="l"/>
              <a:pathLst>
                <a:path h="3876504" w="3510720">
                  <a:moveTo>
                    <a:pt x="0" y="0"/>
                  </a:moveTo>
                  <a:lnTo>
                    <a:pt x="3510720" y="0"/>
                  </a:lnTo>
                  <a:lnTo>
                    <a:pt x="3510720" y="3876504"/>
                  </a:lnTo>
                  <a:lnTo>
                    <a:pt x="0" y="3876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68" t="0" r="-53568" b="268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510724" cy="38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魯隱公十一年夏季。約前712年。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44340" y="2324100"/>
            <a:ext cx="3141840" cy="7243484"/>
            <a:chOff x="0" y="0"/>
            <a:chExt cx="4189120" cy="96579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88968" cy="9657926"/>
            </a:xfrm>
            <a:custGeom>
              <a:avLst/>
              <a:gdLst/>
              <a:ahLst/>
              <a:cxnLst/>
              <a:rect r="r" b="b" t="t" l="l"/>
              <a:pathLst>
                <a:path h="9657926" w="4188968">
                  <a:moveTo>
                    <a:pt x="0" y="200997"/>
                  </a:moveTo>
                  <a:cubicBezTo>
                    <a:pt x="0" y="89988"/>
                    <a:pt x="65786" y="0"/>
                    <a:pt x="146939" y="0"/>
                  </a:cubicBezTo>
                  <a:lnTo>
                    <a:pt x="4042029" y="0"/>
                  </a:lnTo>
                  <a:cubicBezTo>
                    <a:pt x="4123182" y="0"/>
                    <a:pt x="4188968" y="89988"/>
                    <a:pt x="4188968" y="200997"/>
                  </a:cubicBezTo>
                  <a:lnTo>
                    <a:pt x="4188968" y="9456929"/>
                  </a:lnTo>
                  <a:cubicBezTo>
                    <a:pt x="4188968" y="9567938"/>
                    <a:pt x="4123182" y="9657926"/>
                    <a:pt x="4042029" y="9657926"/>
                  </a:cubicBezTo>
                  <a:lnTo>
                    <a:pt x="146939" y="9657926"/>
                  </a:lnTo>
                  <a:cubicBezTo>
                    <a:pt x="65786" y="9657926"/>
                    <a:pt x="0" y="9567938"/>
                    <a:pt x="0" y="9456929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416657" y="2897384"/>
            <a:ext cx="2797740" cy="1031173"/>
            <a:chOff x="0" y="0"/>
            <a:chExt cx="3730320" cy="13748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30320" cy="1374901"/>
            </a:xfrm>
            <a:custGeom>
              <a:avLst/>
              <a:gdLst/>
              <a:ahLst/>
              <a:cxnLst/>
              <a:rect r="r" b="b" t="t" l="l"/>
              <a:pathLst>
                <a:path h="1374901" w="3730320">
                  <a:moveTo>
                    <a:pt x="0" y="0"/>
                  </a:moveTo>
                  <a:lnTo>
                    <a:pt x="3730320" y="0"/>
                  </a:lnTo>
                  <a:lnTo>
                    <a:pt x="3730320" y="1374901"/>
                  </a:lnTo>
                  <a:lnTo>
                    <a:pt x="0" y="1374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3" r="0" b="105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730320" cy="1384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公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28235" y="4235364"/>
            <a:ext cx="1774050" cy="738129"/>
            <a:chOff x="0" y="0"/>
            <a:chExt cx="2365400" cy="9841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65375" cy="984138"/>
            </a:xfrm>
            <a:custGeom>
              <a:avLst/>
              <a:gdLst/>
              <a:ahLst/>
              <a:cxnLst/>
              <a:rect r="r" b="b" t="t" l="l"/>
              <a:pathLst>
                <a:path h="984138" w="2365375">
                  <a:moveTo>
                    <a:pt x="0" y="310789"/>
                  </a:moveTo>
                  <a:cubicBezTo>
                    <a:pt x="0" y="139152"/>
                    <a:pt x="101727" y="0"/>
                    <a:pt x="227203" y="0"/>
                  </a:cubicBezTo>
                  <a:lnTo>
                    <a:pt x="2138172" y="0"/>
                  </a:lnTo>
                  <a:cubicBezTo>
                    <a:pt x="2263648" y="0"/>
                    <a:pt x="2365375" y="139152"/>
                    <a:pt x="2365375" y="310789"/>
                  </a:cubicBezTo>
                  <a:lnTo>
                    <a:pt x="2365375" y="673348"/>
                  </a:lnTo>
                  <a:cubicBezTo>
                    <a:pt x="2365375" y="844986"/>
                    <a:pt x="2263648" y="984138"/>
                    <a:pt x="2138172" y="984138"/>
                  </a:cubicBezTo>
                  <a:lnTo>
                    <a:pt x="227203" y="984138"/>
                  </a:lnTo>
                  <a:cubicBezTo>
                    <a:pt x="101727" y="984138"/>
                    <a:pt x="0" y="844986"/>
                    <a:pt x="0" y="673348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047383" y="4190361"/>
            <a:ext cx="1535763" cy="802078"/>
            <a:chOff x="0" y="0"/>
            <a:chExt cx="2047685" cy="10694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7680" cy="1069436"/>
            </a:xfrm>
            <a:custGeom>
              <a:avLst/>
              <a:gdLst/>
              <a:ahLst/>
              <a:cxnLst/>
              <a:rect r="r" b="b" t="t" l="l"/>
              <a:pathLst>
                <a:path h="1069436" w="2047680">
                  <a:moveTo>
                    <a:pt x="0" y="0"/>
                  </a:moveTo>
                  <a:lnTo>
                    <a:pt x="2047680" y="0"/>
                  </a:lnTo>
                  <a:lnTo>
                    <a:pt x="2047680" y="1069436"/>
                  </a:lnTo>
                  <a:lnTo>
                    <a:pt x="0" y="1069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3" r="0" b="4306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047685" cy="107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人物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498743" y="5561735"/>
            <a:ext cx="2633043" cy="2907375"/>
            <a:chOff x="0" y="0"/>
            <a:chExt cx="3510724" cy="3876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10720" cy="3876504"/>
            </a:xfrm>
            <a:custGeom>
              <a:avLst/>
              <a:gdLst/>
              <a:ahLst/>
              <a:cxnLst/>
              <a:rect r="r" b="b" t="t" l="l"/>
              <a:pathLst>
                <a:path h="3876504" w="3510720">
                  <a:moveTo>
                    <a:pt x="0" y="0"/>
                  </a:moveTo>
                  <a:lnTo>
                    <a:pt x="3510720" y="0"/>
                  </a:lnTo>
                  <a:lnTo>
                    <a:pt x="3510720" y="3876504"/>
                  </a:lnTo>
                  <a:lnTo>
                    <a:pt x="0" y="3876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68" t="0" r="-53568" b="268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510724" cy="38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指魯隱公。經傳以本國國君稱「公」。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41920" y="2324100"/>
            <a:ext cx="3141840" cy="7243484"/>
            <a:chOff x="0" y="0"/>
            <a:chExt cx="4189120" cy="96579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88968" cy="9657926"/>
            </a:xfrm>
            <a:custGeom>
              <a:avLst/>
              <a:gdLst/>
              <a:ahLst/>
              <a:cxnLst/>
              <a:rect r="r" b="b" t="t" l="l"/>
              <a:pathLst>
                <a:path h="9657926" w="4188968">
                  <a:moveTo>
                    <a:pt x="0" y="200997"/>
                  </a:moveTo>
                  <a:cubicBezTo>
                    <a:pt x="0" y="89988"/>
                    <a:pt x="65786" y="0"/>
                    <a:pt x="146939" y="0"/>
                  </a:cubicBezTo>
                  <a:lnTo>
                    <a:pt x="4042029" y="0"/>
                  </a:lnTo>
                  <a:cubicBezTo>
                    <a:pt x="4123182" y="0"/>
                    <a:pt x="4188968" y="89988"/>
                    <a:pt x="4188968" y="200997"/>
                  </a:cubicBezTo>
                  <a:lnTo>
                    <a:pt x="4188968" y="9456929"/>
                  </a:lnTo>
                  <a:cubicBezTo>
                    <a:pt x="4188968" y="9567938"/>
                    <a:pt x="4123182" y="9657926"/>
                    <a:pt x="4042029" y="9657926"/>
                  </a:cubicBezTo>
                  <a:lnTo>
                    <a:pt x="146939" y="9657926"/>
                  </a:lnTo>
                  <a:cubicBezTo>
                    <a:pt x="65786" y="9657926"/>
                    <a:pt x="0" y="9567938"/>
                    <a:pt x="0" y="9456929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914237" y="2897384"/>
            <a:ext cx="2797740" cy="1031173"/>
            <a:chOff x="0" y="0"/>
            <a:chExt cx="3730320" cy="13748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30320" cy="1374901"/>
            </a:xfrm>
            <a:custGeom>
              <a:avLst/>
              <a:gdLst/>
              <a:ahLst/>
              <a:cxnLst/>
              <a:rect r="r" b="b" t="t" l="l"/>
              <a:pathLst>
                <a:path h="1374901" w="3730320">
                  <a:moveTo>
                    <a:pt x="0" y="0"/>
                  </a:moveTo>
                  <a:lnTo>
                    <a:pt x="3730320" y="0"/>
                  </a:lnTo>
                  <a:lnTo>
                    <a:pt x="3730320" y="1374901"/>
                  </a:lnTo>
                  <a:lnTo>
                    <a:pt x="0" y="1374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3" r="0" b="105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730320" cy="1384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會鄭伯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83536" y="4235364"/>
            <a:ext cx="2059142" cy="757074"/>
            <a:chOff x="0" y="0"/>
            <a:chExt cx="2745523" cy="10094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5493" cy="1009397"/>
            </a:xfrm>
            <a:custGeom>
              <a:avLst/>
              <a:gdLst/>
              <a:ahLst/>
              <a:cxnLst/>
              <a:rect r="r" b="b" t="t" l="l"/>
              <a:pathLst>
                <a:path h="1009397" w="2745493">
                  <a:moveTo>
                    <a:pt x="0" y="318766"/>
                  </a:moveTo>
                  <a:cubicBezTo>
                    <a:pt x="0" y="142723"/>
                    <a:pt x="118075" y="0"/>
                    <a:pt x="263715" y="0"/>
                  </a:cubicBezTo>
                  <a:lnTo>
                    <a:pt x="2481778" y="0"/>
                  </a:lnTo>
                  <a:cubicBezTo>
                    <a:pt x="2627419" y="0"/>
                    <a:pt x="2745493" y="142723"/>
                    <a:pt x="2745493" y="318766"/>
                  </a:cubicBezTo>
                  <a:lnTo>
                    <a:pt x="2745493" y="690631"/>
                  </a:lnTo>
                  <a:cubicBezTo>
                    <a:pt x="2745493" y="866674"/>
                    <a:pt x="2627419" y="1009397"/>
                    <a:pt x="2481778" y="1009397"/>
                  </a:cubicBezTo>
                  <a:lnTo>
                    <a:pt x="263715" y="1009397"/>
                  </a:lnTo>
                  <a:cubicBezTo>
                    <a:pt x="118075" y="1009397"/>
                    <a:pt x="0" y="866674"/>
                    <a:pt x="0" y="690631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142051" y="4235364"/>
            <a:ext cx="2342112" cy="802078"/>
            <a:chOff x="0" y="0"/>
            <a:chExt cx="3122816" cy="106943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22809" cy="1069436"/>
            </a:xfrm>
            <a:custGeom>
              <a:avLst/>
              <a:gdLst/>
              <a:ahLst/>
              <a:cxnLst/>
              <a:rect r="r" b="b" t="t" l="l"/>
              <a:pathLst>
                <a:path h="1069436" w="3122809">
                  <a:moveTo>
                    <a:pt x="0" y="0"/>
                  </a:moveTo>
                  <a:lnTo>
                    <a:pt x="3122809" y="0"/>
                  </a:lnTo>
                  <a:lnTo>
                    <a:pt x="3122809" y="1069436"/>
                  </a:lnTo>
                  <a:lnTo>
                    <a:pt x="0" y="1069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3" r="34428" b="4306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122816" cy="107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外交行動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996323" y="5561735"/>
            <a:ext cx="2633043" cy="2907375"/>
            <a:chOff x="0" y="0"/>
            <a:chExt cx="3510724" cy="3876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10720" cy="3876504"/>
            </a:xfrm>
            <a:custGeom>
              <a:avLst/>
              <a:gdLst/>
              <a:ahLst/>
              <a:cxnLst/>
              <a:rect r="r" b="b" t="t" l="l"/>
              <a:pathLst>
                <a:path h="3876504" w="3510720">
                  <a:moveTo>
                    <a:pt x="0" y="0"/>
                  </a:moveTo>
                  <a:lnTo>
                    <a:pt x="3510720" y="0"/>
                  </a:lnTo>
                  <a:lnTo>
                    <a:pt x="3510720" y="3876504"/>
                  </a:lnTo>
                  <a:lnTo>
                    <a:pt x="0" y="3876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68" t="0" r="-53568" b="268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510724" cy="38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與鄭國國君鄭莊公正式會面；不是臣屬關係。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239500" y="2324100"/>
            <a:ext cx="3141840" cy="7243484"/>
            <a:chOff x="0" y="0"/>
            <a:chExt cx="4189120" cy="965797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88968" cy="9657926"/>
            </a:xfrm>
            <a:custGeom>
              <a:avLst/>
              <a:gdLst/>
              <a:ahLst/>
              <a:cxnLst/>
              <a:rect r="r" b="b" t="t" l="l"/>
              <a:pathLst>
                <a:path h="9657926" w="4188968">
                  <a:moveTo>
                    <a:pt x="0" y="200997"/>
                  </a:moveTo>
                  <a:cubicBezTo>
                    <a:pt x="0" y="89988"/>
                    <a:pt x="65786" y="0"/>
                    <a:pt x="146939" y="0"/>
                  </a:cubicBezTo>
                  <a:lnTo>
                    <a:pt x="4042029" y="0"/>
                  </a:lnTo>
                  <a:cubicBezTo>
                    <a:pt x="4123182" y="0"/>
                    <a:pt x="4188968" y="89988"/>
                    <a:pt x="4188968" y="200997"/>
                  </a:cubicBezTo>
                  <a:lnTo>
                    <a:pt x="4188968" y="9456929"/>
                  </a:lnTo>
                  <a:cubicBezTo>
                    <a:pt x="4188968" y="9567938"/>
                    <a:pt x="4123182" y="9657926"/>
                    <a:pt x="4042029" y="9657926"/>
                  </a:cubicBezTo>
                  <a:lnTo>
                    <a:pt x="146939" y="9657926"/>
                  </a:lnTo>
                  <a:cubicBezTo>
                    <a:pt x="65786" y="9657926"/>
                    <a:pt x="0" y="9567938"/>
                    <a:pt x="0" y="9456929"/>
                  </a:cubicBezTo>
                  <a:close/>
                </a:path>
              </a:pathLst>
            </a:custGeom>
            <a:solidFill>
              <a:srgbClr val="F2E4DF"/>
            </a:solidFill>
            <a:ln w="15240" cap="sq">
              <a:solidFill>
                <a:srgbClr val="E1BCA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411817" y="2897384"/>
            <a:ext cx="2797740" cy="1031173"/>
            <a:chOff x="0" y="0"/>
            <a:chExt cx="3730320" cy="137489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30320" cy="1374901"/>
            </a:xfrm>
            <a:custGeom>
              <a:avLst/>
              <a:gdLst/>
              <a:ahLst/>
              <a:cxnLst/>
              <a:rect r="r" b="b" t="t" l="l"/>
              <a:pathLst>
                <a:path h="1374901" w="3730320">
                  <a:moveTo>
                    <a:pt x="0" y="0"/>
                  </a:moveTo>
                  <a:lnTo>
                    <a:pt x="3730320" y="0"/>
                  </a:lnTo>
                  <a:lnTo>
                    <a:pt x="3730320" y="1374901"/>
                  </a:lnTo>
                  <a:lnTo>
                    <a:pt x="0" y="1374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3" r="0" b="1058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730320" cy="1384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於郲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923395" y="4235364"/>
            <a:ext cx="1774050" cy="738129"/>
            <a:chOff x="0" y="0"/>
            <a:chExt cx="2365400" cy="9841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65375" cy="984138"/>
            </a:xfrm>
            <a:custGeom>
              <a:avLst/>
              <a:gdLst/>
              <a:ahLst/>
              <a:cxnLst/>
              <a:rect r="r" b="b" t="t" l="l"/>
              <a:pathLst>
                <a:path h="984138" w="2365375">
                  <a:moveTo>
                    <a:pt x="0" y="310789"/>
                  </a:moveTo>
                  <a:cubicBezTo>
                    <a:pt x="0" y="139152"/>
                    <a:pt x="101727" y="0"/>
                    <a:pt x="227203" y="0"/>
                  </a:cubicBezTo>
                  <a:lnTo>
                    <a:pt x="2138172" y="0"/>
                  </a:lnTo>
                  <a:cubicBezTo>
                    <a:pt x="2263648" y="0"/>
                    <a:pt x="2365375" y="139152"/>
                    <a:pt x="2365375" y="310789"/>
                  </a:cubicBezTo>
                  <a:lnTo>
                    <a:pt x="2365375" y="673348"/>
                  </a:lnTo>
                  <a:cubicBezTo>
                    <a:pt x="2365375" y="844986"/>
                    <a:pt x="2263648" y="984138"/>
                    <a:pt x="2138172" y="984138"/>
                  </a:cubicBezTo>
                  <a:lnTo>
                    <a:pt x="227203" y="984138"/>
                  </a:lnTo>
                  <a:cubicBezTo>
                    <a:pt x="101727" y="984138"/>
                    <a:pt x="0" y="844986"/>
                    <a:pt x="0" y="673348"/>
                  </a:cubicBezTo>
                  <a:close/>
                </a:path>
              </a:pathLst>
            </a:custGeom>
            <a:solidFill>
              <a:srgbClr val="EAD1C8"/>
            </a:solidFill>
            <a:ln w="19050" cap="sq">
              <a:solidFill>
                <a:srgbClr val="EAD1C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042543" y="4190361"/>
            <a:ext cx="1535763" cy="802078"/>
            <a:chOff x="0" y="0"/>
            <a:chExt cx="2047685" cy="106943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47680" cy="1069436"/>
            </a:xfrm>
            <a:custGeom>
              <a:avLst/>
              <a:gdLst/>
              <a:ahLst/>
              <a:cxnLst/>
              <a:rect r="r" b="b" t="t" l="l"/>
              <a:pathLst>
                <a:path h="1069436" w="2047680">
                  <a:moveTo>
                    <a:pt x="0" y="0"/>
                  </a:moveTo>
                  <a:lnTo>
                    <a:pt x="2047680" y="0"/>
                  </a:lnTo>
                  <a:lnTo>
                    <a:pt x="2047680" y="1069436"/>
                  </a:lnTo>
                  <a:lnTo>
                    <a:pt x="0" y="1069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3" r="0" b="430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047685" cy="107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地點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493903" y="5561735"/>
            <a:ext cx="2633043" cy="2907375"/>
            <a:chOff x="0" y="0"/>
            <a:chExt cx="3510724" cy="38765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10720" cy="3876504"/>
            </a:xfrm>
            <a:custGeom>
              <a:avLst/>
              <a:gdLst/>
              <a:ahLst/>
              <a:cxnLst/>
              <a:rect r="r" b="b" t="t" l="l"/>
              <a:pathLst>
                <a:path h="3876504" w="3510720">
                  <a:moveTo>
                    <a:pt x="0" y="0"/>
                  </a:moveTo>
                  <a:lnTo>
                    <a:pt x="3510720" y="0"/>
                  </a:lnTo>
                  <a:lnTo>
                    <a:pt x="3510720" y="3876504"/>
                  </a:lnTo>
                  <a:lnTo>
                    <a:pt x="0" y="3876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68" t="0" r="-53568" b="268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510724" cy="38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杜預注：郲（時來）是鄭地，在滎陽一帶。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37080" y="2324100"/>
            <a:ext cx="3141840" cy="7243484"/>
            <a:chOff x="0" y="0"/>
            <a:chExt cx="4189120" cy="965797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88968" cy="9657926"/>
            </a:xfrm>
            <a:custGeom>
              <a:avLst/>
              <a:gdLst/>
              <a:ahLst/>
              <a:cxnLst/>
              <a:rect r="r" b="b" t="t" l="l"/>
              <a:pathLst>
                <a:path h="9657926" w="4188968">
                  <a:moveTo>
                    <a:pt x="0" y="200997"/>
                  </a:moveTo>
                  <a:cubicBezTo>
                    <a:pt x="0" y="89988"/>
                    <a:pt x="65786" y="0"/>
                    <a:pt x="146939" y="0"/>
                  </a:cubicBezTo>
                  <a:lnTo>
                    <a:pt x="4042029" y="0"/>
                  </a:lnTo>
                  <a:cubicBezTo>
                    <a:pt x="4123182" y="0"/>
                    <a:pt x="4188968" y="89988"/>
                    <a:pt x="4188968" y="200997"/>
                  </a:cubicBezTo>
                  <a:lnTo>
                    <a:pt x="4188968" y="9456929"/>
                  </a:lnTo>
                  <a:cubicBezTo>
                    <a:pt x="4188968" y="9567938"/>
                    <a:pt x="4123182" y="9657926"/>
                    <a:pt x="4042029" y="9657926"/>
                  </a:cubicBezTo>
                  <a:lnTo>
                    <a:pt x="146939" y="9657926"/>
                  </a:lnTo>
                  <a:cubicBezTo>
                    <a:pt x="65786" y="9657926"/>
                    <a:pt x="0" y="9567938"/>
                    <a:pt x="0" y="9456929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909397" y="2897384"/>
            <a:ext cx="2797740" cy="1031173"/>
            <a:chOff x="0" y="0"/>
            <a:chExt cx="3730320" cy="137489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730320" cy="1374901"/>
            </a:xfrm>
            <a:custGeom>
              <a:avLst/>
              <a:gdLst/>
              <a:ahLst/>
              <a:cxnLst/>
              <a:rect r="r" b="b" t="t" l="l"/>
              <a:pathLst>
                <a:path h="1374901" w="3730320">
                  <a:moveTo>
                    <a:pt x="0" y="0"/>
                  </a:moveTo>
                  <a:lnTo>
                    <a:pt x="3730320" y="0"/>
                  </a:lnTo>
                  <a:lnTo>
                    <a:pt x="3730320" y="1374901"/>
                  </a:lnTo>
                  <a:lnTo>
                    <a:pt x="0" y="13749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3" r="0" b="1058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730320" cy="1384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謀伐許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420975" y="4235364"/>
            <a:ext cx="1774050" cy="738129"/>
            <a:chOff x="0" y="0"/>
            <a:chExt cx="2365400" cy="9841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65375" cy="984138"/>
            </a:xfrm>
            <a:custGeom>
              <a:avLst/>
              <a:gdLst/>
              <a:ahLst/>
              <a:cxnLst/>
              <a:rect r="r" b="b" t="t" l="l"/>
              <a:pathLst>
                <a:path h="984138" w="2365375">
                  <a:moveTo>
                    <a:pt x="0" y="310789"/>
                  </a:moveTo>
                  <a:cubicBezTo>
                    <a:pt x="0" y="139152"/>
                    <a:pt x="101727" y="0"/>
                    <a:pt x="227203" y="0"/>
                  </a:cubicBezTo>
                  <a:lnTo>
                    <a:pt x="2138172" y="0"/>
                  </a:lnTo>
                  <a:cubicBezTo>
                    <a:pt x="2263648" y="0"/>
                    <a:pt x="2365375" y="139152"/>
                    <a:pt x="2365375" y="310789"/>
                  </a:cubicBezTo>
                  <a:lnTo>
                    <a:pt x="2365375" y="673348"/>
                  </a:lnTo>
                  <a:cubicBezTo>
                    <a:pt x="2365375" y="844986"/>
                    <a:pt x="2263648" y="984138"/>
                    <a:pt x="2138172" y="984138"/>
                  </a:cubicBezTo>
                  <a:lnTo>
                    <a:pt x="227203" y="984138"/>
                  </a:lnTo>
                  <a:cubicBezTo>
                    <a:pt x="101727" y="984138"/>
                    <a:pt x="0" y="844986"/>
                    <a:pt x="0" y="673348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5540123" y="4190361"/>
            <a:ext cx="1535763" cy="802078"/>
            <a:chOff x="0" y="0"/>
            <a:chExt cx="2047685" cy="106943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47680" cy="1069436"/>
            </a:xfrm>
            <a:custGeom>
              <a:avLst/>
              <a:gdLst/>
              <a:ahLst/>
              <a:cxnLst/>
              <a:rect r="r" b="b" t="t" l="l"/>
              <a:pathLst>
                <a:path h="1069436" w="2047680">
                  <a:moveTo>
                    <a:pt x="0" y="0"/>
                  </a:moveTo>
                  <a:lnTo>
                    <a:pt x="2047680" y="0"/>
                  </a:lnTo>
                  <a:lnTo>
                    <a:pt x="2047680" y="1069436"/>
                  </a:lnTo>
                  <a:lnTo>
                    <a:pt x="0" y="1069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3" r="0" b="4306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047685" cy="107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目的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991483" y="5561735"/>
            <a:ext cx="2633043" cy="3021102"/>
            <a:chOff x="0" y="0"/>
            <a:chExt cx="3510724" cy="402813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10720" cy="4028139"/>
            </a:xfrm>
            <a:custGeom>
              <a:avLst/>
              <a:gdLst/>
              <a:ahLst/>
              <a:cxnLst/>
              <a:rect r="r" b="b" t="t" l="l"/>
              <a:pathLst>
                <a:path h="4028139" w="3510720">
                  <a:moveTo>
                    <a:pt x="0" y="0"/>
                  </a:moveTo>
                  <a:lnTo>
                    <a:pt x="3510720" y="0"/>
                  </a:lnTo>
                  <a:lnTo>
                    <a:pt x="3510720" y="4028139"/>
                  </a:lnTo>
                  <a:lnTo>
                    <a:pt x="0" y="4028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568" t="0" r="-53568" b="2964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3510724" cy="4037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商議、籌畫對許國的軍事行動；戰爭尚未正式開始。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89660" y="775854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人物關係：魯隱公 × 鄭莊公，不是第一次合作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9660" y="2186940"/>
            <a:ext cx="4403817" cy="4609557"/>
            <a:chOff x="0" y="0"/>
            <a:chExt cx="5871756" cy="61460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71718" cy="6146038"/>
            </a:xfrm>
            <a:custGeom>
              <a:avLst/>
              <a:gdLst/>
              <a:ahLst/>
              <a:cxnLst/>
              <a:rect r="r" b="b" t="t" l="l"/>
              <a:pathLst>
                <a:path h="6146038" w="5871718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5724906" y="0"/>
                  </a:lnTo>
                  <a:cubicBezTo>
                    <a:pt x="5805932" y="0"/>
                    <a:pt x="5871718" y="65659"/>
                    <a:pt x="5871718" y="146812"/>
                  </a:cubicBezTo>
                  <a:lnTo>
                    <a:pt x="5871718" y="5999226"/>
                  </a:lnTo>
                  <a:cubicBezTo>
                    <a:pt x="5871718" y="6080252"/>
                    <a:pt x="5806059" y="6146038"/>
                    <a:pt x="5724906" y="6146038"/>
                  </a:cubicBezTo>
                  <a:lnTo>
                    <a:pt x="146812" y="6146038"/>
                  </a:lnTo>
                  <a:cubicBezTo>
                    <a:pt x="65659" y="6146038"/>
                    <a:pt x="0" y="6080379"/>
                    <a:pt x="0" y="599922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748260" y="2186940"/>
            <a:ext cx="4403817" cy="4609557"/>
            <a:chOff x="0" y="0"/>
            <a:chExt cx="5871756" cy="61460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71718" cy="6146038"/>
            </a:xfrm>
            <a:custGeom>
              <a:avLst/>
              <a:gdLst/>
              <a:ahLst/>
              <a:cxnLst/>
              <a:rect r="r" b="b" t="t" l="l"/>
              <a:pathLst>
                <a:path h="6146038" w="5871718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5724906" y="0"/>
                  </a:lnTo>
                  <a:cubicBezTo>
                    <a:pt x="5805932" y="0"/>
                    <a:pt x="5871718" y="65659"/>
                    <a:pt x="5871718" y="146812"/>
                  </a:cubicBezTo>
                  <a:lnTo>
                    <a:pt x="5871718" y="5999226"/>
                  </a:lnTo>
                  <a:cubicBezTo>
                    <a:pt x="5871718" y="6080252"/>
                    <a:pt x="5806059" y="6146038"/>
                    <a:pt x="5724906" y="6146038"/>
                  </a:cubicBezTo>
                  <a:lnTo>
                    <a:pt x="146812" y="6146038"/>
                  </a:lnTo>
                  <a:cubicBezTo>
                    <a:pt x="65659" y="6146038"/>
                    <a:pt x="0" y="6080379"/>
                    <a:pt x="0" y="599922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645920" y="2743200"/>
            <a:ext cx="3291297" cy="753840"/>
            <a:chOff x="0" y="0"/>
            <a:chExt cx="4388396" cy="1005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8400" cy="1005124"/>
            </a:xfrm>
            <a:custGeom>
              <a:avLst/>
              <a:gdLst/>
              <a:ahLst/>
              <a:cxnLst/>
              <a:rect r="r" b="b" t="t" l="l"/>
              <a:pathLst>
                <a:path h="1005124" w="4388400">
                  <a:moveTo>
                    <a:pt x="0" y="0"/>
                  </a:moveTo>
                  <a:lnTo>
                    <a:pt x="4388400" y="0"/>
                  </a:lnTo>
                  <a:lnTo>
                    <a:pt x="4388400" y="1005124"/>
                  </a:lnTo>
                  <a:lnTo>
                    <a:pt x="0" y="1005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72" r="0" b="-3507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388396" cy="1014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魯隱公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4500" y="3909060"/>
            <a:ext cx="3154137" cy="1175080"/>
            <a:chOff x="0" y="0"/>
            <a:chExt cx="4205516" cy="15667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5520" cy="1566777"/>
            </a:xfrm>
            <a:custGeom>
              <a:avLst/>
              <a:gdLst/>
              <a:ahLst/>
              <a:cxnLst/>
              <a:rect r="r" b="b" t="t" l="l"/>
              <a:pathLst>
                <a:path h="1566777" w="4205520">
                  <a:moveTo>
                    <a:pt x="0" y="0"/>
                  </a:moveTo>
                  <a:lnTo>
                    <a:pt x="4205520" y="0"/>
                  </a:lnTo>
                  <a:lnTo>
                    <a:pt x="4205520" y="1566777"/>
                  </a:lnTo>
                  <a:lnTo>
                    <a:pt x="0" y="1566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6" r="0" b="-18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205516" cy="1576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魯國國君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本句中的「公」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04520" y="2743200"/>
            <a:ext cx="3291297" cy="753840"/>
            <a:chOff x="0" y="0"/>
            <a:chExt cx="4388396" cy="1005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8400" cy="1005124"/>
            </a:xfrm>
            <a:custGeom>
              <a:avLst/>
              <a:gdLst/>
              <a:ahLst/>
              <a:cxnLst/>
              <a:rect r="r" b="b" t="t" l="l"/>
              <a:pathLst>
                <a:path h="1005124" w="4388400">
                  <a:moveTo>
                    <a:pt x="0" y="0"/>
                  </a:moveTo>
                  <a:lnTo>
                    <a:pt x="4388400" y="0"/>
                  </a:lnTo>
                  <a:lnTo>
                    <a:pt x="4388400" y="1005124"/>
                  </a:lnTo>
                  <a:lnTo>
                    <a:pt x="0" y="1005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72" r="0" b="-350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388396" cy="1014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鄭莊公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73100" y="3909060"/>
            <a:ext cx="3154137" cy="1175080"/>
            <a:chOff x="0" y="0"/>
            <a:chExt cx="4205516" cy="15667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5520" cy="1566777"/>
            </a:xfrm>
            <a:custGeom>
              <a:avLst/>
              <a:gdLst/>
              <a:ahLst/>
              <a:cxnLst/>
              <a:rect r="r" b="b" t="t" l="l"/>
              <a:pathLst>
                <a:path h="1566777" w="4205520">
                  <a:moveTo>
                    <a:pt x="0" y="0"/>
                  </a:moveTo>
                  <a:lnTo>
                    <a:pt x="4205520" y="0"/>
                  </a:lnTo>
                  <a:lnTo>
                    <a:pt x="4205520" y="1566777"/>
                  </a:lnTo>
                  <a:lnTo>
                    <a:pt x="0" y="1566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6" r="0" b="-18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205516" cy="1576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鄭國國君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經文稱「鄭伯」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092190" y="3074670"/>
            <a:ext cx="5988777" cy="1599657"/>
            <a:chOff x="0" y="0"/>
            <a:chExt cx="7985036" cy="21328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84999" cy="2132838"/>
            </a:xfrm>
            <a:custGeom>
              <a:avLst/>
              <a:gdLst/>
              <a:ahLst/>
              <a:cxnLst/>
              <a:rect r="r" b="b" t="t" l="l"/>
              <a:pathLst>
                <a:path h="2132838" w="7984999">
                  <a:moveTo>
                    <a:pt x="0" y="0"/>
                  </a:moveTo>
                  <a:lnTo>
                    <a:pt x="6918579" y="0"/>
                  </a:lnTo>
                  <a:lnTo>
                    <a:pt x="7984999" y="1066419"/>
                  </a:lnTo>
                  <a:lnTo>
                    <a:pt x="6918579" y="2132838"/>
                  </a:lnTo>
                  <a:lnTo>
                    <a:pt x="0" y="2132838"/>
                  </a:lnTo>
                  <a:lnTo>
                    <a:pt x="1066419" y="1066419"/>
                  </a:lnTo>
                  <a:close/>
                </a:path>
              </a:pathLst>
            </a:custGeom>
            <a:solidFill>
              <a:srgbClr val="E3EBE7"/>
            </a:solidFill>
            <a:ln w="22860" cap="sq">
              <a:solidFill>
                <a:srgbClr val="647A73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89387" y="3544133"/>
            <a:ext cx="4594317" cy="660730"/>
            <a:chOff x="0" y="0"/>
            <a:chExt cx="6125756" cy="8809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25760" cy="880968"/>
            </a:xfrm>
            <a:custGeom>
              <a:avLst/>
              <a:gdLst/>
              <a:ahLst/>
              <a:cxnLst/>
              <a:rect r="r" b="b" t="t" l="l"/>
              <a:pathLst>
                <a:path h="880968" w="6125760">
                  <a:moveTo>
                    <a:pt x="0" y="0"/>
                  </a:moveTo>
                  <a:lnTo>
                    <a:pt x="6125760" y="0"/>
                  </a:lnTo>
                  <a:lnTo>
                    <a:pt x="6125760" y="880968"/>
                  </a:lnTo>
                  <a:lnTo>
                    <a:pt x="0" y="880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26" r="0" b="-7904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125756" cy="890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會於郲｜共同「謀伐許」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7330440"/>
            <a:ext cx="14949897" cy="2495572"/>
            <a:chOff x="0" y="0"/>
            <a:chExt cx="19933196" cy="33274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33151" cy="3327357"/>
            </a:xfrm>
            <a:custGeom>
              <a:avLst/>
              <a:gdLst/>
              <a:ahLst/>
              <a:cxnLst/>
              <a:rect r="r" b="b" t="t" l="l"/>
              <a:pathLst>
                <a:path h="3327357" w="19933151">
                  <a:moveTo>
                    <a:pt x="0" y="280206"/>
                  </a:moveTo>
                  <a:cubicBezTo>
                    <a:pt x="0" y="125552"/>
                    <a:pt x="78450" y="0"/>
                    <a:pt x="175084" y="0"/>
                  </a:cubicBezTo>
                  <a:lnTo>
                    <a:pt x="19758065" y="0"/>
                  </a:lnTo>
                  <a:cubicBezTo>
                    <a:pt x="19854701" y="0"/>
                    <a:pt x="19933151" y="125552"/>
                    <a:pt x="19933151" y="280206"/>
                  </a:cubicBezTo>
                  <a:lnTo>
                    <a:pt x="19933151" y="3047151"/>
                  </a:lnTo>
                  <a:cubicBezTo>
                    <a:pt x="19933151" y="3201806"/>
                    <a:pt x="19854701" y="3327357"/>
                    <a:pt x="19758065" y="3327357"/>
                  </a:cubicBezTo>
                  <a:lnTo>
                    <a:pt x="175084" y="3327357"/>
                  </a:lnTo>
                  <a:cubicBezTo>
                    <a:pt x="78450" y="3327357"/>
                    <a:pt x="0" y="3202047"/>
                    <a:pt x="0" y="3047151"/>
                  </a:cubicBezTo>
                  <a:close/>
                </a:path>
              </a:pathLst>
            </a:custGeom>
            <a:solidFill>
              <a:srgbClr val="EEE8DD"/>
            </a:solidFill>
            <a:ln w="15240" cap="sq">
              <a:solidFill>
                <a:srgbClr val="D9CDB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884182" y="7990686"/>
            <a:ext cx="14519635" cy="1175168"/>
            <a:chOff x="0" y="0"/>
            <a:chExt cx="19359514" cy="15668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359518" cy="1566895"/>
            </a:xfrm>
            <a:custGeom>
              <a:avLst/>
              <a:gdLst/>
              <a:ahLst/>
              <a:cxnLst/>
              <a:rect r="r" b="b" t="t" l="l"/>
              <a:pathLst>
                <a:path h="1566895" w="19359518">
                  <a:moveTo>
                    <a:pt x="0" y="0"/>
                  </a:moveTo>
                  <a:lnTo>
                    <a:pt x="19359518" y="0"/>
                  </a:lnTo>
                  <a:lnTo>
                    <a:pt x="19359518" y="1566895"/>
                  </a:lnTo>
                  <a:lnTo>
                    <a:pt x="0" y="15668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98" r="18763" b="-1276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9359514" cy="1576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前一年（隱公十年）兩人已和齊侯在中丘會盟，並有共同對宋的軍事行動。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→ 伐許不是突然出現的合作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72349" y="950490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為什麼在「郲」會面？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3530" y="2186940"/>
            <a:ext cx="8286477" cy="7071360"/>
            <a:chOff x="0" y="0"/>
            <a:chExt cx="10899810" cy="9301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99770" cy="9301428"/>
            </a:xfrm>
            <a:custGeom>
              <a:avLst/>
              <a:gdLst/>
              <a:ahLst/>
              <a:cxnLst/>
              <a:rect r="r" b="b" t="t" l="l"/>
              <a:pathLst>
                <a:path h="9301428" w="10899770">
                  <a:moveTo>
                    <a:pt x="0" y="190772"/>
                  </a:moveTo>
                  <a:cubicBezTo>
                    <a:pt x="0" y="85393"/>
                    <a:pt x="69748" y="0"/>
                    <a:pt x="155819" y="0"/>
                  </a:cubicBezTo>
                  <a:lnTo>
                    <a:pt x="10743951" y="0"/>
                  </a:lnTo>
                  <a:cubicBezTo>
                    <a:pt x="10830023" y="0"/>
                    <a:pt x="10899770" y="85393"/>
                    <a:pt x="10899770" y="190772"/>
                  </a:cubicBezTo>
                  <a:lnTo>
                    <a:pt x="10899770" y="9110656"/>
                  </a:lnTo>
                  <a:cubicBezTo>
                    <a:pt x="10899770" y="9216035"/>
                    <a:pt x="10830023" y="9301428"/>
                    <a:pt x="10743951" y="9301428"/>
                  </a:cubicBezTo>
                  <a:lnTo>
                    <a:pt x="155819" y="9301428"/>
                  </a:lnTo>
                  <a:cubicBezTo>
                    <a:pt x="69748" y="9301428"/>
                    <a:pt x="0" y="9216034"/>
                    <a:pt x="0" y="9110656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8698" y="2393733"/>
            <a:ext cx="1667843" cy="830179"/>
            <a:chOff x="0" y="0"/>
            <a:chExt cx="2193836" cy="10919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3840" cy="1091999"/>
            </a:xfrm>
            <a:custGeom>
              <a:avLst/>
              <a:gdLst/>
              <a:ahLst/>
              <a:cxnLst/>
              <a:rect r="r" b="b" t="t" l="l"/>
              <a:pathLst>
                <a:path h="1091999" w="2193840">
                  <a:moveTo>
                    <a:pt x="0" y="0"/>
                  </a:moveTo>
                  <a:lnTo>
                    <a:pt x="2193840" y="0"/>
                  </a:lnTo>
                  <a:lnTo>
                    <a:pt x="2193840" y="1091999"/>
                  </a:lnTo>
                  <a:lnTo>
                    <a:pt x="0" y="1091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71" r="0" b="3157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3836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杜預注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8698" y="3366788"/>
            <a:ext cx="129880" cy="1617637"/>
            <a:chOff x="0" y="0"/>
            <a:chExt cx="170840" cy="21277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815" cy="2127758"/>
            </a:xfrm>
            <a:custGeom>
              <a:avLst/>
              <a:gdLst/>
              <a:ahLst/>
              <a:cxnLst/>
              <a:rect r="r" b="b" t="t" l="l"/>
              <a:pathLst>
                <a:path h="212775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2127758"/>
                  </a:lnTo>
                  <a:lnTo>
                    <a:pt x="0" y="212775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13799" y="3390124"/>
            <a:ext cx="7401565" cy="1477068"/>
            <a:chOff x="0" y="0"/>
            <a:chExt cx="9735820" cy="1942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35824" cy="1942891"/>
            </a:xfrm>
            <a:custGeom>
              <a:avLst/>
              <a:gdLst/>
              <a:ahLst/>
              <a:cxnLst/>
              <a:rect r="r" b="b" t="t" l="l"/>
              <a:pathLst>
                <a:path h="1942891" w="9735824">
                  <a:moveTo>
                    <a:pt x="0" y="0"/>
                  </a:moveTo>
                  <a:lnTo>
                    <a:pt x="9735824" y="0"/>
                  </a:lnTo>
                  <a:lnTo>
                    <a:pt x="9735824" y="1942891"/>
                  </a:lnTo>
                  <a:lnTo>
                    <a:pt x="0" y="1942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23" r="13599" b="-299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735820" cy="195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「時來，郲也。滎陽縣東有釐城，鄭地也。」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17103" y="4754180"/>
            <a:ext cx="6394958" cy="830179"/>
            <a:chOff x="0" y="0"/>
            <a:chExt cx="8411756" cy="10919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1760" cy="1091994"/>
            </a:xfrm>
            <a:custGeom>
              <a:avLst/>
              <a:gdLst/>
              <a:ahLst/>
              <a:cxnLst/>
              <a:rect r="r" b="b" t="t" l="l"/>
              <a:pathLst>
                <a:path h="1091994" w="8411760">
                  <a:moveTo>
                    <a:pt x="0" y="0"/>
                  </a:moveTo>
                  <a:lnTo>
                    <a:pt x="8411760" y="0"/>
                  </a:lnTo>
                  <a:lnTo>
                    <a:pt x="8411760" y="1091994"/>
                  </a:lnTo>
                  <a:lnTo>
                    <a:pt x="0" y="10919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062" r="0" b="-651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411756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039"/>
                </a:lnSpc>
              </a:pPr>
              <a:r>
                <a:rPr lang="en-US" sz="4199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《春秋左傳正義》卷3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8698" y="5722620"/>
            <a:ext cx="7004192" cy="3417734"/>
            <a:chOff x="0" y="0"/>
            <a:chExt cx="9213126" cy="44955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13131" cy="4495600"/>
            </a:xfrm>
            <a:custGeom>
              <a:avLst/>
              <a:gdLst/>
              <a:ahLst/>
              <a:cxnLst/>
              <a:rect r="r" b="b" t="t" l="l"/>
              <a:pathLst>
                <a:path h="4495600" w="9213131">
                  <a:moveTo>
                    <a:pt x="0" y="0"/>
                  </a:moveTo>
                  <a:lnTo>
                    <a:pt x="9213131" y="0"/>
                  </a:lnTo>
                  <a:lnTo>
                    <a:pt x="9213131" y="4495600"/>
                  </a:lnTo>
                  <a:lnTo>
                    <a:pt x="0" y="449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19" r="2743" b="357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213126" cy="4505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60091" indent="-380045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郲是鄭地，不是魯地。</a:t>
              </a:r>
            </a:p>
            <a:p>
              <a:pPr algn="l" marL="760091" indent="-380045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因此這次會面發生在鄭國的政治空間內。</a:t>
              </a:r>
            </a:p>
            <a:p>
              <a:pPr algn="l" marL="760091" indent="-380045" lvl="1">
                <a:lnSpc>
                  <a:spcPts val="5039"/>
                </a:lnSpc>
                <a:buFont typeface="Arial"/>
                <a:buChar char="•"/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可以合理推測鄭方在伐許議題上具有強烈主動性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55176" y="2936959"/>
            <a:ext cx="7217841" cy="707445"/>
            <a:chOff x="0" y="0"/>
            <a:chExt cx="8594636" cy="842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94640" cy="842393"/>
            </a:xfrm>
            <a:custGeom>
              <a:avLst/>
              <a:gdLst/>
              <a:ahLst/>
              <a:cxnLst/>
              <a:rect r="r" b="b" t="t" l="l"/>
              <a:pathLst>
                <a:path h="842393" w="8594640">
                  <a:moveTo>
                    <a:pt x="0" y="0"/>
                  </a:moveTo>
                  <a:lnTo>
                    <a:pt x="8594640" y="0"/>
                  </a:lnTo>
                  <a:lnTo>
                    <a:pt x="8594640" y="842393"/>
                  </a:lnTo>
                  <a:lnTo>
                    <a:pt x="0" y="8423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850" r="0" b="-13674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594636" cy="8519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非精確地圖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18502" y="4725266"/>
            <a:ext cx="1895702" cy="1409088"/>
            <a:chOff x="0" y="0"/>
            <a:chExt cx="2493556" cy="18534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93518" cy="1853438"/>
            </a:xfrm>
            <a:custGeom>
              <a:avLst/>
              <a:gdLst/>
              <a:ahLst/>
              <a:cxnLst/>
              <a:rect r="r" b="b" t="t" l="l"/>
              <a:pathLst>
                <a:path h="1853438" w="2493518">
                  <a:moveTo>
                    <a:pt x="0" y="926719"/>
                  </a:moveTo>
                  <a:cubicBezTo>
                    <a:pt x="0" y="414909"/>
                    <a:pt x="558165" y="0"/>
                    <a:pt x="1246759" y="0"/>
                  </a:cubicBezTo>
                  <a:cubicBezTo>
                    <a:pt x="1935353" y="0"/>
                    <a:pt x="2493518" y="414909"/>
                    <a:pt x="2493518" y="926719"/>
                  </a:cubicBezTo>
                  <a:cubicBezTo>
                    <a:pt x="2493518" y="1438529"/>
                    <a:pt x="1935353" y="1853438"/>
                    <a:pt x="1246759" y="1853438"/>
                  </a:cubicBezTo>
                  <a:cubicBezTo>
                    <a:pt x="558165" y="1853438"/>
                    <a:pt x="0" y="1438529"/>
                    <a:pt x="0" y="926719"/>
                  </a:cubicBezTo>
                  <a:close/>
                </a:path>
              </a:pathLst>
            </a:custGeom>
            <a:solidFill>
              <a:srgbClr val="D8E5DE"/>
            </a:solidFill>
            <a:ln w="19050" cap="sq">
              <a:solidFill>
                <a:srgbClr val="647A7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512369" y="5076088"/>
            <a:ext cx="972679" cy="707445"/>
            <a:chOff x="0" y="0"/>
            <a:chExt cx="1279436" cy="9305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9440" cy="930558"/>
            </a:xfrm>
            <a:custGeom>
              <a:avLst/>
              <a:gdLst/>
              <a:ahLst/>
              <a:cxnLst/>
              <a:rect r="r" b="b" t="t" l="l"/>
              <a:pathLst>
                <a:path h="930558" w="1279440">
                  <a:moveTo>
                    <a:pt x="0" y="0"/>
                  </a:moveTo>
                  <a:lnTo>
                    <a:pt x="1279440" y="0"/>
                  </a:lnTo>
                  <a:lnTo>
                    <a:pt x="1279440" y="930558"/>
                  </a:lnTo>
                  <a:lnTo>
                    <a:pt x="0" y="9305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45" t="0" r="-4945" b="4111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279436" cy="940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魯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32698" y="3667000"/>
            <a:ext cx="1895702" cy="1409088"/>
            <a:chOff x="0" y="0"/>
            <a:chExt cx="2493556" cy="18534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3518" cy="1853438"/>
            </a:xfrm>
            <a:custGeom>
              <a:avLst/>
              <a:gdLst/>
              <a:ahLst/>
              <a:cxnLst/>
              <a:rect r="r" b="b" t="t" l="l"/>
              <a:pathLst>
                <a:path h="1853438" w="2493518">
                  <a:moveTo>
                    <a:pt x="0" y="926719"/>
                  </a:moveTo>
                  <a:cubicBezTo>
                    <a:pt x="0" y="414909"/>
                    <a:pt x="558165" y="0"/>
                    <a:pt x="1246759" y="0"/>
                  </a:cubicBezTo>
                  <a:cubicBezTo>
                    <a:pt x="1935353" y="0"/>
                    <a:pt x="2493518" y="414909"/>
                    <a:pt x="2493518" y="926719"/>
                  </a:cubicBezTo>
                  <a:cubicBezTo>
                    <a:pt x="2493518" y="1438529"/>
                    <a:pt x="1935353" y="1853438"/>
                    <a:pt x="1246759" y="1853438"/>
                  </a:cubicBezTo>
                  <a:cubicBezTo>
                    <a:pt x="558165" y="1853438"/>
                    <a:pt x="0" y="1438529"/>
                    <a:pt x="0" y="926719"/>
                  </a:cubicBezTo>
                  <a:close/>
                </a:path>
              </a:pathLst>
            </a:custGeom>
            <a:solidFill>
              <a:srgbClr val="EEDCD5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628579" y="3390124"/>
            <a:ext cx="1763013" cy="1808121"/>
            <a:chOff x="0" y="0"/>
            <a:chExt cx="2319020" cy="23783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19024" cy="2378343"/>
            </a:xfrm>
            <a:custGeom>
              <a:avLst/>
              <a:gdLst/>
              <a:ahLst/>
              <a:cxnLst/>
              <a:rect r="r" b="b" t="t" l="l"/>
              <a:pathLst>
                <a:path h="2378343" w="2319024">
                  <a:moveTo>
                    <a:pt x="0" y="0"/>
                  </a:moveTo>
                  <a:lnTo>
                    <a:pt x="2319024" y="0"/>
                  </a:lnTo>
                  <a:lnTo>
                    <a:pt x="2319024" y="2378343"/>
                  </a:lnTo>
                  <a:lnTo>
                    <a:pt x="0" y="23783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134" t="0" r="7922" b="569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319020" cy="2387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郲</a:t>
              </a:r>
            </a:p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（鄭地）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718190" y="6308623"/>
            <a:ext cx="1895702" cy="1409088"/>
            <a:chOff x="0" y="0"/>
            <a:chExt cx="2493556" cy="18534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93518" cy="1853438"/>
            </a:xfrm>
            <a:custGeom>
              <a:avLst/>
              <a:gdLst/>
              <a:ahLst/>
              <a:cxnLst/>
              <a:rect r="r" b="b" t="t" l="l"/>
              <a:pathLst>
                <a:path h="1853438" w="2493518">
                  <a:moveTo>
                    <a:pt x="0" y="926719"/>
                  </a:moveTo>
                  <a:cubicBezTo>
                    <a:pt x="0" y="414909"/>
                    <a:pt x="558165" y="0"/>
                    <a:pt x="1246759" y="0"/>
                  </a:cubicBezTo>
                  <a:cubicBezTo>
                    <a:pt x="1935353" y="0"/>
                    <a:pt x="2493518" y="414909"/>
                    <a:pt x="2493518" y="926719"/>
                  </a:cubicBezTo>
                  <a:cubicBezTo>
                    <a:pt x="2493518" y="1438529"/>
                    <a:pt x="1935353" y="1853438"/>
                    <a:pt x="1246759" y="1853438"/>
                  </a:cubicBezTo>
                  <a:cubicBezTo>
                    <a:pt x="558165" y="1853438"/>
                    <a:pt x="0" y="1438529"/>
                    <a:pt x="0" y="926719"/>
                  </a:cubicBezTo>
                  <a:close/>
                </a:path>
              </a:pathLst>
            </a:custGeom>
            <a:solidFill>
              <a:srgbClr val="E8E0CF"/>
            </a:solidFill>
            <a:ln w="19050" cap="sq">
              <a:solidFill>
                <a:srgbClr val="A78343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179702" y="6724042"/>
            <a:ext cx="972679" cy="707445"/>
            <a:chOff x="0" y="0"/>
            <a:chExt cx="1279436" cy="9305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9440" cy="930558"/>
            </a:xfrm>
            <a:custGeom>
              <a:avLst/>
              <a:gdLst/>
              <a:ahLst/>
              <a:cxnLst/>
              <a:rect r="r" b="b" t="t" l="l"/>
              <a:pathLst>
                <a:path h="930558" w="1279440">
                  <a:moveTo>
                    <a:pt x="0" y="0"/>
                  </a:moveTo>
                  <a:lnTo>
                    <a:pt x="1279440" y="0"/>
                  </a:lnTo>
                  <a:lnTo>
                    <a:pt x="1279440" y="930558"/>
                  </a:lnTo>
                  <a:lnTo>
                    <a:pt x="0" y="9305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45" t="0" r="-4945" b="411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279436" cy="940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許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11788849" y="4627910"/>
            <a:ext cx="908561" cy="527901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14152395" y="4908645"/>
            <a:ext cx="1282181" cy="1421132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11956294" y="4930847"/>
            <a:ext cx="2543808" cy="1257783"/>
            <a:chOff x="0" y="0"/>
            <a:chExt cx="3346057" cy="16544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46061" cy="1654453"/>
            </a:xfrm>
            <a:custGeom>
              <a:avLst/>
              <a:gdLst/>
              <a:ahLst/>
              <a:cxnLst/>
              <a:rect r="r" b="b" t="t" l="l"/>
              <a:pathLst>
                <a:path h="1654453" w="3346061">
                  <a:moveTo>
                    <a:pt x="0" y="0"/>
                  </a:moveTo>
                  <a:lnTo>
                    <a:pt x="3346061" y="0"/>
                  </a:lnTo>
                  <a:lnTo>
                    <a:pt x="3346061" y="1654453"/>
                  </a:lnTo>
                  <a:lnTo>
                    <a:pt x="0" y="16544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42" r="28969" b="5655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346057" cy="16639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魯君赴會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996942" y="5076088"/>
            <a:ext cx="1945909" cy="707445"/>
            <a:chOff x="0" y="0"/>
            <a:chExt cx="2559596" cy="9305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59600" cy="930553"/>
            </a:xfrm>
            <a:custGeom>
              <a:avLst/>
              <a:gdLst/>
              <a:ahLst/>
              <a:cxnLst/>
              <a:rect r="r" b="b" t="t" l="l"/>
              <a:pathLst>
                <a:path h="930553" w="2559600">
                  <a:moveTo>
                    <a:pt x="0" y="0"/>
                  </a:moveTo>
                  <a:lnTo>
                    <a:pt x="2559600" y="0"/>
                  </a:lnTo>
                  <a:lnTo>
                    <a:pt x="2559600" y="930553"/>
                  </a:lnTo>
                  <a:lnTo>
                    <a:pt x="0" y="9305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28" r="0" b="1893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559596" cy="940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謀伐方向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671" y="1577228"/>
            <a:ext cx="16458657" cy="968107"/>
            <a:chOff x="0" y="0"/>
            <a:chExt cx="21944876" cy="1290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90814"/>
            </a:xfrm>
            <a:custGeom>
              <a:avLst/>
              <a:gdLst/>
              <a:ahLst/>
              <a:cxnLst/>
              <a:rect r="r" b="b" t="t" l="l"/>
              <a:pathLst>
                <a:path h="129081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90814"/>
                  </a:lnTo>
                  <a:lnTo>
                    <a:pt x="0" y="12908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28" r="0" b="-2701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1944876" cy="1281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79"/>
                </a:lnSpc>
              </a:pPr>
              <a:r>
                <a:rPr lang="en-US" sz="48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「謀」代表了?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9582" y="3135885"/>
            <a:ext cx="7131777" cy="818997"/>
            <a:chOff x="0" y="0"/>
            <a:chExt cx="9509036" cy="10919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040" cy="1091999"/>
            </a:xfrm>
            <a:custGeom>
              <a:avLst/>
              <a:gdLst/>
              <a:ahLst/>
              <a:cxnLst/>
              <a:rect r="r" b="b" t="t" l="l"/>
              <a:pathLst>
                <a:path h="1091999" w="9509040">
                  <a:moveTo>
                    <a:pt x="0" y="0"/>
                  </a:moveTo>
                  <a:lnTo>
                    <a:pt x="9509040" y="0"/>
                  </a:lnTo>
                  <a:lnTo>
                    <a:pt x="9509040" y="1091999"/>
                  </a:lnTo>
                  <a:lnTo>
                    <a:pt x="0" y="1091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652" r="0" b="-11569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09036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「謀」＝籌畫、計議、商議。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9582" y="4798083"/>
            <a:ext cx="7474677" cy="3371697"/>
            <a:chOff x="0" y="0"/>
            <a:chExt cx="9966236" cy="44955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66240" cy="4495599"/>
            </a:xfrm>
            <a:custGeom>
              <a:avLst/>
              <a:gdLst/>
              <a:ahLst/>
              <a:cxnLst/>
              <a:rect r="r" b="b" t="t" l="l"/>
              <a:pathLst>
                <a:path h="4495599" w="9966240">
                  <a:moveTo>
                    <a:pt x="0" y="0"/>
                  </a:moveTo>
                  <a:lnTo>
                    <a:pt x="9966240" y="0"/>
                  </a:lnTo>
                  <a:lnTo>
                    <a:pt x="9966240" y="4495599"/>
                  </a:lnTo>
                  <a:lnTo>
                    <a:pt x="0" y="4495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1" r="0" b="2731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966236" cy="4505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在《左傳》的敘事中，戰爭常先有「會／謀」，再有出師與戰事。這裡的「謀」讓魯隱公成為事前參與者，而不是事後被動跟隨。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43917" y="4651398"/>
            <a:ext cx="1143333" cy="1143333"/>
            <a:chOff x="0" y="0"/>
            <a:chExt cx="1524444" cy="1524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508" cy="1524508"/>
            </a:xfrm>
            <a:custGeom>
              <a:avLst/>
              <a:gdLst/>
              <a:ahLst/>
              <a:cxnLst/>
              <a:rect r="r" b="b" t="t" l="l"/>
              <a:pathLst>
                <a:path h="1524508" w="1524508">
                  <a:moveTo>
                    <a:pt x="0" y="762254"/>
                  </a:moveTo>
                  <a:cubicBezTo>
                    <a:pt x="0" y="341249"/>
                    <a:pt x="341249" y="0"/>
                    <a:pt x="762254" y="0"/>
                  </a:cubicBezTo>
                  <a:cubicBezTo>
                    <a:pt x="1183259" y="0"/>
                    <a:pt x="1524508" y="341249"/>
                    <a:pt x="1524508" y="762254"/>
                  </a:cubicBezTo>
                  <a:cubicBezTo>
                    <a:pt x="1524508" y="1183259"/>
                    <a:pt x="1183259" y="1524508"/>
                    <a:pt x="762254" y="1524508"/>
                  </a:cubicBezTo>
                  <a:cubicBezTo>
                    <a:pt x="341249" y="1524508"/>
                    <a:pt x="0" y="1183132"/>
                    <a:pt x="0" y="762254"/>
                  </a:cubicBezTo>
                  <a:close/>
                </a:path>
              </a:pathLst>
            </a:custGeom>
            <a:solidFill>
              <a:srgbClr val="647A7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388364" y="4798083"/>
            <a:ext cx="849963" cy="818997"/>
            <a:chOff x="0" y="0"/>
            <a:chExt cx="1133284" cy="1091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280" cy="1091995"/>
            </a:xfrm>
            <a:custGeom>
              <a:avLst/>
              <a:gdLst/>
              <a:ahLst/>
              <a:cxnLst/>
              <a:rect r="r" b="b" t="t" l="l"/>
              <a:pathLst>
                <a:path h="1091995" w="1133280">
                  <a:moveTo>
                    <a:pt x="0" y="0"/>
                  </a:moveTo>
                  <a:lnTo>
                    <a:pt x="1133280" y="0"/>
                  </a:lnTo>
                  <a:lnTo>
                    <a:pt x="1133280" y="1091995"/>
                  </a:lnTo>
                  <a:lnTo>
                    <a:pt x="0" y="1091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" r="0" b="597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133284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會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09777" y="4980801"/>
            <a:ext cx="498567" cy="457533"/>
            <a:chOff x="0" y="0"/>
            <a:chExt cx="664756" cy="6100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4718" cy="609981"/>
            </a:xfrm>
            <a:custGeom>
              <a:avLst/>
              <a:gdLst/>
              <a:ahLst/>
              <a:cxnLst/>
              <a:rect r="r" b="b" t="t" l="l"/>
              <a:pathLst>
                <a:path h="609981" w="664718">
                  <a:moveTo>
                    <a:pt x="0" y="0"/>
                  </a:moveTo>
                  <a:lnTo>
                    <a:pt x="359791" y="0"/>
                  </a:lnTo>
                  <a:lnTo>
                    <a:pt x="664718" y="305054"/>
                  </a:lnTo>
                  <a:lnTo>
                    <a:pt x="359791" y="609981"/>
                  </a:lnTo>
                  <a:lnTo>
                    <a:pt x="0" y="609981"/>
                  </a:lnTo>
                  <a:lnTo>
                    <a:pt x="305054" y="305054"/>
                  </a:lnTo>
                  <a:close/>
                </a:path>
              </a:pathLst>
            </a:custGeom>
            <a:solidFill>
              <a:srgbClr val="C7C0B5"/>
            </a:solidFill>
            <a:ln w="19050" cap="sq">
              <a:solidFill>
                <a:srgbClr val="C7C0B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75239" y="6032523"/>
            <a:ext cx="1508217" cy="1457172"/>
            <a:chOff x="0" y="0"/>
            <a:chExt cx="2010956" cy="19428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0960" cy="1942899"/>
            </a:xfrm>
            <a:custGeom>
              <a:avLst/>
              <a:gdLst/>
              <a:ahLst/>
              <a:cxnLst/>
              <a:rect r="r" b="b" t="t" l="l"/>
              <a:pathLst>
                <a:path h="1942899" w="2010960">
                  <a:moveTo>
                    <a:pt x="0" y="0"/>
                  </a:moveTo>
                  <a:lnTo>
                    <a:pt x="2010960" y="0"/>
                  </a:lnTo>
                  <a:lnTo>
                    <a:pt x="2010960" y="1942899"/>
                  </a:lnTo>
                  <a:lnTo>
                    <a:pt x="0" y="1942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4" t="0" r="-8294" b="529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010956" cy="195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國君會面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62300" y="4651398"/>
            <a:ext cx="1143333" cy="1143333"/>
            <a:chOff x="0" y="0"/>
            <a:chExt cx="1524444" cy="15244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508" cy="1524508"/>
            </a:xfrm>
            <a:custGeom>
              <a:avLst/>
              <a:gdLst/>
              <a:ahLst/>
              <a:cxnLst/>
              <a:rect r="r" b="b" t="t" l="l"/>
              <a:pathLst>
                <a:path h="1524508" w="1524508">
                  <a:moveTo>
                    <a:pt x="0" y="762254"/>
                  </a:moveTo>
                  <a:cubicBezTo>
                    <a:pt x="0" y="341249"/>
                    <a:pt x="341249" y="0"/>
                    <a:pt x="762254" y="0"/>
                  </a:cubicBezTo>
                  <a:cubicBezTo>
                    <a:pt x="1183259" y="0"/>
                    <a:pt x="1524508" y="341249"/>
                    <a:pt x="1524508" y="762254"/>
                  </a:cubicBezTo>
                  <a:cubicBezTo>
                    <a:pt x="1524508" y="1183259"/>
                    <a:pt x="1183259" y="1524508"/>
                    <a:pt x="762254" y="1524508"/>
                  </a:cubicBezTo>
                  <a:cubicBezTo>
                    <a:pt x="341249" y="1524508"/>
                    <a:pt x="0" y="1183132"/>
                    <a:pt x="0" y="762254"/>
                  </a:cubicBez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006747" y="4811580"/>
            <a:ext cx="849963" cy="818997"/>
            <a:chOff x="0" y="0"/>
            <a:chExt cx="1133284" cy="10919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280" cy="1091995"/>
            </a:xfrm>
            <a:custGeom>
              <a:avLst/>
              <a:gdLst/>
              <a:ahLst/>
              <a:cxnLst/>
              <a:rect r="r" b="b" t="t" l="l"/>
              <a:pathLst>
                <a:path h="1091995" w="1133280">
                  <a:moveTo>
                    <a:pt x="0" y="0"/>
                  </a:moveTo>
                  <a:lnTo>
                    <a:pt x="1133280" y="0"/>
                  </a:lnTo>
                  <a:lnTo>
                    <a:pt x="1133280" y="1091995"/>
                  </a:lnTo>
                  <a:lnTo>
                    <a:pt x="0" y="1091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" r="0" b="597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133284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謀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28160" y="4980801"/>
            <a:ext cx="498567" cy="457533"/>
            <a:chOff x="0" y="0"/>
            <a:chExt cx="664756" cy="6100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4718" cy="609981"/>
            </a:xfrm>
            <a:custGeom>
              <a:avLst/>
              <a:gdLst/>
              <a:ahLst/>
              <a:cxnLst/>
              <a:rect r="r" b="b" t="t" l="l"/>
              <a:pathLst>
                <a:path h="609981" w="664718">
                  <a:moveTo>
                    <a:pt x="0" y="0"/>
                  </a:moveTo>
                  <a:lnTo>
                    <a:pt x="359791" y="0"/>
                  </a:lnTo>
                  <a:lnTo>
                    <a:pt x="664718" y="305054"/>
                  </a:lnTo>
                  <a:lnTo>
                    <a:pt x="359791" y="609981"/>
                  </a:lnTo>
                  <a:lnTo>
                    <a:pt x="0" y="609981"/>
                  </a:lnTo>
                  <a:lnTo>
                    <a:pt x="305054" y="305054"/>
                  </a:lnTo>
                  <a:close/>
                </a:path>
              </a:pathLst>
            </a:custGeom>
            <a:solidFill>
              <a:srgbClr val="C7C0B5"/>
            </a:solidFill>
            <a:ln w="19050" cap="sq">
              <a:solidFill>
                <a:srgbClr val="C7C0B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693622" y="6032523"/>
            <a:ext cx="1508217" cy="1457172"/>
            <a:chOff x="0" y="0"/>
            <a:chExt cx="2010956" cy="194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0960" cy="1942899"/>
            </a:xfrm>
            <a:custGeom>
              <a:avLst/>
              <a:gdLst/>
              <a:ahLst/>
              <a:cxnLst/>
              <a:rect r="r" b="b" t="t" l="l"/>
              <a:pathLst>
                <a:path h="1942899" w="2010960">
                  <a:moveTo>
                    <a:pt x="0" y="0"/>
                  </a:moveTo>
                  <a:lnTo>
                    <a:pt x="2010960" y="0"/>
                  </a:lnTo>
                  <a:lnTo>
                    <a:pt x="2010960" y="1942899"/>
                  </a:lnTo>
                  <a:lnTo>
                    <a:pt x="0" y="1942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4" t="0" r="-8294" b="529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010956" cy="195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商議目標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80674" y="4651398"/>
            <a:ext cx="1143333" cy="1143333"/>
            <a:chOff x="0" y="0"/>
            <a:chExt cx="1524444" cy="15244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508" cy="1524508"/>
            </a:xfrm>
            <a:custGeom>
              <a:avLst/>
              <a:gdLst/>
              <a:ahLst/>
              <a:cxnLst/>
              <a:rect r="r" b="b" t="t" l="l"/>
              <a:pathLst>
                <a:path h="1524508" w="1524508">
                  <a:moveTo>
                    <a:pt x="0" y="762254"/>
                  </a:moveTo>
                  <a:cubicBezTo>
                    <a:pt x="0" y="341249"/>
                    <a:pt x="341249" y="0"/>
                    <a:pt x="762254" y="0"/>
                  </a:cubicBezTo>
                  <a:cubicBezTo>
                    <a:pt x="1183259" y="0"/>
                    <a:pt x="1524508" y="341249"/>
                    <a:pt x="1524508" y="762254"/>
                  </a:cubicBezTo>
                  <a:cubicBezTo>
                    <a:pt x="1524508" y="1183259"/>
                    <a:pt x="1183259" y="1524508"/>
                    <a:pt x="762254" y="1524508"/>
                  </a:cubicBezTo>
                  <a:cubicBezTo>
                    <a:pt x="341249" y="1524508"/>
                    <a:pt x="0" y="1183132"/>
                    <a:pt x="0" y="762254"/>
                  </a:cubicBezTo>
                  <a:close/>
                </a:path>
              </a:pathLst>
            </a:custGeom>
            <a:solidFill>
              <a:srgbClr val="647A7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641132" y="4811580"/>
            <a:ext cx="849963" cy="819019"/>
            <a:chOff x="0" y="0"/>
            <a:chExt cx="1133284" cy="10920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3280" cy="1092025"/>
            </a:xfrm>
            <a:custGeom>
              <a:avLst/>
              <a:gdLst/>
              <a:ahLst/>
              <a:cxnLst/>
              <a:rect r="r" b="b" t="t" l="l"/>
              <a:pathLst>
                <a:path h="1092025" w="1133280">
                  <a:moveTo>
                    <a:pt x="0" y="0"/>
                  </a:moveTo>
                  <a:lnTo>
                    <a:pt x="1133280" y="0"/>
                  </a:lnTo>
                  <a:lnTo>
                    <a:pt x="1133280" y="1092025"/>
                  </a:lnTo>
                  <a:lnTo>
                    <a:pt x="0" y="10920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" r="0" b="597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133284" cy="110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授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646534" y="4980801"/>
            <a:ext cx="498567" cy="457533"/>
            <a:chOff x="0" y="0"/>
            <a:chExt cx="664756" cy="6100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4718" cy="609981"/>
            </a:xfrm>
            <a:custGeom>
              <a:avLst/>
              <a:gdLst/>
              <a:ahLst/>
              <a:cxnLst/>
              <a:rect r="r" b="b" t="t" l="l"/>
              <a:pathLst>
                <a:path h="609981" w="664718">
                  <a:moveTo>
                    <a:pt x="0" y="0"/>
                  </a:moveTo>
                  <a:lnTo>
                    <a:pt x="359791" y="0"/>
                  </a:lnTo>
                  <a:lnTo>
                    <a:pt x="664718" y="305054"/>
                  </a:lnTo>
                  <a:lnTo>
                    <a:pt x="359791" y="609981"/>
                  </a:lnTo>
                  <a:lnTo>
                    <a:pt x="0" y="609981"/>
                  </a:lnTo>
                  <a:lnTo>
                    <a:pt x="305054" y="305054"/>
                  </a:lnTo>
                  <a:close/>
                </a:path>
              </a:pathLst>
            </a:custGeom>
            <a:solidFill>
              <a:srgbClr val="C7C0B5"/>
            </a:solidFill>
            <a:ln w="19050" cap="sq">
              <a:solidFill>
                <a:srgbClr val="C7C0B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12005" y="6032523"/>
            <a:ext cx="1508217" cy="1457172"/>
            <a:chOff x="0" y="0"/>
            <a:chExt cx="2010956" cy="19428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0960" cy="1942899"/>
            </a:xfrm>
            <a:custGeom>
              <a:avLst/>
              <a:gdLst/>
              <a:ahLst/>
              <a:cxnLst/>
              <a:rect r="r" b="b" t="t" l="l"/>
              <a:pathLst>
                <a:path h="1942899" w="2010960">
                  <a:moveTo>
                    <a:pt x="0" y="0"/>
                  </a:moveTo>
                  <a:lnTo>
                    <a:pt x="2010960" y="0"/>
                  </a:lnTo>
                  <a:lnTo>
                    <a:pt x="2010960" y="1942899"/>
                  </a:lnTo>
                  <a:lnTo>
                    <a:pt x="0" y="1942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4" t="0" r="-8294" b="5297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010956" cy="195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國內動員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099600" y="4651398"/>
            <a:ext cx="1143333" cy="1143333"/>
            <a:chOff x="0" y="0"/>
            <a:chExt cx="1524444" cy="1524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24508" cy="1524508"/>
            </a:xfrm>
            <a:custGeom>
              <a:avLst/>
              <a:gdLst/>
              <a:ahLst/>
              <a:cxnLst/>
              <a:rect r="r" b="b" t="t" l="l"/>
              <a:pathLst>
                <a:path h="1524508" w="1524508">
                  <a:moveTo>
                    <a:pt x="0" y="762254"/>
                  </a:moveTo>
                  <a:cubicBezTo>
                    <a:pt x="0" y="341249"/>
                    <a:pt x="341249" y="0"/>
                    <a:pt x="762254" y="0"/>
                  </a:cubicBezTo>
                  <a:cubicBezTo>
                    <a:pt x="1183259" y="0"/>
                    <a:pt x="1524508" y="341249"/>
                    <a:pt x="1524508" y="762254"/>
                  </a:cubicBezTo>
                  <a:cubicBezTo>
                    <a:pt x="1524508" y="1183259"/>
                    <a:pt x="1183259" y="1524508"/>
                    <a:pt x="762254" y="1524508"/>
                  </a:cubicBezTo>
                  <a:cubicBezTo>
                    <a:pt x="341249" y="1524508"/>
                    <a:pt x="0" y="1183132"/>
                    <a:pt x="0" y="762254"/>
                  </a:cubicBezTo>
                  <a:close/>
                </a:path>
              </a:pathLst>
            </a:custGeom>
            <a:solidFill>
              <a:srgbClr val="647A7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240351" y="4811580"/>
            <a:ext cx="849963" cy="818997"/>
            <a:chOff x="0" y="0"/>
            <a:chExt cx="1133284" cy="10919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33280" cy="1091995"/>
            </a:xfrm>
            <a:custGeom>
              <a:avLst/>
              <a:gdLst/>
              <a:ahLst/>
              <a:cxnLst/>
              <a:rect r="r" b="b" t="t" l="l"/>
              <a:pathLst>
                <a:path h="1091995" w="1133280">
                  <a:moveTo>
                    <a:pt x="0" y="0"/>
                  </a:moveTo>
                  <a:lnTo>
                    <a:pt x="1133280" y="0"/>
                  </a:lnTo>
                  <a:lnTo>
                    <a:pt x="1133280" y="1091995"/>
                  </a:lnTo>
                  <a:lnTo>
                    <a:pt x="0" y="1091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" r="0" b="59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133284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伐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265460" y="4980801"/>
            <a:ext cx="498567" cy="457533"/>
            <a:chOff x="0" y="0"/>
            <a:chExt cx="664756" cy="6100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4718" cy="609981"/>
            </a:xfrm>
            <a:custGeom>
              <a:avLst/>
              <a:gdLst/>
              <a:ahLst/>
              <a:cxnLst/>
              <a:rect r="r" b="b" t="t" l="l"/>
              <a:pathLst>
                <a:path h="609981" w="664718">
                  <a:moveTo>
                    <a:pt x="0" y="0"/>
                  </a:moveTo>
                  <a:lnTo>
                    <a:pt x="359791" y="0"/>
                  </a:lnTo>
                  <a:lnTo>
                    <a:pt x="664718" y="305054"/>
                  </a:lnTo>
                  <a:lnTo>
                    <a:pt x="359791" y="609981"/>
                  </a:lnTo>
                  <a:lnTo>
                    <a:pt x="0" y="609981"/>
                  </a:lnTo>
                  <a:lnTo>
                    <a:pt x="305054" y="305054"/>
                  </a:lnTo>
                  <a:close/>
                </a:path>
              </a:pathLst>
            </a:custGeom>
            <a:solidFill>
              <a:srgbClr val="C7C0B5"/>
            </a:solidFill>
            <a:ln w="19050" cap="sq">
              <a:solidFill>
                <a:srgbClr val="C7C0B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930379" y="6032523"/>
            <a:ext cx="1508217" cy="1457172"/>
            <a:chOff x="0" y="0"/>
            <a:chExt cx="2010956" cy="1942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10960" cy="1942899"/>
            </a:xfrm>
            <a:custGeom>
              <a:avLst/>
              <a:gdLst/>
              <a:ahLst/>
              <a:cxnLst/>
              <a:rect r="r" b="b" t="t" l="l"/>
              <a:pathLst>
                <a:path h="1942899" w="2010960">
                  <a:moveTo>
                    <a:pt x="0" y="0"/>
                  </a:moveTo>
                  <a:lnTo>
                    <a:pt x="2010960" y="0"/>
                  </a:lnTo>
                  <a:lnTo>
                    <a:pt x="2010960" y="1942899"/>
                  </a:lnTo>
                  <a:lnTo>
                    <a:pt x="0" y="1942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4" t="0" r="-8294" b="5297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010956" cy="195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軍事執行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717974" y="4651398"/>
            <a:ext cx="1143333" cy="1143333"/>
            <a:chOff x="0" y="0"/>
            <a:chExt cx="1524444" cy="15244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24508" cy="1524508"/>
            </a:xfrm>
            <a:custGeom>
              <a:avLst/>
              <a:gdLst/>
              <a:ahLst/>
              <a:cxnLst/>
              <a:rect r="r" b="b" t="t" l="l"/>
              <a:pathLst>
                <a:path h="1524508" w="1524508">
                  <a:moveTo>
                    <a:pt x="0" y="762254"/>
                  </a:moveTo>
                  <a:cubicBezTo>
                    <a:pt x="0" y="341249"/>
                    <a:pt x="341249" y="0"/>
                    <a:pt x="762254" y="0"/>
                  </a:cubicBezTo>
                  <a:cubicBezTo>
                    <a:pt x="1183259" y="0"/>
                    <a:pt x="1524508" y="341249"/>
                    <a:pt x="1524508" y="762254"/>
                  </a:cubicBezTo>
                  <a:cubicBezTo>
                    <a:pt x="1524508" y="1183259"/>
                    <a:pt x="1183259" y="1524508"/>
                    <a:pt x="762254" y="1524508"/>
                  </a:cubicBezTo>
                  <a:cubicBezTo>
                    <a:pt x="341249" y="1524508"/>
                    <a:pt x="0" y="1183132"/>
                    <a:pt x="0" y="762254"/>
                  </a:cubicBezTo>
                  <a:close/>
                </a:path>
              </a:pathLst>
            </a:custGeom>
            <a:solidFill>
              <a:srgbClr val="647A7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5878327" y="4811580"/>
            <a:ext cx="849963" cy="818997"/>
            <a:chOff x="0" y="0"/>
            <a:chExt cx="1133284" cy="10919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33280" cy="1091995"/>
            </a:xfrm>
            <a:custGeom>
              <a:avLst/>
              <a:gdLst/>
              <a:ahLst/>
              <a:cxnLst/>
              <a:rect r="r" b="b" t="t" l="l"/>
              <a:pathLst>
                <a:path h="1091995" w="1133280">
                  <a:moveTo>
                    <a:pt x="0" y="0"/>
                  </a:moveTo>
                  <a:lnTo>
                    <a:pt x="1133280" y="0"/>
                  </a:lnTo>
                  <a:lnTo>
                    <a:pt x="1133280" y="1091995"/>
                  </a:lnTo>
                  <a:lnTo>
                    <a:pt x="0" y="1091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" r="0" b="5970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133284" cy="1101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入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549305" y="6032523"/>
            <a:ext cx="1508217" cy="1457172"/>
            <a:chOff x="0" y="0"/>
            <a:chExt cx="2010956" cy="19428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10960" cy="1942899"/>
            </a:xfrm>
            <a:custGeom>
              <a:avLst/>
              <a:gdLst/>
              <a:ahLst/>
              <a:cxnLst/>
              <a:rect r="r" b="b" t="t" l="l"/>
              <a:pathLst>
                <a:path h="1942899" w="2010960">
                  <a:moveTo>
                    <a:pt x="0" y="0"/>
                  </a:moveTo>
                  <a:lnTo>
                    <a:pt x="2010960" y="0"/>
                  </a:lnTo>
                  <a:lnTo>
                    <a:pt x="2010960" y="1942899"/>
                  </a:lnTo>
                  <a:lnTo>
                    <a:pt x="0" y="1942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94" t="0" r="-8294" b="5297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010956" cy="195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攻入許國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671" y="1654463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前一年，隱公十年已建立「魯—齊—鄭」合作模式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5860" y="3352162"/>
            <a:ext cx="4114257" cy="575640"/>
            <a:chOff x="0" y="0"/>
            <a:chExt cx="5485676" cy="767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5680" cy="767516"/>
            </a:xfrm>
            <a:custGeom>
              <a:avLst/>
              <a:gdLst/>
              <a:ahLst/>
              <a:cxnLst/>
              <a:rect r="r" b="b" t="t" l="l"/>
              <a:pathLst>
                <a:path h="767516" w="5485680">
                  <a:moveTo>
                    <a:pt x="0" y="0"/>
                  </a:moveTo>
                  <a:lnTo>
                    <a:pt x="5485680" y="0"/>
                  </a:lnTo>
                  <a:lnTo>
                    <a:pt x="5485680" y="767516"/>
                  </a:lnTo>
                  <a:lnTo>
                    <a:pt x="0" y="7675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265" r="0" b="-8926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485676" cy="77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隱公十年（前713）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3495" y="4097017"/>
            <a:ext cx="128130" cy="3584667"/>
            <a:chOff x="0" y="0"/>
            <a:chExt cx="170840" cy="4779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815" cy="4779518"/>
            </a:xfrm>
            <a:custGeom>
              <a:avLst/>
              <a:gdLst/>
              <a:ahLst/>
              <a:cxnLst/>
              <a:rect r="r" b="b" t="t" l="l"/>
              <a:pathLst>
                <a:path h="477951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4779518"/>
                  </a:lnTo>
                  <a:lnTo>
                    <a:pt x="0" y="477951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4134079"/>
            <a:ext cx="6720297" cy="3423627"/>
            <a:chOff x="0" y="0"/>
            <a:chExt cx="8960396" cy="45648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60400" cy="4564831"/>
            </a:xfrm>
            <a:custGeom>
              <a:avLst/>
              <a:gdLst/>
              <a:ahLst/>
              <a:cxnLst/>
              <a:rect r="r" b="b" t="t" l="l"/>
              <a:pathLst>
                <a:path h="4564831" w="8960400">
                  <a:moveTo>
                    <a:pt x="0" y="0"/>
                  </a:moveTo>
                  <a:lnTo>
                    <a:pt x="8960400" y="0"/>
                  </a:lnTo>
                  <a:lnTo>
                    <a:pt x="8960400" y="4564831"/>
                  </a:lnTo>
                  <a:lnTo>
                    <a:pt x="0" y="4564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63" t="0" r="-13363" b="30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960396" cy="457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「公會齊侯、鄭伯于中丘。」</a:t>
              </a:r>
            </a:p>
            <a:p>
              <a:pPr algn="l">
                <a:lnSpc>
                  <a:spcPts val="5159"/>
                </a:lnSpc>
              </a:pPr>
              <a:r>
                <a:rPr lang="en-US" sz="42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……</a:t>
              </a:r>
            </a:p>
            <a:p>
              <a:pPr algn="l">
                <a:lnSpc>
                  <a:spcPts val="5159"/>
                </a:lnSpc>
              </a:pPr>
              <a:r>
                <a:rPr lang="en-US" sz="42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「以王命討不庭，不貪其土以勞王爵，正之體也。」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64708" y="7972345"/>
            <a:ext cx="6720297" cy="832827"/>
            <a:chOff x="0" y="0"/>
            <a:chExt cx="8960396" cy="11104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60400" cy="1110434"/>
            </a:xfrm>
            <a:custGeom>
              <a:avLst/>
              <a:gdLst/>
              <a:ahLst/>
              <a:cxnLst/>
              <a:rect r="r" b="b" t="t" l="l"/>
              <a:pathLst>
                <a:path h="1110434" w="8960400">
                  <a:moveTo>
                    <a:pt x="0" y="0"/>
                  </a:moveTo>
                  <a:lnTo>
                    <a:pt x="8960400" y="0"/>
                  </a:lnTo>
                  <a:lnTo>
                    <a:pt x="8960400" y="1110434"/>
                  </a:lnTo>
                  <a:lnTo>
                    <a:pt x="0" y="11104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446" r="0" b="-720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960396" cy="1119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59"/>
                </a:lnSpc>
              </a:pPr>
              <a:r>
                <a:rPr lang="en-US" sz="4299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《左傳・隱公十年》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66217" y="4988557"/>
            <a:ext cx="1861185" cy="1115787"/>
            <a:chOff x="0" y="0"/>
            <a:chExt cx="2481580" cy="14877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1529" cy="1487678"/>
            </a:xfrm>
            <a:custGeom>
              <a:avLst/>
              <a:gdLst/>
              <a:ahLst/>
              <a:cxnLst/>
              <a:rect r="r" b="b" t="t" l="l"/>
              <a:pathLst>
                <a:path h="1487678" w="2481529">
                  <a:moveTo>
                    <a:pt x="0" y="0"/>
                  </a:moveTo>
                  <a:lnTo>
                    <a:pt x="1485619" y="0"/>
                  </a:lnTo>
                  <a:lnTo>
                    <a:pt x="2481529" y="743839"/>
                  </a:lnTo>
                  <a:lnTo>
                    <a:pt x="1485619" y="1487678"/>
                  </a:lnTo>
                  <a:lnTo>
                    <a:pt x="0" y="1487678"/>
                  </a:lnTo>
                  <a:lnTo>
                    <a:pt x="995910" y="743839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803248" y="5045874"/>
            <a:ext cx="987123" cy="1001155"/>
            <a:chOff x="0" y="0"/>
            <a:chExt cx="1316164" cy="13348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160" cy="1334858"/>
            </a:xfrm>
            <a:custGeom>
              <a:avLst/>
              <a:gdLst/>
              <a:ahLst/>
              <a:cxnLst/>
              <a:rect r="r" b="b" t="t" l="l"/>
              <a:pathLst>
                <a:path h="1334858" w="1316160">
                  <a:moveTo>
                    <a:pt x="0" y="0"/>
                  </a:moveTo>
                  <a:lnTo>
                    <a:pt x="1316160" y="0"/>
                  </a:lnTo>
                  <a:lnTo>
                    <a:pt x="1316160" y="1334858"/>
                  </a:lnTo>
                  <a:lnTo>
                    <a:pt x="0" y="1334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3" r="0" b="657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16164" cy="1344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80"/>
                </a:lnSpc>
              </a:pPr>
              <a:r>
                <a:rPr lang="en-US" sz="2900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一年後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757535" y="4371337"/>
            <a:ext cx="128130" cy="2281647"/>
            <a:chOff x="0" y="0"/>
            <a:chExt cx="170840" cy="30421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815" cy="3042158"/>
            </a:xfrm>
            <a:custGeom>
              <a:avLst/>
              <a:gdLst/>
              <a:ahLst/>
              <a:cxnLst/>
              <a:rect r="r" b="b" t="t" l="l"/>
              <a:pathLst>
                <a:path h="304215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3042158"/>
                  </a:lnTo>
                  <a:lnTo>
                    <a:pt x="0" y="304215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109960" y="4408399"/>
            <a:ext cx="5417277" cy="2015820"/>
            <a:chOff x="0" y="0"/>
            <a:chExt cx="7223036" cy="2687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23040" cy="2687756"/>
            </a:xfrm>
            <a:custGeom>
              <a:avLst/>
              <a:gdLst/>
              <a:ahLst/>
              <a:cxnLst/>
              <a:rect r="r" b="b" t="t" l="l"/>
              <a:pathLst>
                <a:path h="2687756" w="7223040">
                  <a:moveTo>
                    <a:pt x="0" y="0"/>
                  </a:moveTo>
                  <a:lnTo>
                    <a:pt x="7223040" y="0"/>
                  </a:lnTo>
                  <a:lnTo>
                    <a:pt x="7223040" y="2687756"/>
                  </a:lnTo>
                  <a:lnTo>
                    <a:pt x="0" y="26877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3" r="0" b="-236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223036" cy="2697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「公會鄭伯於郲，謀伐許也。」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64340" y="6104344"/>
            <a:ext cx="5417277" cy="832827"/>
            <a:chOff x="0" y="0"/>
            <a:chExt cx="7223036" cy="11104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3040" cy="1110435"/>
            </a:xfrm>
            <a:custGeom>
              <a:avLst/>
              <a:gdLst/>
              <a:ahLst/>
              <a:cxnLst/>
              <a:rect r="r" b="b" t="t" l="l"/>
              <a:pathLst>
                <a:path h="1110435" w="7223040">
                  <a:moveTo>
                    <a:pt x="0" y="0"/>
                  </a:moveTo>
                  <a:lnTo>
                    <a:pt x="7223040" y="0"/>
                  </a:lnTo>
                  <a:lnTo>
                    <a:pt x="7223040" y="1110435"/>
                  </a:lnTo>
                  <a:lnTo>
                    <a:pt x="0" y="1110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960" r="0" b="-4152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223036" cy="1119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59"/>
                </a:lnSpc>
              </a:pPr>
              <a:r>
                <a:rPr lang="en-US" sz="4299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《左傳・隱公十一年》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423188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為什麼要打許？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634469"/>
            <a:ext cx="7832817" cy="4552939"/>
            <a:chOff x="0" y="0"/>
            <a:chExt cx="10443756" cy="60705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3718" cy="6070555"/>
            </a:xfrm>
            <a:custGeom>
              <a:avLst/>
              <a:gdLst/>
              <a:ahLst/>
              <a:cxnLst/>
              <a:rect r="r" b="b" t="t" l="l"/>
              <a:pathLst>
                <a:path h="6070555" w="10443718">
                  <a:moveTo>
                    <a:pt x="0" y="115636"/>
                  </a:moveTo>
                  <a:cubicBezTo>
                    <a:pt x="0" y="51761"/>
                    <a:pt x="65659" y="0"/>
                    <a:pt x="146685" y="0"/>
                  </a:cubicBezTo>
                  <a:lnTo>
                    <a:pt x="10297033" y="0"/>
                  </a:lnTo>
                  <a:cubicBezTo>
                    <a:pt x="10378059" y="0"/>
                    <a:pt x="10443718" y="51761"/>
                    <a:pt x="10443718" y="115636"/>
                  </a:cubicBezTo>
                  <a:lnTo>
                    <a:pt x="10443718" y="5954919"/>
                  </a:lnTo>
                  <a:cubicBezTo>
                    <a:pt x="10443718" y="6018794"/>
                    <a:pt x="10378059" y="6070555"/>
                    <a:pt x="10297033" y="6070555"/>
                  </a:cubicBezTo>
                  <a:lnTo>
                    <a:pt x="146685" y="6070555"/>
                  </a:lnTo>
                  <a:cubicBezTo>
                    <a:pt x="65659" y="6070556"/>
                    <a:pt x="0" y="6018794"/>
                    <a:pt x="0" y="5954919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16380" y="4122149"/>
            <a:ext cx="3839937" cy="746113"/>
            <a:chOff x="0" y="0"/>
            <a:chExt cx="5119916" cy="9948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19920" cy="994821"/>
            </a:xfrm>
            <a:custGeom>
              <a:avLst/>
              <a:gdLst/>
              <a:ahLst/>
              <a:cxnLst/>
              <a:rect r="r" b="b" t="t" l="l"/>
              <a:pathLst>
                <a:path h="994821" w="5119920">
                  <a:moveTo>
                    <a:pt x="0" y="0"/>
                  </a:moveTo>
                  <a:lnTo>
                    <a:pt x="5119920" y="0"/>
                  </a:lnTo>
                  <a:lnTo>
                    <a:pt x="5119920" y="994821"/>
                  </a:lnTo>
                  <a:lnTo>
                    <a:pt x="0" y="994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46" r="0" b="-3241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119916" cy="9948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第一句只說：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6380" y="4807949"/>
            <a:ext cx="6445977" cy="891000"/>
            <a:chOff x="0" y="0"/>
            <a:chExt cx="8594636" cy="118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94640" cy="1188004"/>
            </a:xfrm>
            <a:custGeom>
              <a:avLst/>
              <a:gdLst/>
              <a:ahLst/>
              <a:cxnLst/>
              <a:rect r="r" b="b" t="t" l="l"/>
              <a:pathLst>
                <a:path h="1188004" w="8594640">
                  <a:moveTo>
                    <a:pt x="0" y="0"/>
                  </a:moveTo>
                  <a:lnTo>
                    <a:pt x="8594640" y="0"/>
                  </a:lnTo>
                  <a:lnTo>
                    <a:pt x="8594640" y="1188004"/>
                  </a:lnTo>
                  <a:lnTo>
                    <a:pt x="0" y="1188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965" r="0" b="-9096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594636" cy="119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「謀伐許」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00382" y="6072435"/>
            <a:ext cx="4877973" cy="1377874"/>
            <a:chOff x="0" y="0"/>
            <a:chExt cx="6503964" cy="18371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03967" cy="1837170"/>
            </a:xfrm>
            <a:custGeom>
              <a:avLst/>
              <a:gdLst/>
              <a:ahLst/>
              <a:cxnLst/>
              <a:rect r="r" b="b" t="t" l="l"/>
              <a:pathLst>
                <a:path h="1837170" w="6503967">
                  <a:moveTo>
                    <a:pt x="0" y="0"/>
                  </a:moveTo>
                  <a:lnTo>
                    <a:pt x="6503967" y="0"/>
                  </a:lnTo>
                  <a:lnTo>
                    <a:pt x="6503967" y="1837170"/>
                  </a:lnTo>
                  <a:lnTo>
                    <a:pt x="0" y="18371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76" r="-32144" b="-1353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503964" cy="1846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但沒有在此處直接交代許犯了什麼罪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91675" y="2596515"/>
            <a:ext cx="128130" cy="2075907"/>
            <a:chOff x="0" y="0"/>
            <a:chExt cx="170840" cy="27678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815" cy="2767838"/>
            </a:xfrm>
            <a:custGeom>
              <a:avLst/>
              <a:gdLst/>
              <a:ahLst/>
              <a:cxnLst/>
              <a:rect r="r" b="b" t="t" l="l"/>
              <a:pathLst>
                <a:path h="276783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2767838"/>
                  </a:lnTo>
                  <a:lnTo>
                    <a:pt x="0" y="276783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19805" y="2441340"/>
            <a:ext cx="6788877" cy="1810080"/>
            <a:chOff x="0" y="0"/>
            <a:chExt cx="9051836" cy="241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51840" cy="2413436"/>
            </a:xfrm>
            <a:custGeom>
              <a:avLst/>
              <a:gdLst/>
              <a:ahLst/>
              <a:cxnLst/>
              <a:rect r="r" b="b" t="t" l="l"/>
              <a:pathLst>
                <a:path h="2413436" w="9051840">
                  <a:moveTo>
                    <a:pt x="0" y="0"/>
                  </a:moveTo>
                  <a:lnTo>
                    <a:pt x="9051840" y="0"/>
                  </a:lnTo>
                  <a:lnTo>
                    <a:pt x="9051840" y="2413436"/>
                  </a:lnTo>
                  <a:lnTo>
                    <a:pt x="0" y="2413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80" r="0" b="-230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051836" cy="242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「君謂許不共，故從君討之。」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70101" y="4076106"/>
            <a:ext cx="6788877" cy="735102"/>
            <a:chOff x="0" y="0"/>
            <a:chExt cx="9051836" cy="9801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51840" cy="980134"/>
            </a:xfrm>
            <a:custGeom>
              <a:avLst/>
              <a:gdLst/>
              <a:ahLst/>
              <a:cxnLst/>
              <a:rect r="r" b="b" t="t" l="l"/>
              <a:pathLst>
                <a:path h="980134" w="9051840">
                  <a:moveTo>
                    <a:pt x="0" y="0"/>
                  </a:moveTo>
                  <a:lnTo>
                    <a:pt x="9051840" y="0"/>
                  </a:lnTo>
                  <a:lnTo>
                    <a:pt x="9051840" y="980134"/>
                  </a:lnTo>
                  <a:lnTo>
                    <a:pt x="0" y="980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201" r="0" b="-9669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051836" cy="9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560"/>
                </a:lnSpc>
              </a:pPr>
              <a:r>
                <a:rPr lang="en-US" sz="38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戰後魯隱公對齊侯之語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69780" y="5212079"/>
            <a:ext cx="7589520" cy="4164102"/>
            <a:chOff x="0" y="0"/>
            <a:chExt cx="10119360" cy="55521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19364" cy="5552139"/>
            </a:xfrm>
            <a:custGeom>
              <a:avLst/>
              <a:gdLst/>
              <a:ahLst/>
              <a:cxnLst/>
              <a:rect r="r" b="b" t="t" l="l"/>
              <a:pathLst>
                <a:path h="5552139" w="10119364">
                  <a:moveTo>
                    <a:pt x="0" y="0"/>
                  </a:moveTo>
                  <a:lnTo>
                    <a:pt x="10119364" y="0"/>
                  </a:lnTo>
                  <a:lnTo>
                    <a:pt x="10119364" y="5552139"/>
                  </a:lnTo>
                  <a:lnTo>
                    <a:pt x="0" y="5552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" r="9645" b="390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119360" cy="556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「共」音義作「供」：重點是許被指為沒有履行應有的義務。</a:t>
              </a:r>
            </a:p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因此戰爭被敘述成「討罪」，而不是公開宣稱為奪地。</a:t>
              </a:r>
            </a:p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但這句是「戰後回顧」的理由；是否等於完整、唯一的真實動機，後世一直有爭論。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85745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「伐」與「討」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9951" y="3158310"/>
            <a:ext cx="7352757" cy="5295357"/>
            <a:chOff x="0" y="0"/>
            <a:chExt cx="9803676" cy="7060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03638" cy="7060438"/>
            </a:xfrm>
            <a:custGeom>
              <a:avLst/>
              <a:gdLst/>
              <a:ahLst/>
              <a:cxnLst/>
              <a:rect r="r" b="b" t="t" l="l"/>
              <a:pathLst>
                <a:path h="7060438" w="98036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656953" y="0"/>
                  </a:lnTo>
                  <a:cubicBezTo>
                    <a:pt x="9737979" y="0"/>
                    <a:pt x="9803638" y="65659"/>
                    <a:pt x="9803638" y="146685"/>
                  </a:cubicBezTo>
                  <a:lnTo>
                    <a:pt x="9803638" y="6913753"/>
                  </a:lnTo>
                  <a:cubicBezTo>
                    <a:pt x="9803638" y="6994779"/>
                    <a:pt x="9737979" y="7060438"/>
                    <a:pt x="9656953" y="7060438"/>
                  </a:cubicBezTo>
                  <a:lnTo>
                    <a:pt x="146685" y="7060438"/>
                  </a:lnTo>
                  <a:cubicBezTo>
                    <a:pt x="65659" y="7060438"/>
                    <a:pt x="0" y="6994779"/>
                    <a:pt x="0" y="691375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685291" y="3158310"/>
            <a:ext cx="7352757" cy="5295357"/>
            <a:chOff x="0" y="0"/>
            <a:chExt cx="9803676" cy="7060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03638" cy="7060438"/>
            </a:xfrm>
            <a:custGeom>
              <a:avLst/>
              <a:gdLst/>
              <a:ahLst/>
              <a:cxnLst/>
              <a:rect r="r" b="b" t="t" l="l"/>
              <a:pathLst>
                <a:path h="7060438" w="98036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656953" y="0"/>
                  </a:lnTo>
                  <a:cubicBezTo>
                    <a:pt x="9737979" y="0"/>
                    <a:pt x="9803638" y="65659"/>
                    <a:pt x="9803638" y="146685"/>
                  </a:cubicBezTo>
                  <a:lnTo>
                    <a:pt x="9803638" y="6913753"/>
                  </a:lnTo>
                  <a:cubicBezTo>
                    <a:pt x="9803638" y="6994779"/>
                    <a:pt x="9737979" y="7060438"/>
                    <a:pt x="9656953" y="7060438"/>
                  </a:cubicBezTo>
                  <a:lnTo>
                    <a:pt x="146685" y="7060438"/>
                  </a:lnTo>
                  <a:cubicBezTo>
                    <a:pt x="65659" y="7060438"/>
                    <a:pt x="0" y="6994779"/>
                    <a:pt x="0" y="691375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716926" y="3567885"/>
            <a:ext cx="2350227" cy="826703"/>
            <a:chOff x="0" y="0"/>
            <a:chExt cx="3133636" cy="1102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33598" cy="1102232"/>
            </a:xfrm>
            <a:custGeom>
              <a:avLst/>
              <a:gdLst/>
              <a:ahLst/>
              <a:cxnLst/>
              <a:rect r="r" b="b" t="t" l="l"/>
              <a:pathLst>
                <a:path h="1102232" w="3133598">
                  <a:moveTo>
                    <a:pt x="0" y="348084"/>
                  </a:moveTo>
                  <a:cubicBezTo>
                    <a:pt x="0" y="155850"/>
                    <a:pt x="101727" y="0"/>
                    <a:pt x="227203" y="0"/>
                  </a:cubicBezTo>
                  <a:lnTo>
                    <a:pt x="2906395" y="0"/>
                  </a:lnTo>
                  <a:cubicBezTo>
                    <a:pt x="3031871" y="0"/>
                    <a:pt x="3133598" y="155850"/>
                    <a:pt x="3133598" y="348084"/>
                  </a:cubicBezTo>
                  <a:lnTo>
                    <a:pt x="3133598" y="754149"/>
                  </a:lnTo>
                  <a:cubicBezTo>
                    <a:pt x="3133598" y="946383"/>
                    <a:pt x="3031871" y="1102232"/>
                    <a:pt x="2906395" y="1102232"/>
                  </a:cubicBezTo>
                  <a:lnTo>
                    <a:pt x="227203" y="1102232"/>
                  </a:lnTo>
                  <a:cubicBezTo>
                    <a:pt x="101727" y="1102232"/>
                    <a:pt x="0" y="946383"/>
                    <a:pt x="0" y="754149"/>
                  </a:cubicBezTo>
                  <a:close/>
                </a:path>
              </a:pathLst>
            </a:custGeom>
            <a:solidFill>
              <a:srgbClr val="E3EBE7"/>
            </a:solidFill>
            <a:ln w="19050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836075" y="3659487"/>
            <a:ext cx="2111940" cy="735102"/>
            <a:chOff x="0" y="0"/>
            <a:chExt cx="2815920" cy="9801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5920" cy="980134"/>
            </a:xfrm>
            <a:custGeom>
              <a:avLst/>
              <a:gdLst/>
              <a:ahLst/>
              <a:cxnLst/>
              <a:rect r="r" b="b" t="t" l="l"/>
              <a:pathLst>
                <a:path h="980134" w="2815920">
                  <a:moveTo>
                    <a:pt x="0" y="0"/>
                  </a:moveTo>
                  <a:lnTo>
                    <a:pt x="2815920" y="0"/>
                  </a:lnTo>
                  <a:lnTo>
                    <a:pt x="2815920" y="980134"/>
                  </a:lnTo>
                  <a:lnTo>
                    <a:pt x="0" y="980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66" r="0" b="2260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815920" cy="9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戰前記述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80531" y="4674690"/>
            <a:ext cx="5623017" cy="822420"/>
            <a:chOff x="0" y="0"/>
            <a:chExt cx="7497356" cy="1096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97360" cy="1096564"/>
            </a:xfrm>
            <a:custGeom>
              <a:avLst/>
              <a:gdLst/>
              <a:ahLst/>
              <a:cxnLst/>
              <a:rect r="r" b="b" t="t" l="l"/>
              <a:pathLst>
                <a:path h="1096564" w="7497360">
                  <a:moveTo>
                    <a:pt x="0" y="0"/>
                  </a:moveTo>
                  <a:lnTo>
                    <a:pt x="7497360" y="0"/>
                  </a:lnTo>
                  <a:lnTo>
                    <a:pt x="7497360" y="1096564"/>
                  </a:lnTo>
                  <a:lnTo>
                    <a:pt x="0" y="10965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22" r="0" b="-8322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7497356" cy="1106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「謀伐許」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83406" y="5897157"/>
            <a:ext cx="5417277" cy="1439640"/>
            <a:chOff x="0" y="0"/>
            <a:chExt cx="7223036" cy="1919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23040" cy="1919524"/>
            </a:xfrm>
            <a:custGeom>
              <a:avLst/>
              <a:gdLst/>
              <a:ahLst/>
              <a:cxnLst/>
              <a:rect r="r" b="b" t="t" l="l"/>
              <a:pathLst>
                <a:path h="1919524" w="7223040">
                  <a:moveTo>
                    <a:pt x="0" y="0"/>
                  </a:moveTo>
                  <a:lnTo>
                    <a:pt x="7223040" y="0"/>
                  </a:lnTo>
                  <a:lnTo>
                    <a:pt x="7223040" y="1919524"/>
                  </a:lnTo>
                  <a:lnTo>
                    <a:pt x="0" y="1919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21" r="0" b="-233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223036" cy="1929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重點：描述軍事行動本身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誰與誰商議、準備攻許。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40397" y="3567885"/>
            <a:ext cx="3648595" cy="837715"/>
            <a:chOff x="0" y="0"/>
            <a:chExt cx="3133636" cy="719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3598" cy="719455"/>
            </a:xfrm>
            <a:custGeom>
              <a:avLst/>
              <a:gdLst/>
              <a:ahLst/>
              <a:cxnLst/>
              <a:rect r="r" b="b" t="t" l="l"/>
              <a:pathLst>
                <a:path h="719455" w="3133598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2906395" y="0"/>
                  </a:lnTo>
                  <a:cubicBezTo>
                    <a:pt x="3031871" y="0"/>
                    <a:pt x="3133598" y="101727"/>
                    <a:pt x="3133598" y="227203"/>
                  </a:cubicBezTo>
                  <a:lnTo>
                    <a:pt x="3133598" y="492252"/>
                  </a:lnTo>
                  <a:cubicBezTo>
                    <a:pt x="3133598" y="617728"/>
                    <a:pt x="3031871" y="719455"/>
                    <a:pt x="2906395" y="719455"/>
                  </a:cubicBezTo>
                  <a:lnTo>
                    <a:pt x="227203" y="719455"/>
                  </a:lnTo>
                  <a:cubicBezTo>
                    <a:pt x="101727" y="719455"/>
                    <a:pt x="0" y="617728"/>
                    <a:pt x="0" y="492252"/>
                  </a:cubicBezTo>
                  <a:close/>
                </a:path>
              </a:pathLst>
            </a:custGeom>
            <a:solidFill>
              <a:srgbClr val="F2E4DF"/>
            </a:solidFill>
            <a:ln w="19050" cap="sq">
              <a:solidFill>
                <a:srgbClr val="F2E4D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861833" y="3613686"/>
            <a:ext cx="2999673" cy="735102"/>
            <a:chOff x="0" y="0"/>
            <a:chExt cx="3999565" cy="9801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99564" cy="980134"/>
            </a:xfrm>
            <a:custGeom>
              <a:avLst/>
              <a:gdLst/>
              <a:ahLst/>
              <a:cxnLst/>
              <a:rect r="r" b="b" t="t" l="l"/>
              <a:pathLst>
                <a:path h="980134" w="3999564">
                  <a:moveTo>
                    <a:pt x="0" y="0"/>
                  </a:moveTo>
                  <a:lnTo>
                    <a:pt x="3999564" y="0"/>
                  </a:lnTo>
                  <a:lnTo>
                    <a:pt x="3999564" y="980134"/>
                  </a:lnTo>
                  <a:lnTo>
                    <a:pt x="0" y="9801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66" r="29594" b="226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999565" cy="9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戰後自我說明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78711" y="4674690"/>
            <a:ext cx="5965917" cy="822420"/>
            <a:chOff x="0" y="0"/>
            <a:chExt cx="7954556" cy="1096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54560" cy="1096564"/>
            </a:xfrm>
            <a:custGeom>
              <a:avLst/>
              <a:gdLst/>
              <a:ahLst/>
              <a:cxnLst/>
              <a:rect r="r" b="b" t="t" l="l"/>
              <a:pathLst>
                <a:path h="1096564" w="7954560">
                  <a:moveTo>
                    <a:pt x="0" y="0"/>
                  </a:moveTo>
                  <a:lnTo>
                    <a:pt x="7954560" y="0"/>
                  </a:lnTo>
                  <a:lnTo>
                    <a:pt x="7954560" y="1096564"/>
                  </a:lnTo>
                  <a:lnTo>
                    <a:pt x="0" y="10965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346" r="0" b="-913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954556" cy="1106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「故從君討之」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67865" y="5897157"/>
            <a:ext cx="6593660" cy="1878102"/>
            <a:chOff x="0" y="0"/>
            <a:chExt cx="8791547" cy="25041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91551" cy="2504139"/>
            </a:xfrm>
            <a:custGeom>
              <a:avLst/>
              <a:gdLst/>
              <a:ahLst/>
              <a:cxnLst/>
              <a:rect r="r" b="b" t="t" l="l"/>
              <a:pathLst>
                <a:path h="2504139" w="8791551">
                  <a:moveTo>
                    <a:pt x="0" y="0"/>
                  </a:moveTo>
                  <a:lnTo>
                    <a:pt x="8791551" y="0"/>
                  </a:lnTo>
                  <a:lnTo>
                    <a:pt x="8791551" y="2504139"/>
                  </a:lnTo>
                  <a:lnTo>
                    <a:pt x="0" y="2504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47" r="15760" b="3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791547" cy="2513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重點：賦予行動「懲罰有罪者」的正當性語言。</a:t>
              </a:r>
            </a:p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這是人物辭令中的自我定位。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521103"/>
            <a:ext cx="16458657" cy="769725"/>
            <a:chOff x="0" y="0"/>
            <a:chExt cx="21944876" cy="1026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026303"/>
            </a:xfrm>
            <a:custGeom>
              <a:avLst/>
              <a:gdLst/>
              <a:ahLst/>
              <a:cxnLst/>
              <a:rect r="r" b="b" t="t" l="l"/>
              <a:pathLst>
                <a:path h="1026303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026303"/>
                  </a:lnTo>
                  <a:lnTo>
                    <a:pt x="0" y="1026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69" r="0" b="-3656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02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這次伐許有「王命」嗎？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6820" y="2667000"/>
            <a:ext cx="7558497" cy="4952457"/>
            <a:chOff x="0" y="0"/>
            <a:chExt cx="10077996" cy="66032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77958" cy="6603238"/>
            </a:xfrm>
            <a:custGeom>
              <a:avLst/>
              <a:gdLst/>
              <a:ahLst/>
              <a:cxnLst/>
              <a:rect r="r" b="b" t="t" l="l"/>
              <a:pathLst>
                <a:path h="6603238" w="1007795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931273" y="0"/>
                  </a:lnTo>
                  <a:cubicBezTo>
                    <a:pt x="10012299" y="0"/>
                    <a:pt x="10077958" y="65659"/>
                    <a:pt x="10077958" y="146685"/>
                  </a:cubicBezTo>
                  <a:lnTo>
                    <a:pt x="10077958" y="6456553"/>
                  </a:lnTo>
                  <a:cubicBezTo>
                    <a:pt x="10077958" y="6537579"/>
                    <a:pt x="10012299" y="6603238"/>
                    <a:pt x="9931273" y="6603238"/>
                  </a:cubicBezTo>
                  <a:lnTo>
                    <a:pt x="146685" y="6603238"/>
                  </a:lnTo>
                  <a:cubicBezTo>
                    <a:pt x="65659" y="6603238"/>
                    <a:pt x="0" y="6537579"/>
                    <a:pt x="0" y="6456553"/>
                  </a:cubicBezTo>
                  <a:close/>
                </a:path>
              </a:pathLst>
            </a:custGeom>
            <a:solidFill>
              <a:srgbClr val="E3EBE7"/>
            </a:solidFill>
            <a:ln w="15240" cap="sq">
              <a:solidFill>
                <a:srgbClr val="C9D8D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" y="3086100"/>
            <a:ext cx="3565617" cy="772287"/>
            <a:chOff x="0" y="0"/>
            <a:chExt cx="4754156" cy="10297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54160" cy="1029720"/>
            </a:xfrm>
            <a:custGeom>
              <a:avLst/>
              <a:gdLst/>
              <a:ahLst/>
              <a:cxnLst/>
              <a:rect r="r" b="b" t="t" l="l"/>
              <a:pathLst>
                <a:path h="1029720" w="4754160">
                  <a:moveTo>
                    <a:pt x="0" y="0"/>
                  </a:moveTo>
                  <a:lnTo>
                    <a:pt x="4754160" y="0"/>
                  </a:lnTo>
                  <a:lnTo>
                    <a:pt x="4754160" y="1029720"/>
                  </a:lnTo>
                  <a:lnTo>
                    <a:pt x="0" y="1029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76" r="0" b="-2544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754156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隱公十年｜伐宋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4500" y="4114800"/>
            <a:ext cx="6583137" cy="891000"/>
            <a:chOff x="0" y="0"/>
            <a:chExt cx="8777516" cy="118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7520" cy="1188004"/>
            </a:xfrm>
            <a:custGeom>
              <a:avLst/>
              <a:gdLst/>
              <a:ahLst/>
              <a:cxnLst/>
              <a:rect r="r" b="b" t="t" l="l"/>
              <a:pathLst>
                <a:path h="1188004" w="8777520">
                  <a:moveTo>
                    <a:pt x="0" y="0"/>
                  </a:moveTo>
                  <a:lnTo>
                    <a:pt x="8777520" y="0"/>
                  </a:lnTo>
                  <a:lnTo>
                    <a:pt x="8777520" y="1188004"/>
                  </a:lnTo>
                  <a:lnTo>
                    <a:pt x="0" y="1188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64" r="0" b="-9396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777516" cy="1188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647A73"/>
                  </a:solidFill>
                  <a:latin typeface="芫荽"/>
                  <a:ea typeface="芫荽"/>
                  <a:cs typeface="芫荽"/>
                  <a:sym typeface="芫荽"/>
                </a:rPr>
                <a:t>「以王命討不庭」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88820" y="5692140"/>
            <a:ext cx="6034497" cy="1372362"/>
            <a:chOff x="0" y="0"/>
            <a:chExt cx="8045996" cy="1829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000" cy="1829820"/>
            </a:xfrm>
            <a:custGeom>
              <a:avLst/>
              <a:gdLst/>
              <a:ahLst/>
              <a:cxnLst/>
              <a:rect r="r" b="b" t="t" l="l"/>
              <a:pathLst>
                <a:path h="1829820" w="8046000">
                  <a:moveTo>
                    <a:pt x="0" y="0"/>
                  </a:moveTo>
                  <a:lnTo>
                    <a:pt x="8046000" y="0"/>
                  </a:lnTo>
                  <a:lnTo>
                    <a:pt x="8046000" y="1829820"/>
                  </a:lnTo>
                  <a:lnTo>
                    <a:pt x="0" y="18298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712" r="0" b="-1064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04599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《左傳》明確替行動連上周王命令。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0" y="2667000"/>
            <a:ext cx="7558497" cy="4952457"/>
            <a:chOff x="0" y="0"/>
            <a:chExt cx="10077996" cy="66032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77958" cy="6603238"/>
            </a:xfrm>
            <a:custGeom>
              <a:avLst/>
              <a:gdLst/>
              <a:ahLst/>
              <a:cxnLst/>
              <a:rect r="r" b="b" t="t" l="l"/>
              <a:pathLst>
                <a:path h="6603238" w="1007795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931273" y="0"/>
                  </a:lnTo>
                  <a:cubicBezTo>
                    <a:pt x="10012299" y="0"/>
                    <a:pt x="10077958" y="65659"/>
                    <a:pt x="10077958" y="146685"/>
                  </a:cubicBezTo>
                  <a:lnTo>
                    <a:pt x="10077958" y="6456553"/>
                  </a:lnTo>
                  <a:cubicBezTo>
                    <a:pt x="10077958" y="6537579"/>
                    <a:pt x="10012299" y="6603238"/>
                    <a:pt x="9931273" y="6603238"/>
                  </a:cubicBezTo>
                  <a:lnTo>
                    <a:pt x="146685" y="6603238"/>
                  </a:lnTo>
                  <a:cubicBezTo>
                    <a:pt x="65659" y="6603238"/>
                    <a:pt x="0" y="6537579"/>
                    <a:pt x="0" y="6456553"/>
                  </a:cubicBezTo>
                  <a:close/>
                </a:path>
              </a:pathLst>
            </a:custGeom>
            <a:solidFill>
              <a:srgbClr val="F2E4DF"/>
            </a:solidFill>
            <a:ln w="15240" cap="sq">
              <a:solidFill>
                <a:srgbClr val="E1BCA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9583" y="3025496"/>
            <a:ext cx="4477995" cy="772287"/>
            <a:chOff x="0" y="0"/>
            <a:chExt cx="5970660" cy="10297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70665" cy="1029720"/>
            </a:xfrm>
            <a:custGeom>
              <a:avLst/>
              <a:gdLst/>
              <a:ahLst/>
              <a:cxnLst/>
              <a:rect r="r" b="b" t="t" l="l"/>
              <a:pathLst>
                <a:path h="1029720" w="5970665">
                  <a:moveTo>
                    <a:pt x="0" y="0"/>
                  </a:moveTo>
                  <a:lnTo>
                    <a:pt x="5970665" y="0"/>
                  </a:lnTo>
                  <a:lnTo>
                    <a:pt x="5970665" y="1029720"/>
                  </a:lnTo>
                  <a:lnTo>
                    <a:pt x="0" y="1029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97" r="14248" b="-3236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970660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隱公十一年｜伐許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81260" y="4005177"/>
            <a:ext cx="6445977" cy="1124280"/>
            <a:chOff x="0" y="0"/>
            <a:chExt cx="8594636" cy="1499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94640" cy="1499036"/>
            </a:xfrm>
            <a:custGeom>
              <a:avLst/>
              <a:gdLst/>
              <a:ahLst/>
              <a:cxnLst/>
              <a:rect r="r" b="b" t="t" l="l"/>
              <a:pathLst>
                <a:path h="1499036" w="8594640">
                  <a:moveTo>
                    <a:pt x="0" y="0"/>
                  </a:moveTo>
                  <a:lnTo>
                    <a:pt x="8594640" y="0"/>
                  </a:lnTo>
                  <a:lnTo>
                    <a:pt x="8594640" y="1499036"/>
                  </a:lnTo>
                  <a:lnTo>
                    <a:pt x="0" y="14990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6" r="0" b="-6171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594636" cy="149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「公會鄭伯於郲，謀伐許」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55580" y="5486400"/>
            <a:ext cx="5897337" cy="1972437"/>
            <a:chOff x="0" y="0"/>
            <a:chExt cx="7863116" cy="26299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3120" cy="2629920"/>
            </a:xfrm>
            <a:custGeom>
              <a:avLst/>
              <a:gdLst/>
              <a:ahLst/>
              <a:cxnLst/>
              <a:rect r="r" b="b" t="t" l="l"/>
              <a:pathLst>
                <a:path h="2629920" w="7863120">
                  <a:moveTo>
                    <a:pt x="0" y="0"/>
                  </a:moveTo>
                  <a:lnTo>
                    <a:pt x="7863120" y="0"/>
                  </a:lnTo>
                  <a:lnTo>
                    <a:pt x="7863120" y="2629920"/>
                  </a:lnTo>
                  <a:lnTo>
                    <a:pt x="0" y="262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4" r="0" b="1567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86311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此處沒有明說王命。</a:t>
              </a:r>
            </a:p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後文只有「許不共」的討罪說法。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671" y="1210075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後世經學家不一定接受《左傳》的正當性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8531" y="2807332"/>
            <a:ext cx="15719517" cy="1592037"/>
            <a:chOff x="0" y="0"/>
            <a:chExt cx="20959356" cy="21227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959445" cy="2122805"/>
            </a:xfrm>
            <a:custGeom>
              <a:avLst/>
              <a:gdLst/>
              <a:ahLst/>
              <a:cxnLst/>
              <a:rect r="r" b="b" t="t" l="l"/>
              <a:pathLst>
                <a:path h="2122805" w="20959445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0811744" y="0"/>
                  </a:lnTo>
                  <a:cubicBezTo>
                    <a:pt x="20893278" y="0"/>
                    <a:pt x="20959445" y="66167"/>
                    <a:pt x="20959445" y="147701"/>
                  </a:cubicBezTo>
                  <a:lnTo>
                    <a:pt x="20959445" y="1975104"/>
                  </a:lnTo>
                  <a:cubicBezTo>
                    <a:pt x="20959445" y="2056638"/>
                    <a:pt x="20893278" y="2122805"/>
                    <a:pt x="20811744" y="2122805"/>
                  </a:cubicBezTo>
                  <a:lnTo>
                    <a:pt x="147701" y="2122805"/>
                  </a:lnTo>
                  <a:cubicBezTo>
                    <a:pt x="66167" y="2122678"/>
                    <a:pt x="0" y="2056638"/>
                    <a:pt x="0" y="197510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37903" y="3217207"/>
            <a:ext cx="2879817" cy="772287"/>
            <a:chOff x="0" y="0"/>
            <a:chExt cx="3839756" cy="10297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39760" cy="1029720"/>
            </a:xfrm>
            <a:custGeom>
              <a:avLst/>
              <a:gdLst/>
              <a:ahLst/>
              <a:cxnLst/>
              <a:rect r="r" b="b" t="t" l="l"/>
              <a:pathLst>
                <a:path h="1029720" w="3839760">
                  <a:moveTo>
                    <a:pt x="0" y="0"/>
                  </a:moveTo>
                  <a:lnTo>
                    <a:pt x="3839760" y="0"/>
                  </a:lnTo>
                  <a:lnTo>
                    <a:pt x="3839760" y="1029720"/>
                  </a:lnTo>
                  <a:lnTo>
                    <a:pt x="0" y="1029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13" r="0" b="-370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839756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趙匡（唐）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17720" y="2917169"/>
            <a:ext cx="11863797" cy="1372362"/>
            <a:chOff x="0" y="0"/>
            <a:chExt cx="15818396" cy="18298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18400" cy="1829809"/>
            </a:xfrm>
            <a:custGeom>
              <a:avLst/>
              <a:gdLst/>
              <a:ahLst/>
              <a:cxnLst/>
              <a:rect r="r" b="b" t="t" l="l"/>
              <a:pathLst>
                <a:path h="1829809" w="15818400">
                  <a:moveTo>
                    <a:pt x="0" y="0"/>
                  </a:moveTo>
                  <a:lnTo>
                    <a:pt x="15818400" y="0"/>
                  </a:lnTo>
                  <a:lnTo>
                    <a:pt x="15818400" y="1829809"/>
                  </a:lnTo>
                  <a:lnTo>
                    <a:pt x="0" y="18298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77" r="0" b="-994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581839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諸侯沒有王命而入他國，本身就是嚴重問題；更不該據守他國，卻被稱為「有禮」。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8531" y="4933312"/>
            <a:ext cx="15719517" cy="1592037"/>
            <a:chOff x="0" y="0"/>
            <a:chExt cx="20959356" cy="21227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59445" cy="2122805"/>
            </a:xfrm>
            <a:custGeom>
              <a:avLst/>
              <a:gdLst/>
              <a:ahLst/>
              <a:cxnLst/>
              <a:rect r="r" b="b" t="t" l="l"/>
              <a:pathLst>
                <a:path h="2122805" w="20959445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0811744" y="0"/>
                  </a:lnTo>
                  <a:cubicBezTo>
                    <a:pt x="20893278" y="0"/>
                    <a:pt x="20959445" y="66167"/>
                    <a:pt x="20959445" y="147701"/>
                  </a:cubicBezTo>
                  <a:lnTo>
                    <a:pt x="20959445" y="1975104"/>
                  </a:lnTo>
                  <a:cubicBezTo>
                    <a:pt x="20959445" y="2056638"/>
                    <a:pt x="20893278" y="2122805"/>
                    <a:pt x="20811744" y="2122805"/>
                  </a:cubicBezTo>
                  <a:lnTo>
                    <a:pt x="147701" y="2122805"/>
                  </a:lnTo>
                  <a:cubicBezTo>
                    <a:pt x="66167" y="2122678"/>
                    <a:pt x="0" y="2056638"/>
                    <a:pt x="0" y="1975104"/>
                  </a:cubicBezTo>
                  <a:close/>
                </a:path>
              </a:pathLst>
            </a:custGeom>
            <a:solidFill>
              <a:srgbClr val="F2E4DF"/>
            </a:solidFill>
            <a:ln w="15240" cap="sq">
              <a:solidFill>
                <a:srgbClr val="E1BCA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01014" y="5343187"/>
            <a:ext cx="2879817" cy="772287"/>
            <a:chOff x="0" y="0"/>
            <a:chExt cx="3839756" cy="10297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39760" cy="1029720"/>
            </a:xfrm>
            <a:custGeom>
              <a:avLst/>
              <a:gdLst/>
              <a:ahLst/>
              <a:cxnLst/>
              <a:rect r="r" b="b" t="t" l="l"/>
              <a:pathLst>
                <a:path h="1029720" w="3839760">
                  <a:moveTo>
                    <a:pt x="0" y="0"/>
                  </a:moveTo>
                  <a:lnTo>
                    <a:pt x="3839760" y="0"/>
                  </a:lnTo>
                  <a:lnTo>
                    <a:pt x="3839760" y="1029720"/>
                  </a:lnTo>
                  <a:lnTo>
                    <a:pt x="0" y="1029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13" r="0" b="-370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839756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劉敞（北宋）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17720" y="5043149"/>
            <a:ext cx="11863797" cy="1372362"/>
            <a:chOff x="0" y="0"/>
            <a:chExt cx="15818396" cy="18298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18400" cy="1829809"/>
            </a:xfrm>
            <a:custGeom>
              <a:avLst/>
              <a:gdLst/>
              <a:ahLst/>
              <a:cxnLst/>
              <a:rect r="r" b="b" t="t" l="l"/>
              <a:pathLst>
                <a:path h="1829809" w="15818400">
                  <a:moveTo>
                    <a:pt x="0" y="0"/>
                  </a:moveTo>
                  <a:lnTo>
                    <a:pt x="15818400" y="0"/>
                  </a:lnTo>
                  <a:lnTo>
                    <a:pt x="15818400" y="1829809"/>
                  </a:lnTo>
                  <a:lnTo>
                    <a:pt x="0" y="18298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77" r="0" b="-9941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81839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若許有罪，鄭應請周王處置；若許無罪，更不該擅自破國逐君。問題核心是「政不由王而制於己」。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8531" y="7059292"/>
            <a:ext cx="15719517" cy="1592037"/>
            <a:chOff x="0" y="0"/>
            <a:chExt cx="20959356" cy="21227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959445" cy="2122805"/>
            </a:xfrm>
            <a:custGeom>
              <a:avLst/>
              <a:gdLst/>
              <a:ahLst/>
              <a:cxnLst/>
              <a:rect r="r" b="b" t="t" l="l"/>
              <a:pathLst>
                <a:path h="2122805" w="20959445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0811744" y="0"/>
                  </a:lnTo>
                  <a:cubicBezTo>
                    <a:pt x="20893278" y="0"/>
                    <a:pt x="20959445" y="66167"/>
                    <a:pt x="20959445" y="147701"/>
                  </a:cubicBezTo>
                  <a:lnTo>
                    <a:pt x="20959445" y="1975104"/>
                  </a:lnTo>
                  <a:cubicBezTo>
                    <a:pt x="20959445" y="2056638"/>
                    <a:pt x="20893278" y="2122805"/>
                    <a:pt x="20811744" y="2122805"/>
                  </a:cubicBezTo>
                  <a:lnTo>
                    <a:pt x="147701" y="2122805"/>
                  </a:lnTo>
                  <a:cubicBezTo>
                    <a:pt x="66167" y="2122678"/>
                    <a:pt x="0" y="2056638"/>
                    <a:pt x="0" y="1975104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37903" y="7359329"/>
            <a:ext cx="2879817" cy="772287"/>
            <a:chOff x="0" y="0"/>
            <a:chExt cx="3839756" cy="10297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39760" cy="1029720"/>
            </a:xfrm>
            <a:custGeom>
              <a:avLst/>
              <a:gdLst/>
              <a:ahLst/>
              <a:cxnLst/>
              <a:rect r="r" b="b" t="t" l="l"/>
              <a:pathLst>
                <a:path h="1029720" w="3839760">
                  <a:moveTo>
                    <a:pt x="0" y="0"/>
                  </a:moveTo>
                  <a:lnTo>
                    <a:pt x="3839760" y="0"/>
                  </a:lnTo>
                  <a:lnTo>
                    <a:pt x="3839760" y="1029720"/>
                  </a:lnTo>
                  <a:lnTo>
                    <a:pt x="0" y="1029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13" r="0" b="-37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839756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郝敬（明）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617720" y="7169129"/>
            <a:ext cx="11863797" cy="1372362"/>
            <a:chOff x="0" y="0"/>
            <a:chExt cx="15818396" cy="18298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818400" cy="1829809"/>
            </a:xfrm>
            <a:custGeom>
              <a:avLst/>
              <a:gdLst/>
              <a:ahLst/>
              <a:cxnLst/>
              <a:rect r="r" b="b" t="t" l="l"/>
              <a:pathLst>
                <a:path h="1829809" w="15818400">
                  <a:moveTo>
                    <a:pt x="0" y="0"/>
                  </a:moveTo>
                  <a:lnTo>
                    <a:pt x="15818400" y="0"/>
                  </a:lnTo>
                  <a:lnTo>
                    <a:pt x="15818400" y="1829809"/>
                  </a:lnTo>
                  <a:lnTo>
                    <a:pt x="0" y="18298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477" r="0" b="-994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581839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直接質疑「許人無罪，而鄭以諸侯伐之」；反對把鄭莊公評成「有禮」。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521103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後世評點：有人把「謀伐許」讀成鄭莊公早有盤算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583" y="1344063"/>
            <a:ext cx="16184337" cy="466020"/>
            <a:chOff x="0" y="0"/>
            <a:chExt cx="21579116" cy="621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120" cy="621360"/>
            </a:xfrm>
            <a:custGeom>
              <a:avLst/>
              <a:gdLst/>
              <a:ahLst/>
              <a:cxnLst/>
              <a:rect r="r" b="b" t="t" l="l"/>
              <a:pathLst>
                <a:path h="621360" w="21579120">
                  <a:moveTo>
                    <a:pt x="0" y="0"/>
                  </a:moveTo>
                  <a:lnTo>
                    <a:pt x="21579120" y="0"/>
                  </a:lnTo>
                  <a:lnTo>
                    <a:pt x="21579120" y="621360"/>
                  </a:lnTo>
                  <a:lnTo>
                    <a:pt x="0" y="62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693" r="0" b="-62669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1579116" cy="611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6820" y="2049780"/>
            <a:ext cx="7764237" cy="7580519"/>
            <a:chOff x="0" y="0"/>
            <a:chExt cx="10352316" cy="10107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52277" cy="10107313"/>
            </a:xfrm>
            <a:custGeom>
              <a:avLst/>
              <a:gdLst/>
              <a:ahLst/>
              <a:cxnLst/>
              <a:rect r="r" b="b" t="t" l="l"/>
              <a:pathLst>
                <a:path h="10107313" w="10352277">
                  <a:moveTo>
                    <a:pt x="0" y="173791"/>
                  </a:moveTo>
                  <a:cubicBezTo>
                    <a:pt x="0" y="77860"/>
                    <a:pt x="65659" y="0"/>
                    <a:pt x="146558" y="0"/>
                  </a:cubicBezTo>
                  <a:lnTo>
                    <a:pt x="10205720" y="0"/>
                  </a:lnTo>
                  <a:cubicBezTo>
                    <a:pt x="10286746" y="0"/>
                    <a:pt x="10352277" y="77860"/>
                    <a:pt x="10352277" y="173791"/>
                  </a:cubicBezTo>
                  <a:lnTo>
                    <a:pt x="10352277" y="9933522"/>
                  </a:lnTo>
                  <a:cubicBezTo>
                    <a:pt x="10352277" y="10029604"/>
                    <a:pt x="10286619" y="10107313"/>
                    <a:pt x="10205720" y="10107313"/>
                  </a:cubicBezTo>
                  <a:lnTo>
                    <a:pt x="146558" y="10107313"/>
                  </a:lnTo>
                  <a:cubicBezTo>
                    <a:pt x="65659" y="10107314"/>
                    <a:pt x="0" y="10029604"/>
                    <a:pt x="0" y="9933522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14500" y="2428800"/>
            <a:ext cx="5108312" cy="772287"/>
            <a:chOff x="0" y="0"/>
            <a:chExt cx="6811083" cy="10297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11087" cy="1029710"/>
            </a:xfrm>
            <a:custGeom>
              <a:avLst/>
              <a:gdLst/>
              <a:ahLst/>
              <a:cxnLst/>
              <a:rect r="r" b="b" t="t" l="l"/>
              <a:pathLst>
                <a:path h="1029710" w="6811087">
                  <a:moveTo>
                    <a:pt x="0" y="0"/>
                  </a:moveTo>
                  <a:lnTo>
                    <a:pt x="6811087" y="0"/>
                  </a:lnTo>
                  <a:lnTo>
                    <a:pt x="6811087" y="1029710"/>
                  </a:lnTo>
                  <a:lnTo>
                    <a:pt x="0" y="1029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917" r="11404" b="-514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811083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馬驌《左傳事緯》（清）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4975" y="3488055"/>
            <a:ext cx="128130" cy="2144487"/>
            <a:chOff x="0" y="0"/>
            <a:chExt cx="170840" cy="28593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815" cy="2859278"/>
            </a:xfrm>
            <a:custGeom>
              <a:avLst/>
              <a:gdLst/>
              <a:ahLst/>
              <a:cxnLst/>
              <a:rect r="r" b="b" t="t" l="l"/>
              <a:pathLst>
                <a:path h="285927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2859278"/>
                  </a:lnTo>
                  <a:lnTo>
                    <a:pt x="0" y="285927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057400" y="3525117"/>
            <a:ext cx="6308817" cy="1878660"/>
            <a:chOff x="0" y="0"/>
            <a:chExt cx="8411756" cy="2504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1760" cy="2504876"/>
            </a:xfrm>
            <a:custGeom>
              <a:avLst/>
              <a:gdLst/>
              <a:ahLst/>
              <a:cxnLst/>
              <a:rect r="r" b="b" t="t" l="l"/>
              <a:pathLst>
                <a:path h="2504876" w="8411760">
                  <a:moveTo>
                    <a:pt x="0" y="0"/>
                  </a:moveTo>
                  <a:lnTo>
                    <a:pt x="8411760" y="0"/>
                  </a:lnTo>
                  <a:lnTo>
                    <a:pt x="8411760" y="2504876"/>
                  </a:lnTo>
                  <a:lnTo>
                    <a:pt x="0" y="25048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33" r="0" b="-154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411756" cy="2514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「鄭許壤地相接，在所必爭。」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又稱「會郲蓄謀，大宮授兵，其計已成」。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57400" y="5376777"/>
            <a:ext cx="6308817" cy="697916"/>
            <a:chOff x="0" y="0"/>
            <a:chExt cx="8411756" cy="9305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11760" cy="930554"/>
            </a:xfrm>
            <a:custGeom>
              <a:avLst/>
              <a:gdLst/>
              <a:ahLst/>
              <a:cxnLst/>
              <a:rect r="r" b="b" t="t" l="l"/>
              <a:pathLst>
                <a:path h="930554" w="8411760">
                  <a:moveTo>
                    <a:pt x="0" y="0"/>
                  </a:moveTo>
                  <a:lnTo>
                    <a:pt x="8411760" y="0"/>
                  </a:lnTo>
                  <a:lnTo>
                    <a:pt x="8411760" y="930554"/>
                  </a:lnTo>
                  <a:lnTo>
                    <a:pt x="0" y="930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94" r="0" b="-937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411756" cy="9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《左傳事緯》卷1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7019553"/>
            <a:ext cx="6240237" cy="2115226"/>
            <a:chOff x="0" y="0"/>
            <a:chExt cx="8320316" cy="28203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20320" cy="2820305"/>
            </a:xfrm>
            <a:custGeom>
              <a:avLst/>
              <a:gdLst/>
              <a:ahLst/>
              <a:cxnLst/>
              <a:rect r="r" b="b" t="t" l="l"/>
              <a:pathLst>
                <a:path h="2820305" w="8320320">
                  <a:moveTo>
                    <a:pt x="0" y="0"/>
                  </a:moveTo>
                  <a:lnTo>
                    <a:pt x="8320320" y="0"/>
                  </a:lnTo>
                  <a:lnTo>
                    <a:pt x="8320320" y="2820305"/>
                  </a:lnTo>
                  <a:lnTo>
                    <a:pt x="0" y="28203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37" r="0" b="149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320316" cy="2829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把「謀伐許」視為長期利益與周密計畫的一環，而非單純臨時討罪。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9260" y="2049780"/>
            <a:ext cx="7764237" cy="7580519"/>
            <a:chOff x="0" y="0"/>
            <a:chExt cx="10352316" cy="101073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52277" cy="10107313"/>
            </a:xfrm>
            <a:custGeom>
              <a:avLst/>
              <a:gdLst/>
              <a:ahLst/>
              <a:cxnLst/>
              <a:rect r="r" b="b" t="t" l="l"/>
              <a:pathLst>
                <a:path h="10107313" w="10352277">
                  <a:moveTo>
                    <a:pt x="0" y="173791"/>
                  </a:moveTo>
                  <a:cubicBezTo>
                    <a:pt x="0" y="77860"/>
                    <a:pt x="65659" y="0"/>
                    <a:pt x="146558" y="0"/>
                  </a:cubicBezTo>
                  <a:lnTo>
                    <a:pt x="10205720" y="0"/>
                  </a:lnTo>
                  <a:cubicBezTo>
                    <a:pt x="10286746" y="0"/>
                    <a:pt x="10352277" y="77860"/>
                    <a:pt x="10352277" y="173791"/>
                  </a:cubicBezTo>
                  <a:lnTo>
                    <a:pt x="10352277" y="9933522"/>
                  </a:lnTo>
                  <a:cubicBezTo>
                    <a:pt x="10352277" y="10029604"/>
                    <a:pt x="10286619" y="10107313"/>
                    <a:pt x="10205720" y="10107313"/>
                  </a:cubicBezTo>
                  <a:lnTo>
                    <a:pt x="146558" y="10107313"/>
                  </a:lnTo>
                  <a:cubicBezTo>
                    <a:pt x="65659" y="10107314"/>
                    <a:pt x="0" y="10029604"/>
                    <a:pt x="0" y="9933522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6D0C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97415" y="2428800"/>
            <a:ext cx="6217028" cy="772287"/>
            <a:chOff x="0" y="0"/>
            <a:chExt cx="8289371" cy="10297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89375" cy="1029710"/>
            </a:xfrm>
            <a:custGeom>
              <a:avLst/>
              <a:gdLst/>
              <a:ahLst/>
              <a:cxnLst/>
              <a:rect r="r" b="b" t="t" l="l"/>
              <a:pathLst>
                <a:path h="1029710" w="8289375">
                  <a:moveTo>
                    <a:pt x="0" y="0"/>
                  </a:moveTo>
                  <a:lnTo>
                    <a:pt x="8289375" y="0"/>
                  </a:lnTo>
                  <a:lnTo>
                    <a:pt x="8289375" y="1029710"/>
                  </a:lnTo>
                  <a:lnTo>
                    <a:pt x="0" y="10297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535" r="33822" b="-410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8289371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《古文觀止》（清初）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97415" y="3488055"/>
            <a:ext cx="128130" cy="1801587"/>
            <a:chOff x="0" y="0"/>
            <a:chExt cx="170840" cy="24021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815" cy="2402078"/>
            </a:xfrm>
            <a:custGeom>
              <a:avLst/>
              <a:gdLst/>
              <a:ahLst/>
              <a:cxnLst/>
              <a:rect r="r" b="b" t="t" l="l"/>
              <a:pathLst>
                <a:path h="2402078" w="170815">
                  <a:moveTo>
                    <a:pt x="0" y="0"/>
                  </a:moveTo>
                  <a:lnTo>
                    <a:pt x="170815" y="0"/>
                  </a:lnTo>
                  <a:lnTo>
                    <a:pt x="170815" y="2402078"/>
                  </a:lnTo>
                  <a:lnTo>
                    <a:pt x="0" y="2402078"/>
                  </a:lnTo>
                  <a:close/>
                </a:path>
              </a:pathLst>
            </a:custGeom>
            <a:solidFill>
              <a:srgbClr val="A14D34"/>
            </a:solidFill>
            <a:ln w="19050" cap="sq">
              <a:solidFill>
                <a:srgbClr val="A14D3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149840" y="3525117"/>
            <a:ext cx="6308817" cy="1535760"/>
            <a:chOff x="0" y="0"/>
            <a:chExt cx="8411756" cy="2047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1760" cy="2047676"/>
            </a:xfrm>
            <a:custGeom>
              <a:avLst/>
              <a:gdLst/>
              <a:ahLst/>
              <a:cxnLst/>
              <a:rect r="r" b="b" t="t" l="l"/>
              <a:pathLst>
                <a:path h="2047676" w="8411760">
                  <a:moveTo>
                    <a:pt x="0" y="0"/>
                  </a:moveTo>
                  <a:lnTo>
                    <a:pt x="8411760" y="0"/>
                  </a:lnTo>
                  <a:lnTo>
                    <a:pt x="8411760" y="2047676"/>
                  </a:lnTo>
                  <a:lnTo>
                    <a:pt x="0" y="20476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43" r="0" b="-300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411756" cy="2057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「蓋鄭與許為鄰，莊公眈眈虎視已久……」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11782" y="5305339"/>
            <a:ext cx="7336038" cy="697916"/>
            <a:chOff x="0" y="0"/>
            <a:chExt cx="9781384" cy="9305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81388" cy="930554"/>
            </a:xfrm>
            <a:custGeom>
              <a:avLst/>
              <a:gdLst/>
              <a:ahLst/>
              <a:cxnLst/>
              <a:rect r="r" b="b" t="t" l="l"/>
              <a:pathLst>
                <a:path h="930554" w="9781388">
                  <a:moveTo>
                    <a:pt x="0" y="0"/>
                  </a:moveTo>
                  <a:lnTo>
                    <a:pt x="9781388" y="0"/>
                  </a:lnTo>
                  <a:lnTo>
                    <a:pt x="9781388" y="930554"/>
                  </a:lnTo>
                  <a:lnTo>
                    <a:pt x="0" y="9305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94" r="14002" b="-937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81384" cy="9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《古文觀止・鄭莊公戒飭守臣》評語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12680" y="6612935"/>
            <a:ext cx="6240237" cy="2759038"/>
            <a:chOff x="0" y="0"/>
            <a:chExt cx="8320316" cy="36787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20320" cy="3678721"/>
            </a:xfrm>
            <a:custGeom>
              <a:avLst/>
              <a:gdLst/>
              <a:ahLst/>
              <a:cxnLst/>
              <a:rect r="r" b="b" t="t" l="l"/>
              <a:pathLst>
                <a:path h="3678721" w="8320320">
                  <a:moveTo>
                    <a:pt x="0" y="0"/>
                  </a:moveTo>
                  <a:lnTo>
                    <a:pt x="8320320" y="0"/>
                  </a:lnTo>
                  <a:lnTo>
                    <a:pt x="8320320" y="3678721"/>
                  </a:lnTo>
                  <a:lnTo>
                    <a:pt x="0" y="36787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7" r="0" b="285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320316" cy="3688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認為鄭莊公的禮讓辭令帶有掩飾與權謀性。這種評點會反過來影響我們怎麼讀最前面的「謀」。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30844"/>
            <a:ext cx="16458657" cy="906697"/>
            <a:chOff x="0" y="0"/>
            <a:chExt cx="21944876" cy="12089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208934"/>
            </a:xfrm>
            <a:custGeom>
              <a:avLst/>
              <a:gdLst/>
              <a:ahLst/>
              <a:cxnLst/>
              <a:rect r="r" b="b" t="t" l="l"/>
              <a:pathLst>
                <a:path h="1208934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208934"/>
                  </a:lnTo>
                  <a:lnTo>
                    <a:pt x="0" y="12089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27" r="0" b="-29526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20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文獻解釋：康凱淋（</a:t>
              </a:r>
              <a:r>
                <a:rPr lang="en-US" sz="4599" b="true">
                  <a:solidFill>
                    <a:srgbClr val="000000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2026）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6820" y="2049780"/>
            <a:ext cx="5775417" cy="7578690"/>
            <a:chOff x="0" y="0"/>
            <a:chExt cx="7700556" cy="10104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00518" cy="10104875"/>
            </a:xfrm>
            <a:custGeom>
              <a:avLst/>
              <a:gdLst/>
              <a:ahLst/>
              <a:cxnLst/>
              <a:rect r="r" b="b" t="t" l="l"/>
              <a:pathLst>
                <a:path h="10104875" w="7700518">
                  <a:moveTo>
                    <a:pt x="0" y="170247"/>
                  </a:moveTo>
                  <a:cubicBezTo>
                    <a:pt x="0" y="76206"/>
                    <a:pt x="65659" y="0"/>
                    <a:pt x="146685" y="0"/>
                  </a:cubicBezTo>
                  <a:lnTo>
                    <a:pt x="7553833" y="0"/>
                  </a:lnTo>
                  <a:cubicBezTo>
                    <a:pt x="7634859" y="0"/>
                    <a:pt x="7700518" y="76206"/>
                    <a:pt x="7700518" y="170247"/>
                  </a:cubicBezTo>
                  <a:lnTo>
                    <a:pt x="7700518" y="9934628"/>
                  </a:lnTo>
                  <a:cubicBezTo>
                    <a:pt x="7700518" y="10028670"/>
                    <a:pt x="7634859" y="10104875"/>
                    <a:pt x="7553833" y="10104875"/>
                  </a:cubicBezTo>
                  <a:lnTo>
                    <a:pt x="146685" y="10104875"/>
                  </a:lnTo>
                  <a:cubicBezTo>
                    <a:pt x="65659" y="10104875"/>
                    <a:pt x="0" y="10028670"/>
                    <a:pt x="0" y="9934628"/>
                  </a:cubicBezTo>
                  <a:close/>
                </a:path>
              </a:pathLst>
            </a:custGeom>
            <a:solidFill>
              <a:srgbClr val="E3EBE7"/>
            </a:solidFill>
            <a:ln w="15240" cap="sq">
              <a:solidFill>
                <a:srgbClr val="C5D5C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714500" y="2606040"/>
            <a:ext cx="4731477" cy="735102"/>
            <a:chOff x="0" y="0"/>
            <a:chExt cx="6308636" cy="9801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08640" cy="980135"/>
            </a:xfrm>
            <a:custGeom>
              <a:avLst/>
              <a:gdLst/>
              <a:ahLst/>
              <a:cxnLst/>
              <a:rect r="r" b="b" t="t" l="l"/>
              <a:pathLst>
                <a:path h="980135" w="6308640">
                  <a:moveTo>
                    <a:pt x="0" y="0"/>
                  </a:moveTo>
                  <a:lnTo>
                    <a:pt x="6308640" y="0"/>
                  </a:lnTo>
                  <a:lnTo>
                    <a:pt x="6308640" y="980135"/>
                  </a:lnTo>
                  <a:lnTo>
                    <a:pt x="0" y="9801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678" r="0" b="-7015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6308636" cy="9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康凱淋（2026）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8081" y="3577590"/>
            <a:ext cx="5592895" cy="1878102"/>
            <a:chOff x="0" y="0"/>
            <a:chExt cx="7457194" cy="25041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57198" cy="2504139"/>
            </a:xfrm>
            <a:custGeom>
              <a:avLst/>
              <a:gdLst/>
              <a:ahLst/>
              <a:cxnLst/>
              <a:rect r="r" b="b" t="t" l="l"/>
              <a:pathLst>
                <a:path h="2504139" w="7457198">
                  <a:moveTo>
                    <a:pt x="0" y="0"/>
                  </a:moveTo>
                  <a:lnTo>
                    <a:pt x="7457198" y="0"/>
                  </a:lnTo>
                  <a:lnTo>
                    <a:pt x="7457198" y="2504139"/>
                  </a:lnTo>
                  <a:lnTo>
                    <a:pt x="0" y="2504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87" r="15402" b="144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457194" cy="2513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560"/>
                </a:lnSpc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〈古文評選在經義詮釋上的價值——以《左傳》「鄭莊公入許」為例〉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6820" y="5692140"/>
            <a:ext cx="5680387" cy="4164102"/>
            <a:chOff x="0" y="0"/>
            <a:chExt cx="7573849" cy="55521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73852" cy="5552139"/>
            </a:xfrm>
            <a:custGeom>
              <a:avLst/>
              <a:gdLst/>
              <a:ahLst/>
              <a:cxnLst/>
              <a:rect r="r" b="b" t="t" l="l"/>
              <a:pathLst>
                <a:path h="5552139" w="7573852">
                  <a:moveTo>
                    <a:pt x="0" y="0"/>
                  </a:moveTo>
                  <a:lnTo>
                    <a:pt x="7573852" y="0"/>
                  </a:lnTo>
                  <a:lnTo>
                    <a:pt x="7573852" y="5552139"/>
                  </a:lnTo>
                  <a:lnTo>
                    <a:pt x="0" y="5552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7" r="16705" b="6139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573849" cy="5561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560"/>
                </a:lnSpc>
              </a:pPr>
              <a:r>
                <a:rPr lang="en-US" sz="38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《中國學術年刊》第48期（春季號）</a:t>
              </a:r>
            </a:p>
            <a:p>
              <a:pPr algn="just">
                <a:lnSpc>
                  <a:spcPts val="4560"/>
                </a:lnSpc>
              </a:pPr>
              <a:r>
                <a:rPr lang="en-US" sz="38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2026年3月，頁47–74</a:t>
              </a:r>
            </a:p>
            <a:p>
              <a:pPr algn="just">
                <a:lnSpc>
                  <a:spcPts val="4560"/>
                </a:lnSpc>
              </a:pPr>
              <a:r>
                <a:rPr lang="en-US" sz="3800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DOI: 10.6238/SIS.202603_(48-1).03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49540" y="3086099"/>
            <a:ext cx="9965612" cy="5307102"/>
            <a:chOff x="0" y="0"/>
            <a:chExt cx="13287483" cy="70761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287487" cy="7076139"/>
            </a:xfrm>
            <a:custGeom>
              <a:avLst/>
              <a:gdLst/>
              <a:ahLst/>
              <a:cxnLst/>
              <a:rect r="r" b="b" t="t" l="l"/>
              <a:pathLst>
                <a:path h="7076139" w="13287487">
                  <a:moveTo>
                    <a:pt x="0" y="0"/>
                  </a:moveTo>
                  <a:lnTo>
                    <a:pt x="13287487" y="0"/>
                  </a:lnTo>
                  <a:lnTo>
                    <a:pt x="13287487" y="7076139"/>
                  </a:lnTo>
                  <a:lnTo>
                    <a:pt x="0" y="7076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19" t="0" r="-9175" b="567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3287483" cy="708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《左傳》透過「敘事解經」逐步把入許戰事的主導重心導向鄭國。</a:t>
              </a:r>
            </a:p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「會郲—謀伐—授兵—攻許—戰後辭令」是一條連續敘事，不宜只截取最後「有禮」評語。</a:t>
              </a:r>
            </a:p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古文評選常透過擴大前後文範圍，觀察鄭莊公言行之間的張力。</a:t>
              </a:r>
            </a:p>
            <a:p>
              <a:pPr algn="l" marL="687705" indent="-343853" lvl="1">
                <a:lnSpc>
                  <a:spcPts val="4560"/>
                </a:lnSpc>
                <a:buFont typeface="Arial"/>
                <a:buChar char="•"/>
              </a:pPr>
              <a:r>
                <a:rPr lang="en-US" sz="3800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因此第一句不是前情提要而已，它啟動了後面整套「鄭莊公是否知禮」的判斷。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F697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 b="true">
                <a:solidFill>
                  <a:srgbClr val="4F697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18551"/>
            <a:ext cx="15681417" cy="76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從爭車到射殺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3708032"/>
            <a:ext cx="15923352" cy="4075170"/>
            <a:chOff x="0" y="0"/>
            <a:chExt cx="21231136" cy="54335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5433649"/>
            </a:xfrm>
            <a:custGeom>
              <a:avLst/>
              <a:gdLst/>
              <a:ahLst/>
              <a:cxnLst/>
              <a:rect r="r" b="b" t="t" l="l"/>
              <a:pathLst>
                <a:path h="5433649" w="21231225">
                  <a:moveTo>
                    <a:pt x="0" y="905681"/>
                  </a:moveTo>
                  <a:cubicBezTo>
                    <a:pt x="0" y="405520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405520"/>
                    <a:pt x="21231225" y="905681"/>
                  </a:cubicBezTo>
                  <a:lnTo>
                    <a:pt x="21231225" y="4527978"/>
                  </a:lnTo>
                  <a:cubicBezTo>
                    <a:pt x="21231225" y="5028138"/>
                    <a:pt x="20868260" y="5433649"/>
                    <a:pt x="20420585" y="5433649"/>
                  </a:cubicBezTo>
                  <a:lnTo>
                    <a:pt x="810641" y="5433649"/>
                  </a:lnTo>
                  <a:cubicBezTo>
                    <a:pt x="362966" y="5433517"/>
                    <a:pt x="0" y="5028138"/>
                    <a:pt x="0" y="4527978"/>
                  </a:cubicBezTo>
                  <a:close/>
                </a:path>
              </a:pathLst>
            </a:custGeom>
            <a:solidFill>
              <a:srgbClr val="E5ECF0"/>
            </a:solidFill>
            <a:ln w="13335" cap="sq">
              <a:solidFill>
                <a:srgbClr val="E5ECF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36297" y="4068587"/>
            <a:ext cx="237689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4F6979"/>
                </a:solidFill>
                <a:latin typeface="芫荽"/>
                <a:ea typeface="芫荽"/>
                <a:cs typeface="芫荽"/>
                <a:sym typeface="芫荽"/>
              </a:rPr>
              <a:t>原文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36297" y="4830587"/>
            <a:ext cx="14949897" cy="2572512"/>
            <a:chOff x="0" y="0"/>
            <a:chExt cx="19933196" cy="3430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33200" cy="3430020"/>
            </a:xfrm>
            <a:custGeom>
              <a:avLst/>
              <a:gdLst/>
              <a:ahLst/>
              <a:cxnLst/>
              <a:rect r="r" b="b" t="t" l="l"/>
              <a:pathLst>
                <a:path h="3430020" w="19933200">
                  <a:moveTo>
                    <a:pt x="0" y="0"/>
                  </a:moveTo>
                  <a:lnTo>
                    <a:pt x="19933200" y="0"/>
                  </a:lnTo>
                  <a:lnTo>
                    <a:pt x="19933200" y="3430020"/>
                  </a:lnTo>
                  <a:lnTo>
                    <a:pt x="0" y="34300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924" r="0" b="-5454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933196" cy="3430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公孫閼與潁考叔爭車，潁考叔挾輈以走，子都拔棘以逐之，及大逵，弗及，子都怒。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秋七月，公會齊侯、鄭伯伐許。庚辰，傅於許。潁考叔取鄭伯之旗蝥弧以先登，子都自下射之，顛。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070985" y="4461510"/>
            <a:ext cx="1574482" cy="1631633"/>
            <a:chOff x="0" y="0"/>
            <a:chExt cx="2099310" cy="21755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7179" y="48842"/>
              <a:ext cx="2003267" cy="2075697"/>
            </a:xfrm>
            <a:custGeom>
              <a:avLst/>
              <a:gdLst/>
              <a:ahLst/>
              <a:cxnLst/>
              <a:rect r="r" b="b" t="t" l="l"/>
              <a:pathLst>
                <a:path h="2075697" w="2003267">
                  <a:moveTo>
                    <a:pt x="1071691" y="253418"/>
                  </a:moveTo>
                  <a:cubicBezTo>
                    <a:pt x="1427291" y="224208"/>
                    <a:pt x="1484441" y="236908"/>
                    <a:pt x="1530161" y="250878"/>
                  </a:cubicBezTo>
                  <a:cubicBezTo>
                    <a:pt x="1566991" y="261038"/>
                    <a:pt x="1588581" y="266118"/>
                    <a:pt x="1621601" y="290248"/>
                  </a:cubicBezTo>
                  <a:cubicBezTo>
                    <a:pt x="1682561" y="333428"/>
                    <a:pt x="1777811" y="448998"/>
                    <a:pt x="1837501" y="527738"/>
                  </a:cubicBezTo>
                  <a:cubicBezTo>
                    <a:pt x="1888301" y="596318"/>
                    <a:pt x="1935291" y="652198"/>
                    <a:pt x="1963231" y="730938"/>
                  </a:cubicBezTo>
                  <a:cubicBezTo>
                    <a:pt x="1994981" y="822378"/>
                    <a:pt x="1994981" y="941758"/>
                    <a:pt x="2000061" y="1052248"/>
                  </a:cubicBezTo>
                  <a:cubicBezTo>
                    <a:pt x="2006411" y="1167818"/>
                    <a:pt x="2002601" y="1301168"/>
                    <a:pt x="1994981" y="1409118"/>
                  </a:cubicBezTo>
                  <a:cubicBezTo>
                    <a:pt x="1989901" y="1499288"/>
                    <a:pt x="1981011" y="1574218"/>
                    <a:pt x="1965771" y="1655498"/>
                  </a:cubicBezTo>
                  <a:cubicBezTo>
                    <a:pt x="1951801" y="1734238"/>
                    <a:pt x="1930211" y="1823138"/>
                    <a:pt x="1911161" y="1887908"/>
                  </a:cubicBezTo>
                  <a:cubicBezTo>
                    <a:pt x="1895921" y="1934898"/>
                    <a:pt x="1888301" y="1978078"/>
                    <a:pt x="1865441" y="2008558"/>
                  </a:cubicBezTo>
                  <a:cubicBezTo>
                    <a:pt x="1845121" y="2033958"/>
                    <a:pt x="1817181" y="2054278"/>
                    <a:pt x="1789241" y="2064438"/>
                  </a:cubicBezTo>
                  <a:cubicBezTo>
                    <a:pt x="1762571" y="2075868"/>
                    <a:pt x="1740981" y="2077138"/>
                    <a:pt x="1701611" y="2074598"/>
                  </a:cubicBezTo>
                  <a:cubicBezTo>
                    <a:pt x="1622871" y="2070788"/>
                    <a:pt x="1424751" y="2022528"/>
                    <a:pt x="1344741" y="1997128"/>
                  </a:cubicBezTo>
                  <a:cubicBezTo>
                    <a:pt x="1302831" y="1984428"/>
                    <a:pt x="1288861" y="1979348"/>
                    <a:pt x="1250761" y="1960298"/>
                  </a:cubicBezTo>
                  <a:cubicBezTo>
                    <a:pt x="1187261" y="1928548"/>
                    <a:pt x="1086931" y="1868858"/>
                    <a:pt x="1006921" y="1811708"/>
                  </a:cubicBezTo>
                  <a:cubicBezTo>
                    <a:pt x="919291" y="1748208"/>
                    <a:pt x="845631" y="1678358"/>
                    <a:pt x="749111" y="1591998"/>
                  </a:cubicBezTo>
                  <a:cubicBezTo>
                    <a:pt x="618301" y="1476428"/>
                    <a:pt x="412561" y="1288468"/>
                    <a:pt x="298261" y="1172898"/>
                  </a:cubicBezTo>
                  <a:cubicBezTo>
                    <a:pt x="223331" y="1096698"/>
                    <a:pt x="162371" y="1033198"/>
                    <a:pt x="119191" y="973508"/>
                  </a:cubicBezTo>
                  <a:cubicBezTo>
                    <a:pt x="88711" y="931598"/>
                    <a:pt x="70931" y="897308"/>
                    <a:pt x="53151" y="859208"/>
                  </a:cubicBezTo>
                  <a:cubicBezTo>
                    <a:pt x="36641" y="826188"/>
                    <a:pt x="23941" y="800788"/>
                    <a:pt x="15051" y="760148"/>
                  </a:cubicBezTo>
                  <a:cubicBezTo>
                    <a:pt x="3621" y="701728"/>
                    <a:pt x="-5269" y="601398"/>
                    <a:pt x="3621" y="535358"/>
                  </a:cubicBezTo>
                  <a:cubicBezTo>
                    <a:pt x="9971" y="483288"/>
                    <a:pt x="29021" y="438838"/>
                    <a:pt x="46801" y="395658"/>
                  </a:cubicBezTo>
                  <a:cubicBezTo>
                    <a:pt x="63311" y="357558"/>
                    <a:pt x="78551" y="327078"/>
                    <a:pt x="105221" y="290248"/>
                  </a:cubicBezTo>
                  <a:cubicBezTo>
                    <a:pt x="140781" y="239448"/>
                    <a:pt x="200471" y="170868"/>
                    <a:pt x="253811" y="123878"/>
                  </a:cubicBezTo>
                  <a:cubicBezTo>
                    <a:pt x="300801" y="83238"/>
                    <a:pt x="357951" y="41328"/>
                    <a:pt x="404941" y="22278"/>
                  </a:cubicBezTo>
                  <a:cubicBezTo>
                    <a:pt x="439231" y="7038"/>
                    <a:pt x="460821" y="4498"/>
                    <a:pt x="501461" y="1958"/>
                  </a:cubicBezTo>
                  <a:cubicBezTo>
                    <a:pt x="572581" y="-4392"/>
                    <a:pt x="735141" y="5768"/>
                    <a:pt x="791021" y="17198"/>
                  </a:cubicBezTo>
                  <a:cubicBezTo>
                    <a:pt x="815151" y="21008"/>
                    <a:pt x="827851" y="23548"/>
                    <a:pt x="840551" y="33708"/>
                  </a:cubicBezTo>
                  <a:cubicBezTo>
                    <a:pt x="854521" y="45138"/>
                    <a:pt x="865951" y="62918"/>
                    <a:pt x="869761" y="78158"/>
                  </a:cubicBezTo>
                  <a:cubicBezTo>
                    <a:pt x="873571" y="94668"/>
                    <a:pt x="873571" y="114988"/>
                    <a:pt x="865951" y="131498"/>
                  </a:cubicBezTo>
                  <a:cubicBezTo>
                    <a:pt x="855791" y="150548"/>
                    <a:pt x="827851" y="175948"/>
                    <a:pt x="806261" y="181028"/>
                  </a:cubicBezTo>
                  <a:cubicBezTo>
                    <a:pt x="783401" y="184838"/>
                    <a:pt x="747841" y="174678"/>
                    <a:pt x="731331" y="158168"/>
                  </a:cubicBezTo>
                  <a:cubicBezTo>
                    <a:pt x="714821" y="142928"/>
                    <a:pt x="703391" y="107368"/>
                    <a:pt x="708471" y="84508"/>
                  </a:cubicBezTo>
                  <a:cubicBezTo>
                    <a:pt x="712281" y="61648"/>
                    <a:pt x="735141" y="32438"/>
                    <a:pt x="755461" y="23548"/>
                  </a:cubicBezTo>
                  <a:cubicBezTo>
                    <a:pt x="777051" y="14658"/>
                    <a:pt x="813881" y="17198"/>
                    <a:pt x="832931" y="28628"/>
                  </a:cubicBezTo>
                  <a:cubicBezTo>
                    <a:pt x="853251" y="41328"/>
                    <a:pt x="871031" y="73078"/>
                    <a:pt x="872301" y="95938"/>
                  </a:cubicBezTo>
                  <a:cubicBezTo>
                    <a:pt x="873571" y="118798"/>
                    <a:pt x="854521" y="151818"/>
                    <a:pt x="838011" y="165788"/>
                  </a:cubicBezTo>
                  <a:cubicBezTo>
                    <a:pt x="825311" y="178488"/>
                    <a:pt x="810071" y="179758"/>
                    <a:pt x="788481" y="182298"/>
                  </a:cubicBezTo>
                  <a:cubicBezTo>
                    <a:pt x="749111" y="186108"/>
                    <a:pt x="675451" y="164518"/>
                    <a:pt x="619571" y="161978"/>
                  </a:cubicBezTo>
                  <a:cubicBezTo>
                    <a:pt x="564961" y="159438"/>
                    <a:pt x="504001" y="153088"/>
                    <a:pt x="458281" y="168328"/>
                  </a:cubicBezTo>
                  <a:cubicBezTo>
                    <a:pt x="420181" y="181028"/>
                    <a:pt x="393511" y="207698"/>
                    <a:pt x="363031" y="233098"/>
                  </a:cubicBezTo>
                  <a:cubicBezTo>
                    <a:pt x="330011" y="261038"/>
                    <a:pt x="298261" y="295328"/>
                    <a:pt x="267781" y="334698"/>
                  </a:cubicBezTo>
                  <a:cubicBezTo>
                    <a:pt x="230951" y="381688"/>
                    <a:pt x="182691" y="436298"/>
                    <a:pt x="163641" y="499798"/>
                  </a:cubicBezTo>
                  <a:cubicBezTo>
                    <a:pt x="142051" y="573458"/>
                    <a:pt x="145861" y="692838"/>
                    <a:pt x="158561" y="756338"/>
                  </a:cubicBezTo>
                  <a:cubicBezTo>
                    <a:pt x="164911" y="795708"/>
                    <a:pt x="180151" y="817298"/>
                    <a:pt x="196661" y="847778"/>
                  </a:cubicBezTo>
                  <a:cubicBezTo>
                    <a:pt x="215711" y="880798"/>
                    <a:pt x="234761" y="908738"/>
                    <a:pt x="266511" y="948108"/>
                  </a:cubicBezTo>
                  <a:cubicBezTo>
                    <a:pt x="316041" y="1010338"/>
                    <a:pt x="396051" y="1095428"/>
                    <a:pt x="477331" y="1175438"/>
                  </a:cubicBezTo>
                  <a:cubicBezTo>
                    <a:pt x="577661" y="1275768"/>
                    <a:pt x="721171" y="1404038"/>
                    <a:pt x="830391" y="1496748"/>
                  </a:cubicBezTo>
                  <a:cubicBezTo>
                    <a:pt x="918021" y="1572948"/>
                    <a:pt x="986601" y="1637718"/>
                    <a:pt x="1076771" y="1696138"/>
                  </a:cubicBezTo>
                  <a:cubicBezTo>
                    <a:pt x="1170751" y="1758368"/>
                    <a:pt x="1277431" y="1816788"/>
                    <a:pt x="1386651" y="1857428"/>
                  </a:cubicBezTo>
                  <a:cubicBezTo>
                    <a:pt x="1498411" y="1899338"/>
                    <a:pt x="1687641" y="1967918"/>
                    <a:pt x="1742251" y="1939978"/>
                  </a:cubicBezTo>
                  <a:cubicBezTo>
                    <a:pt x="1770191" y="1926008"/>
                    <a:pt x="1767651" y="1891718"/>
                    <a:pt x="1779081" y="1856158"/>
                  </a:cubicBezTo>
                  <a:cubicBezTo>
                    <a:pt x="1796861" y="1801548"/>
                    <a:pt x="1817181" y="1711378"/>
                    <a:pt x="1828611" y="1636448"/>
                  </a:cubicBezTo>
                  <a:cubicBezTo>
                    <a:pt x="1841311" y="1561518"/>
                    <a:pt x="1848931" y="1499288"/>
                    <a:pt x="1852741" y="1409118"/>
                  </a:cubicBezTo>
                  <a:cubicBezTo>
                    <a:pt x="1857821" y="1274498"/>
                    <a:pt x="1851471" y="1025578"/>
                    <a:pt x="1836231" y="908738"/>
                  </a:cubicBezTo>
                  <a:cubicBezTo>
                    <a:pt x="1828611" y="843968"/>
                    <a:pt x="1824801" y="810948"/>
                    <a:pt x="1803211" y="760148"/>
                  </a:cubicBezTo>
                  <a:cubicBezTo>
                    <a:pt x="1776541" y="699188"/>
                    <a:pt x="1721931" y="630608"/>
                    <a:pt x="1673671" y="570918"/>
                  </a:cubicBezTo>
                  <a:cubicBezTo>
                    <a:pt x="1624141" y="509958"/>
                    <a:pt x="1555561" y="428678"/>
                    <a:pt x="1506031" y="400738"/>
                  </a:cubicBezTo>
                  <a:cubicBezTo>
                    <a:pt x="1476821" y="382958"/>
                    <a:pt x="1453961" y="382958"/>
                    <a:pt x="1424751" y="377878"/>
                  </a:cubicBezTo>
                  <a:cubicBezTo>
                    <a:pt x="1389191" y="372798"/>
                    <a:pt x="1352361" y="372798"/>
                    <a:pt x="1307911" y="375338"/>
                  </a:cubicBezTo>
                  <a:cubicBezTo>
                    <a:pt x="1245681" y="379148"/>
                    <a:pt x="1133921" y="409628"/>
                    <a:pt x="1085661" y="405818"/>
                  </a:cubicBezTo>
                  <a:cubicBezTo>
                    <a:pt x="1061531" y="404548"/>
                    <a:pt x="1046291" y="400738"/>
                    <a:pt x="1033591" y="390578"/>
                  </a:cubicBezTo>
                  <a:cubicBezTo>
                    <a:pt x="1019621" y="381688"/>
                    <a:pt x="1008191" y="360098"/>
                    <a:pt x="1003111" y="346128"/>
                  </a:cubicBezTo>
                  <a:cubicBezTo>
                    <a:pt x="1000571" y="333428"/>
                    <a:pt x="1000571" y="320728"/>
                    <a:pt x="1004381" y="309298"/>
                  </a:cubicBezTo>
                  <a:cubicBezTo>
                    <a:pt x="1009461" y="294058"/>
                    <a:pt x="1024701" y="273738"/>
                    <a:pt x="1037401" y="264848"/>
                  </a:cubicBezTo>
                  <a:cubicBezTo>
                    <a:pt x="1047561" y="257228"/>
                    <a:pt x="1071691" y="253418"/>
                    <a:pt x="1071691" y="25341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759517" y="5913120"/>
            <a:ext cx="1342073" cy="2536508"/>
            <a:chOff x="0" y="0"/>
            <a:chExt cx="1789430" cy="3382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9763" y="50800"/>
              <a:ext cx="1698591" cy="3279734"/>
            </a:xfrm>
            <a:custGeom>
              <a:avLst/>
              <a:gdLst/>
              <a:ahLst/>
              <a:cxnLst/>
              <a:rect r="r" b="b" t="t" l="l"/>
              <a:pathLst>
                <a:path h="3279734" w="1698591">
                  <a:moveTo>
                    <a:pt x="1650767" y="64770"/>
                  </a:moveTo>
                  <a:cubicBezTo>
                    <a:pt x="1634257" y="1203960"/>
                    <a:pt x="1728237" y="1774190"/>
                    <a:pt x="1688867" y="1946910"/>
                  </a:cubicBezTo>
                  <a:cubicBezTo>
                    <a:pt x="1674897" y="2006600"/>
                    <a:pt x="1650767" y="2028190"/>
                    <a:pt x="1625367" y="2058670"/>
                  </a:cubicBezTo>
                  <a:cubicBezTo>
                    <a:pt x="1603777" y="2086610"/>
                    <a:pt x="1587267" y="2098040"/>
                    <a:pt x="1550437" y="2127250"/>
                  </a:cubicBezTo>
                  <a:cubicBezTo>
                    <a:pt x="1466617" y="2192020"/>
                    <a:pt x="1259607" y="2326640"/>
                    <a:pt x="1118637" y="2414270"/>
                  </a:cubicBezTo>
                  <a:cubicBezTo>
                    <a:pt x="990367" y="2495550"/>
                    <a:pt x="862097" y="2555240"/>
                    <a:pt x="741447" y="2639060"/>
                  </a:cubicBezTo>
                  <a:cubicBezTo>
                    <a:pt x="620797" y="2721610"/>
                    <a:pt x="505227" y="2821940"/>
                    <a:pt x="396007" y="2915920"/>
                  </a:cubicBezTo>
                  <a:cubicBezTo>
                    <a:pt x="294407" y="3003550"/>
                    <a:pt x="121687" y="3115310"/>
                    <a:pt x="106447" y="3181350"/>
                  </a:cubicBezTo>
                  <a:cubicBezTo>
                    <a:pt x="100097" y="3211830"/>
                    <a:pt x="139467" y="3244850"/>
                    <a:pt x="136927" y="3257550"/>
                  </a:cubicBezTo>
                  <a:cubicBezTo>
                    <a:pt x="135657" y="3263900"/>
                    <a:pt x="130577" y="3265170"/>
                    <a:pt x="125497" y="3268980"/>
                  </a:cubicBezTo>
                  <a:cubicBezTo>
                    <a:pt x="117877" y="3272790"/>
                    <a:pt x="107717" y="3279140"/>
                    <a:pt x="96287" y="3279140"/>
                  </a:cubicBezTo>
                  <a:cubicBezTo>
                    <a:pt x="83587" y="3280410"/>
                    <a:pt x="64537" y="3276600"/>
                    <a:pt x="51837" y="3268980"/>
                  </a:cubicBezTo>
                  <a:cubicBezTo>
                    <a:pt x="40407" y="3261360"/>
                    <a:pt x="30247" y="3244850"/>
                    <a:pt x="26437" y="3232150"/>
                  </a:cubicBezTo>
                  <a:cubicBezTo>
                    <a:pt x="22627" y="3221990"/>
                    <a:pt x="23897" y="3210560"/>
                    <a:pt x="26437" y="3201670"/>
                  </a:cubicBezTo>
                  <a:cubicBezTo>
                    <a:pt x="28977" y="3191510"/>
                    <a:pt x="30247" y="3180080"/>
                    <a:pt x="40407" y="3173730"/>
                  </a:cubicBezTo>
                  <a:cubicBezTo>
                    <a:pt x="56917" y="3163570"/>
                    <a:pt x="116607" y="3162300"/>
                    <a:pt x="131847" y="3169920"/>
                  </a:cubicBezTo>
                  <a:cubicBezTo>
                    <a:pt x="139467" y="3172460"/>
                    <a:pt x="142007" y="3178810"/>
                    <a:pt x="144547" y="3186430"/>
                  </a:cubicBezTo>
                  <a:cubicBezTo>
                    <a:pt x="149627" y="3196590"/>
                    <a:pt x="153437" y="3213100"/>
                    <a:pt x="152167" y="3225800"/>
                  </a:cubicBezTo>
                  <a:cubicBezTo>
                    <a:pt x="149627" y="3238500"/>
                    <a:pt x="143277" y="3253740"/>
                    <a:pt x="133117" y="3262630"/>
                  </a:cubicBezTo>
                  <a:cubicBezTo>
                    <a:pt x="119147" y="3272790"/>
                    <a:pt x="91207" y="3280410"/>
                    <a:pt x="74697" y="3279140"/>
                  </a:cubicBezTo>
                  <a:cubicBezTo>
                    <a:pt x="60727" y="3276600"/>
                    <a:pt x="48027" y="3267710"/>
                    <a:pt x="39137" y="3257550"/>
                  </a:cubicBezTo>
                  <a:cubicBezTo>
                    <a:pt x="31517" y="3247390"/>
                    <a:pt x="23897" y="3233420"/>
                    <a:pt x="23897" y="3219450"/>
                  </a:cubicBezTo>
                  <a:cubicBezTo>
                    <a:pt x="25167" y="3202940"/>
                    <a:pt x="35327" y="3176270"/>
                    <a:pt x="49297" y="3164840"/>
                  </a:cubicBezTo>
                  <a:cubicBezTo>
                    <a:pt x="63267" y="3154680"/>
                    <a:pt x="92477" y="3150870"/>
                    <a:pt x="108987" y="3154680"/>
                  </a:cubicBezTo>
                  <a:cubicBezTo>
                    <a:pt x="121687" y="3158490"/>
                    <a:pt x="134387" y="3169920"/>
                    <a:pt x="142007" y="3180080"/>
                  </a:cubicBezTo>
                  <a:cubicBezTo>
                    <a:pt x="148357" y="3190240"/>
                    <a:pt x="153437" y="3206750"/>
                    <a:pt x="152167" y="3219450"/>
                  </a:cubicBezTo>
                  <a:cubicBezTo>
                    <a:pt x="152167" y="3232150"/>
                    <a:pt x="145817" y="3247390"/>
                    <a:pt x="136927" y="3257550"/>
                  </a:cubicBezTo>
                  <a:cubicBezTo>
                    <a:pt x="129307" y="3267710"/>
                    <a:pt x="115337" y="3275330"/>
                    <a:pt x="102637" y="3279140"/>
                  </a:cubicBezTo>
                  <a:cubicBezTo>
                    <a:pt x="89937" y="3281680"/>
                    <a:pt x="61997" y="3275330"/>
                    <a:pt x="61997" y="3274060"/>
                  </a:cubicBezTo>
                  <a:cubicBezTo>
                    <a:pt x="61997" y="3272790"/>
                    <a:pt x="125497" y="3266440"/>
                    <a:pt x="125497" y="3268980"/>
                  </a:cubicBezTo>
                  <a:cubicBezTo>
                    <a:pt x="125497" y="3270250"/>
                    <a:pt x="95017" y="3281680"/>
                    <a:pt x="81047" y="3279140"/>
                  </a:cubicBezTo>
                  <a:cubicBezTo>
                    <a:pt x="67077" y="3277870"/>
                    <a:pt x="50567" y="3268980"/>
                    <a:pt x="40407" y="3258820"/>
                  </a:cubicBezTo>
                  <a:cubicBezTo>
                    <a:pt x="31517" y="3248660"/>
                    <a:pt x="23897" y="3230880"/>
                    <a:pt x="23897" y="3216910"/>
                  </a:cubicBezTo>
                  <a:cubicBezTo>
                    <a:pt x="23897" y="3202940"/>
                    <a:pt x="44217" y="3177540"/>
                    <a:pt x="40407" y="3173730"/>
                  </a:cubicBezTo>
                  <a:cubicBezTo>
                    <a:pt x="36597" y="3169920"/>
                    <a:pt x="4847" y="3197860"/>
                    <a:pt x="1037" y="3194050"/>
                  </a:cubicBezTo>
                  <a:cubicBezTo>
                    <a:pt x="-5313" y="3188970"/>
                    <a:pt x="18817" y="3143250"/>
                    <a:pt x="37867" y="3112770"/>
                  </a:cubicBezTo>
                  <a:cubicBezTo>
                    <a:pt x="69617" y="3065780"/>
                    <a:pt x="126767" y="3007360"/>
                    <a:pt x="186457" y="2948940"/>
                  </a:cubicBezTo>
                  <a:cubicBezTo>
                    <a:pt x="266467" y="2870200"/>
                    <a:pt x="392197" y="2766060"/>
                    <a:pt x="481097" y="2692400"/>
                  </a:cubicBezTo>
                  <a:cubicBezTo>
                    <a:pt x="552217" y="2633980"/>
                    <a:pt x="599207" y="2592070"/>
                    <a:pt x="676677" y="2537460"/>
                  </a:cubicBezTo>
                  <a:cubicBezTo>
                    <a:pt x="779547" y="2466340"/>
                    <a:pt x="933217" y="2385060"/>
                    <a:pt x="1051327" y="2310130"/>
                  </a:cubicBezTo>
                  <a:cubicBezTo>
                    <a:pt x="1159277" y="2240280"/>
                    <a:pt x="1265957" y="2170430"/>
                    <a:pt x="1357397" y="2103120"/>
                  </a:cubicBezTo>
                  <a:cubicBezTo>
                    <a:pt x="1433597" y="2045970"/>
                    <a:pt x="1519957" y="2030730"/>
                    <a:pt x="1563137" y="1934210"/>
                  </a:cubicBezTo>
                  <a:cubicBezTo>
                    <a:pt x="1648227" y="1741170"/>
                    <a:pt x="1512337" y="1200150"/>
                    <a:pt x="1505987" y="869950"/>
                  </a:cubicBezTo>
                  <a:cubicBezTo>
                    <a:pt x="1500907" y="582930"/>
                    <a:pt x="1502177" y="165100"/>
                    <a:pt x="1521227" y="64770"/>
                  </a:cubicBezTo>
                  <a:cubicBezTo>
                    <a:pt x="1526307" y="40640"/>
                    <a:pt x="1527577" y="31750"/>
                    <a:pt x="1537737" y="21590"/>
                  </a:cubicBezTo>
                  <a:cubicBezTo>
                    <a:pt x="1550437" y="10160"/>
                    <a:pt x="1577107" y="0"/>
                    <a:pt x="1593617" y="0"/>
                  </a:cubicBezTo>
                  <a:cubicBezTo>
                    <a:pt x="1608857" y="1270"/>
                    <a:pt x="1625367" y="11430"/>
                    <a:pt x="1634257" y="21590"/>
                  </a:cubicBezTo>
                  <a:cubicBezTo>
                    <a:pt x="1644417" y="33020"/>
                    <a:pt x="1650767" y="64770"/>
                    <a:pt x="1650767" y="647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988242" y="7253288"/>
            <a:ext cx="733425" cy="1369695"/>
            <a:chOff x="0" y="0"/>
            <a:chExt cx="977900" cy="1826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564" y="50139"/>
              <a:ext cx="876930" cy="1726908"/>
            </a:xfrm>
            <a:custGeom>
              <a:avLst/>
              <a:gdLst/>
              <a:ahLst/>
              <a:cxnLst/>
              <a:rect r="r" b="b" t="t" l="l"/>
              <a:pathLst>
                <a:path h="1726908" w="876930">
                  <a:moveTo>
                    <a:pt x="125966" y="47651"/>
                  </a:moveTo>
                  <a:cubicBezTo>
                    <a:pt x="327896" y="722021"/>
                    <a:pt x="390126" y="866801"/>
                    <a:pt x="446006" y="991261"/>
                  </a:cubicBezTo>
                  <a:cubicBezTo>
                    <a:pt x="492996" y="1094131"/>
                    <a:pt x="524746" y="1172871"/>
                    <a:pt x="585706" y="1269391"/>
                  </a:cubicBezTo>
                  <a:cubicBezTo>
                    <a:pt x="660636" y="1387501"/>
                    <a:pt x="853676" y="1565301"/>
                    <a:pt x="873996" y="1638961"/>
                  </a:cubicBezTo>
                  <a:cubicBezTo>
                    <a:pt x="880346" y="1665631"/>
                    <a:pt x="873996" y="1684681"/>
                    <a:pt x="865106" y="1699921"/>
                  </a:cubicBezTo>
                  <a:cubicBezTo>
                    <a:pt x="857486" y="1711351"/>
                    <a:pt x="843516" y="1720241"/>
                    <a:pt x="830816" y="1724051"/>
                  </a:cubicBezTo>
                  <a:cubicBezTo>
                    <a:pt x="818116" y="1727861"/>
                    <a:pt x="801606" y="1727861"/>
                    <a:pt x="788906" y="1722781"/>
                  </a:cubicBezTo>
                  <a:cubicBezTo>
                    <a:pt x="777476" y="1717701"/>
                    <a:pt x="763506" y="1707541"/>
                    <a:pt x="757156" y="1696111"/>
                  </a:cubicBezTo>
                  <a:cubicBezTo>
                    <a:pt x="749536" y="1685951"/>
                    <a:pt x="744456" y="1669441"/>
                    <a:pt x="746996" y="1655471"/>
                  </a:cubicBezTo>
                  <a:cubicBezTo>
                    <a:pt x="749536" y="1638961"/>
                    <a:pt x="766046" y="1613561"/>
                    <a:pt x="780016" y="1604671"/>
                  </a:cubicBezTo>
                  <a:cubicBezTo>
                    <a:pt x="791446" y="1597051"/>
                    <a:pt x="807956" y="1594511"/>
                    <a:pt x="820656" y="1597051"/>
                  </a:cubicBezTo>
                  <a:cubicBezTo>
                    <a:pt x="834626" y="1598321"/>
                    <a:pt x="849866" y="1604671"/>
                    <a:pt x="858756" y="1614831"/>
                  </a:cubicBezTo>
                  <a:cubicBezTo>
                    <a:pt x="868916" y="1628801"/>
                    <a:pt x="879076" y="1656741"/>
                    <a:pt x="876536" y="1674521"/>
                  </a:cubicBezTo>
                  <a:cubicBezTo>
                    <a:pt x="872726" y="1692301"/>
                    <a:pt x="852406" y="1713891"/>
                    <a:pt x="837166" y="1721511"/>
                  </a:cubicBezTo>
                  <a:cubicBezTo>
                    <a:pt x="825736" y="1727861"/>
                    <a:pt x="809226" y="1727861"/>
                    <a:pt x="796526" y="1725321"/>
                  </a:cubicBezTo>
                  <a:cubicBezTo>
                    <a:pt x="783826" y="1721511"/>
                    <a:pt x="776206" y="1716431"/>
                    <a:pt x="760966" y="1702461"/>
                  </a:cubicBezTo>
                  <a:cubicBezTo>
                    <a:pt x="708896" y="1654201"/>
                    <a:pt x="555226" y="1442111"/>
                    <a:pt x="481566" y="1321461"/>
                  </a:cubicBezTo>
                  <a:cubicBezTo>
                    <a:pt x="420606" y="1222401"/>
                    <a:pt x="386316" y="1143661"/>
                    <a:pt x="336786" y="1038251"/>
                  </a:cubicBezTo>
                  <a:cubicBezTo>
                    <a:pt x="278366" y="911251"/>
                    <a:pt x="213596" y="761391"/>
                    <a:pt x="158986" y="608991"/>
                  </a:cubicBezTo>
                  <a:cubicBezTo>
                    <a:pt x="99296" y="443891"/>
                    <a:pt x="4046" y="170841"/>
                    <a:pt x="236" y="83211"/>
                  </a:cubicBezTo>
                  <a:cubicBezTo>
                    <a:pt x="-1034" y="52731"/>
                    <a:pt x="2776" y="37491"/>
                    <a:pt x="12936" y="23521"/>
                  </a:cubicBezTo>
                  <a:cubicBezTo>
                    <a:pt x="21826" y="12091"/>
                    <a:pt x="39606" y="3201"/>
                    <a:pt x="53576" y="661"/>
                  </a:cubicBezTo>
                  <a:cubicBezTo>
                    <a:pt x="67546" y="-1879"/>
                    <a:pt x="86596" y="3201"/>
                    <a:pt x="98026" y="10821"/>
                  </a:cubicBezTo>
                  <a:cubicBezTo>
                    <a:pt x="110726" y="18441"/>
                    <a:pt x="125966" y="47651"/>
                    <a:pt x="125966" y="4765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645468" y="2531810"/>
            <a:ext cx="7303077" cy="5203442"/>
          </a:xfrm>
          <a:custGeom>
            <a:avLst/>
            <a:gdLst/>
            <a:ahLst/>
            <a:cxnLst/>
            <a:rect r="r" b="b" t="t" l="l"/>
            <a:pathLst>
              <a:path h="5203442" w="7303077">
                <a:moveTo>
                  <a:pt x="0" y="0"/>
                </a:moveTo>
                <a:lnTo>
                  <a:pt x="7303076" y="0"/>
                </a:lnTo>
                <a:lnTo>
                  <a:pt x="7303076" y="5203442"/>
                </a:lnTo>
                <a:lnTo>
                  <a:pt x="0" y="520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220653" y="6030278"/>
            <a:ext cx="3152775" cy="458153"/>
            <a:chOff x="0" y="0"/>
            <a:chExt cx="4203700" cy="610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308" y="50800"/>
              <a:ext cx="4102592" cy="521002"/>
            </a:xfrm>
            <a:custGeom>
              <a:avLst/>
              <a:gdLst/>
              <a:ahLst/>
              <a:cxnLst/>
              <a:rect r="r" b="b" t="t" l="l"/>
              <a:pathLst>
                <a:path h="521002" w="4102592">
                  <a:moveTo>
                    <a:pt x="66532" y="0"/>
                  </a:moveTo>
                  <a:cubicBezTo>
                    <a:pt x="279892" y="24130"/>
                    <a:pt x="409432" y="60960"/>
                    <a:pt x="568182" y="90170"/>
                  </a:cubicBezTo>
                  <a:cubicBezTo>
                    <a:pt x="829802" y="138430"/>
                    <a:pt x="1297162" y="213360"/>
                    <a:pt x="1614662" y="256540"/>
                  </a:cubicBezTo>
                  <a:cubicBezTo>
                    <a:pt x="1878822" y="293370"/>
                    <a:pt x="2089642" y="320040"/>
                    <a:pt x="2342372" y="340360"/>
                  </a:cubicBezTo>
                  <a:cubicBezTo>
                    <a:pt x="2612882" y="361950"/>
                    <a:pt x="2904982" y="373380"/>
                    <a:pt x="3188192" y="379730"/>
                  </a:cubicBezTo>
                  <a:cubicBezTo>
                    <a:pt x="3471402" y="387350"/>
                    <a:pt x="3941302" y="367030"/>
                    <a:pt x="4040362" y="383540"/>
                  </a:cubicBezTo>
                  <a:cubicBezTo>
                    <a:pt x="4060682" y="387350"/>
                    <a:pt x="4068302" y="387350"/>
                    <a:pt x="4077192" y="396240"/>
                  </a:cubicBezTo>
                  <a:cubicBezTo>
                    <a:pt x="4089892" y="407670"/>
                    <a:pt x="4102592" y="433070"/>
                    <a:pt x="4102592" y="449580"/>
                  </a:cubicBezTo>
                  <a:cubicBezTo>
                    <a:pt x="4101322" y="467360"/>
                    <a:pt x="4084812" y="490220"/>
                    <a:pt x="4072112" y="500380"/>
                  </a:cubicBezTo>
                  <a:cubicBezTo>
                    <a:pt x="4060682" y="508000"/>
                    <a:pt x="4045442" y="510540"/>
                    <a:pt x="4032742" y="509270"/>
                  </a:cubicBezTo>
                  <a:cubicBezTo>
                    <a:pt x="4020042" y="506730"/>
                    <a:pt x="4004802" y="501650"/>
                    <a:pt x="3995912" y="491490"/>
                  </a:cubicBezTo>
                  <a:cubicBezTo>
                    <a:pt x="3985752" y="480060"/>
                    <a:pt x="3974322" y="453390"/>
                    <a:pt x="3978132" y="435610"/>
                  </a:cubicBezTo>
                  <a:cubicBezTo>
                    <a:pt x="3980672" y="419100"/>
                    <a:pt x="3999722" y="397510"/>
                    <a:pt x="4013692" y="388620"/>
                  </a:cubicBezTo>
                  <a:cubicBezTo>
                    <a:pt x="4025122" y="382270"/>
                    <a:pt x="4040362" y="382270"/>
                    <a:pt x="4053062" y="384810"/>
                  </a:cubicBezTo>
                  <a:cubicBezTo>
                    <a:pt x="4065762" y="387350"/>
                    <a:pt x="4079732" y="396240"/>
                    <a:pt x="4087352" y="406400"/>
                  </a:cubicBezTo>
                  <a:cubicBezTo>
                    <a:pt x="4096242" y="415290"/>
                    <a:pt x="4101322" y="430530"/>
                    <a:pt x="4102592" y="443230"/>
                  </a:cubicBezTo>
                  <a:cubicBezTo>
                    <a:pt x="4102592" y="455930"/>
                    <a:pt x="4100052" y="471170"/>
                    <a:pt x="4091162" y="481330"/>
                  </a:cubicBezTo>
                  <a:cubicBezTo>
                    <a:pt x="4081002" y="494030"/>
                    <a:pt x="4069572" y="501650"/>
                    <a:pt x="4039092" y="509270"/>
                  </a:cubicBezTo>
                  <a:cubicBezTo>
                    <a:pt x="3898122" y="542290"/>
                    <a:pt x="3095482" y="496570"/>
                    <a:pt x="2781792" y="482600"/>
                  </a:cubicBezTo>
                  <a:cubicBezTo>
                    <a:pt x="2593832" y="474980"/>
                    <a:pt x="2498582" y="469900"/>
                    <a:pt x="2329672" y="454660"/>
                  </a:cubicBezTo>
                  <a:cubicBezTo>
                    <a:pt x="2115042" y="435610"/>
                    <a:pt x="1885172" y="411480"/>
                    <a:pt x="1595612" y="370840"/>
                  </a:cubicBezTo>
                  <a:cubicBezTo>
                    <a:pt x="1176512" y="313690"/>
                    <a:pt x="197342" y="168910"/>
                    <a:pt x="55102" y="124460"/>
                  </a:cubicBezTo>
                  <a:cubicBezTo>
                    <a:pt x="32242" y="116840"/>
                    <a:pt x="24622" y="116840"/>
                    <a:pt x="15732" y="105410"/>
                  </a:cubicBezTo>
                  <a:cubicBezTo>
                    <a:pt x="5572" y="92710"/>
                    <a:pt x="-2048" y="66040"/>
                    <a:pt x="492" y="49530"/>
                  </a:cubicBezTo>
                  <a:cubicBezTo>
                    <a:pt x="1762" y="35560"/>
                    <a:pt x="13192" y="20320"/>
                    <a:pt x="24622" y="11430"/>
                  </a:cubicBezTo>
                  <a:cubicBezTo>
                    <a:pt x="34782" y="3810"/>
                    <a:pt x="66532" y="0"/>
                    <a:pt x="66532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560570" y="4924425"/>
            <a:ext cx="189548" cy="189548"/>
            <a:chOff x="0" y="0"/>
            <a:chExt cx="252730" cy="2527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562" y="50749"/>
              <a:ext cx="148828" cy="152154"/>
            </a:xfrm>
            <a:custGeom>
              <a:avLst/>
              <a:gdLst/>
              <a:ahLst/>
              <a:cxnLst/>
              <a:rect r="r" b="b" t="t" l="l"/>
              <a:pathLst>
                <a:path h="152154" w="148828">
                  <a:moveTo>
                    <a:pt x="148828" y="52121"/>
                  </a:moveTo>
                  <a:cubicBezTo>
                    <a:pt x="146288" y="106731"/>
                    <a:pt x="123428" y="134671"/>
                    <a:pt x="108188" y="144831"/>
                  </a:cubicBezTo>
                  <a:cubicBezTo>
                    <a:pt x="96758" y="151181"/>
                    <a:pt x="85328" y="153721"/>
                    <a:pt x="71358" y="151181"/>
                  </a:cubicBezTo>
                  <a:cubicBezTo>
                    <a:pt x="53578" y="148641"/>
                    <a:pt x="23098" y="129591"/>
                    <a:pt x="11668" y="114351"/>
                  </a:cubicBezTo>
                  <a:cubicBezTo>
                    <a:pt x="2778" y="104191"/>
                    <a:pt x="-1032" y="92761"/>
                    <a:pt x="238" y="80061"/>
                  </a:cubicBezTo>
                  <a:cubicBezTo>
                    <a:pt x="1508" y="61011"/>
                    <a:pt x="16748" y="27991"/>
                    <a:pt x="29448" y="15291"/>
                  </a:cubicBezTo>
                  <a:cubicBezTo>
                    <a:pt x="38338" y="6401"/>
                    <a:pt x="49768" y="1321"/>
                    <a:pt x="62468" y="51"/>
                  </a:cubicBezTo>
                  <a:cubicBezTo>
                    <a:pt x="81518" y="-1219"/>
                    <a:pt x="129778" y="21641"/>
                    <a:pt x="129778" y="2164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122545" y="4983480"/>
            <a:ext cx="189548" cy="184785"/>
            <a:chOff x="0" y="0"/>
            <a:chExt cx="252730" cy="2463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0604" y="50746"/>
              <a:ext cx="148786" cy="148274"/>
            </a:xfrm>
            <a:custGeom>
              <a:avLst/>
              <a:gdLst/>
              <a:ahLst/>
              <a:cxnLst/>
              <a:rect r="r" b="b" t="t" l="l"/>
              <a:pathLst>
                <a:path h="148274" w="148786">
                  <a:moveTo>
                    <a:pt x="148786" y="52124"/>
                  </a:moveTo>
                  <a:cubicBezTo>
                    <a:pt x="144976" y="105464"/>
                    <a:pt x="125926" y="135944"/>
                    <a:pt x="106876" y="143564"/>
                  </a:cubicBezTo>
                  <a:cubicBezTo>
                    <a:pt x="87826" y="152454"/>
                    <a:pt x="53536" y="147374"/>
                    <a:pt x="3702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466" y="61014"/>
                    <a:pt x="15436" y="27994"/>
                    <a:pt x="29406" y="1402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632008" y="5155882"/>
            <a:ext cx="741045" cy="335280"/>
            <a:chOff x="0" y="0"/>
            <a:chExt cx="988060" cy="447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39" y="50087"/>
              <a:ext cx="886783" cy="347871"/>
            </a:xfrm>
            <a:custGeom>
              <a:avLst/>
              <a:gdLst/>
              <a:ahLst/>
              <a:cxnLst/>
              <a:rect r="r" b="b" t="t" l="l"/>
              <a:pathLst>
                <a:path h="347871" w="886783">
                  <a:moveTo>
                    <a:pt x="114461" y="9603"/>
                  </a:moveTo>
                  <a:cubicBezTo>
                    <a:pt x="259241" y="84533"/>
                    <a:pt x="423071" y="132793"/>
                    <a:pt x="504351" y="154383"/>
                  </a:cubicBezTo>
                  <a:cubicBezTo>
                    <a:pt x="553881" y="168353"/>
                    <a:pt x="580551" y="175973"/>
                    <a:pt x="627541" y="182323"/>
                  </a:cubicBezTo>
                  <a:cubicBezTo>
                    <a:pt x="687231" y="189943"/>
                    <a:pt x="790101" y="173433"/>
                    <a:pt x="833281" y="192483"/>
                  </a:cubicBezTo>
                  <a:cubicBezTo>
                    <a:pt x="858681" y="205183"/>
                    <a:pt x="876461" y="226773"/>
                    <a:pt x="882811" y="245823"/>
                  </a:cubicBezTo>
                  <a:cubicBezTo>
                    <a:pt x="889161" y="262333"/>
                    <a:pt x="886621" y="281383"/>
                    <a:pt x="880271" y="296623"/>
                  </a:cubicBezTo>
                  <a:cubicBezTo>
                    <a:pt x="875191" y="310593"/>
                    <a:pt x="861221" y="325833"/>
                    <a:pt x="848521" y="334723"/>
                  </a:cubicBezTo>
                  <a:cubicBezTo>
                    <a:pt x="834551" y="342343"/>
                    <a:pt x="815501" y="348693"/>
                    <a:pt x="798991" y="344883"/>
                  </a:cubicBezTo>
                  <a:cubicBezTo>
                    <a:pt x="778671" y="341073"/>
                    <a:pt x="749461" y="320753"/>
                    <a:pt x="738031" y="304243"/>
                  </a:cubicBezTo>
                  <a:cubicBezTo>
                    <a:pt x="729141" y="289003"/>
                    <a:pt x="726601" y="271223"/>
                    <a:pt x="730411" y="254713"/>
                  </a:cubicBezTo>
                  <a:cubicBezTo>
                    <a:pt x="735491" y="234393"/>
                    <a:pt x="755811" y="205183"/>
                    <a:pt x="774861" y="196293"/>
                  </a:cubicBezTo>
                  <a:cubicBezTo>
                    <a:pt x="795181" y="187403"/>
                    <a:pt x="829471" y="188673"/>
                    <a:pt x="848521" y="200103"/>
                  </a:cubicBezTo>
                  <a:cubicBezTo>
                    <a:pt x="866301" y="211533"/>
                    <a:pt x="882811" y="243283"/>
                    <a:pt x="886621" y="263603"/>
                  </a:cubicBezTo>
                  <a:cubicBezTo>
                    <a:pt x="887891" y="280113"/>
                    <a:pt x="881541" y="297893"/>
                    <a:pt x="872651" y="311863"/>
                  </a:cubicBezTo>
                  <a:cubicBezTo>
                    <a:pt x="863761" y="324563"/>
                    <a:pt x="852331" y="334723"/>
                    <a:pt x="832011" y="341073"/>
                  </a:cubicBezTo>
                  <a:cubicBezTo>
                    <a:pt x="798991" y="352503"/>
                    <a:pt x="735491" y="347423"/>
                    <a:pt x="680881" y="341073"/>
                  </a:cubicBezTo>
                  <a:cubicBezTo>
                    <a:pt x="613571" y="334723"/>
                    <a:pt x="536101" y="315673"/>
                    <a:pt x="461171" y="296623"/>
                  </a:cubicBezTo>
                  <a:cubicBezTo>
                    <a:pt x="378621" y="276303"/>
                    <a:pt x="280831" y="250903"/>
                    <a:pt x="204631" y="220423"/>
                  </a:cubicBezTo>
                  <a:cubicBezTo>
                    <a:pt x="137321" y="193753"/>
                    <a:pt x="53501" y="160733"/>
                    <a:pt x="23021" y="130253"/>
                  </a:cubicBezTo>
                  <a:cubicBezTo>
                    <a:pt x="7781" y="113743"/>
                    <a:pt x="1431" y="98503"/>
                    <a:pt x="161" y="81993"/>
                  </a:cubicBezTo>
                  <a:cubicBezTo>
                    <a:pt x="-1109" y="64213"/>
                    <a:pt x="5241" y="42623"/>
                    <a:pt x="15401" y="29923"/>
                  </a:cubicBezTo>
                  <a:cubicBezTo>
                    <a:pt x="25561" y="15953"/>
                    <a:pt x="44611" y="4523"/>
                    <a:pt x="61121" y="713"/>
                  </a:cubicBezTo>
                  <a:cubicBezTo>
                    <a:pt x="77631" y="-3097"/>
                    <a:pt x="114461" y="9603"/>
                    <a:pt x="114461" y="9603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786188" y="2965133"/>
            <a:ext cx="568643" cy="823912"/>
            <a:chOff x="0" y="0"/>
            <a:chExt cx="758190" cy="10985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236" y="50313"/>
              <a:ext cx="658323" cy="997598"/>
            </a:xfrm>
            <a:custGeom>
              <a:avLst/>
              <a:gdLst/>
              <a:ahLst/>
              <a:cxnLst/>
              <a:rect r="r" b="b" t="t" l="l"/>
              <a:pathLst>
                <a:path h="997598" w="658323">
                  <a:moveTo>
                    <a:pt x="236784" y="102087"/>
                  </a:moveTo>
                  <a:cubicBezTo>
                    <a:pt x="175824" y="260837"/>
                    <a:pt x="164394" y="321797"/>
                    <a:pt x="156774" y="375137"/>
                  </a:cubicBezTo>
                  <a:cubicBezTo>
                    <a:pt x="150424" y="427207"/>
                    <a:pt x="142804" y="485627"/>
                    <a:pt x="147884" y="530077"/>
                  </a:cubicBezTo>
                  <a:cubicBezTo>
                    <a:pt x="150424" y="566907"/>
                    <a:pt x="159314" y="598657"/>
                    <a:pt x="170744" y="627867"/>
                  </a:cubicBezTo>
                  <a:cubicBezTo>
                    <a:pt x="182174" y="657077"/>
                    <a:pt x="194874" y="683747"/>
                    <a:pt x="212654" y="707877"/>
                  </a:cubicBezTo>
                  <a:cubicBezTo>
                    <a:pt x="230434" y="733277"/>
                    <a:pt x="249484" y="754867"/>
                    <a:pt x="278694" y="773917"/>
                  </a:cubicBezTo>
                  <a:cubicBezTo>
                    <a:pt x="318064" y="800587"/>
                    <a:pt x="392994" y="832337"/>
                    <a:pt x="437444" y="836147"/>
                  </a:cubicBezTo>
                  <a:cubicBezTo>
                    <a:pt x="466654" y="838687"/>
                    <a:pt x="509834" y="833607"/>
                    <a:pt x="513644" y="819637"/>
                  </a:cubicBezTo>
                  <a:cubicBezTo>
                    <a:pt x="518724" y="804397"/>
                    <a:pt x="462844" y="770107"/>
                    <a:pt x="443794" y="743437"/>
                  </a:cubicBezTo>
                  <a:cubicBezTo>
                    <a:pt x="427284" y="720577"/>
                    <a:pt x="423474" y="693907"/>
                    <a:pt x="405694" y="673587"/>
                  </a:cubicBezTo>
                  <a:cubicBezTo>
                    <a:pt x="387914" y="653267"/>
                    <a:pt x="351084" y="640567"/>
                    <a:pt x="332034" y="621517"/>
                  </a:cubicBezTo>
                  <a:cubicBezTo>
                    <a:pt x="318064" y="608817"/>
                    <a:pt x="305364" y="597387"/>
                    <a:pt x="301554" y="579607"/>
                  </a:cubicBezTo>
                  <a:cubicBezTo>
                    <a:pt x="296474" y="559287"/>
                    <a:pt x="301554" y="522457"/>
                    <a:pt x="315524" y="504677"/>
                  </a:cubicBezTo>
                  <a:cubicBezTo>
                    <a:pt x="329494" y="486897"/>
                    <a:pt x="362514" y="472927"/>
                    <a:pt x="385374" y="474197"/>
                  </a:cubicBezTo>
                  <a:cubicBezTo>
                    <a:pt x="408234" y="475467"/>
                    <a:pt x="437444" y="497057"/>
                    <a:pt x="450144" y="514837"/>
                  </a:cubicBezTo>
                  <a:cubicBezTo>
                    <a:pt x="460304" y="528807"/>
                    <a:pt x="462844" y="549127"/>
                    <a:pt x="460304" y="565637"/>
                  </a:cubicBezTo>
                  <a:cubicBezTo>
                    <a:pt x="457764" y="582147"/>
                    <a:pt x="450144" y="601197"/>
                    <a:pt x="437444" y="612627"/>
                  </a:cubicBezTo>
                  <a:cubicBezTo>
                    <a:pt x="420934" y="626597"/>
                    <a:pt x="385374" y="638027"/>
                    <a:pt x="365054" y="635487"/>
                  </a:cubicBezTo>
                  <a:cubicBezTo>
                    <a:pt x="347274" y="634217"/>
                    <a:pt x="329494" y="622787"/>
                    <a:pt x="319334" y="610087"/>
                  </a:cubicBezTo>
                  <a:cubicBezTo>
                    <a:pt x="307904" y="598657"/>
                    <a:pt x="297744" y="579607"/>
                    <a:pt x="297744" y="563097"/>
                  </a:cubicBezTo>
                  <a:cubicBezTo>
                    <a:pt x="297744" y="541507"/>
                    <a:pt x="312984" y="507217"/>
                    <a:pt x="328224" y="491977"/>
                  </a:cubicBezTo>
                  <a:cubicBezTo>
                    <a:pt x="340924" y="480547"/>
                    <a:pt x="359974" y="474197"/>
                    <a:pt x="376484" y="474197"/>
                  </a:cubicBezTo>
                  <a:cubicBezTo>
                    <a:pt x="392994" y="472927"/>
                    <a:pt x="409504" y="480547"/>
                    <a:pt x="426014" y="489437"/>
                  </a:cubicBezTo>
                  <a:cubicBezTo>
                    <a:pt x="450144" y="500867"/>
                    <a:pt x="474274" y="517377"/>
                    <a:pt x="500944" y="544047"/>
                  </a:cubicBezTo>
                  <a:cubicBezTo>
                    <a:pt x="539044" y="582147"/>
                    <a:pt x="598734" y="665967"/>
                    <a:pt x="625404" y="711687"/>
                  </a:cubicBezTo>
                  <a:cubicBezTo>
                    <a:pt x="641914" y="739627"/>
                    <a:pt x="653344" y="756137"/>
                    <a:pt x="657154" y="785347"/>
                  </a:cubicBezTo>
                  <a:cubicBezTo>
                    <a:pt x="660964" y="822177"/>
                    <a:pt x="655884" y="884407"/>
                    <a:pt x="635564" y="916157"/>
                  </a:cubicBezTo>
                  <a:cubicBezTo>
                    <a:pt x="619054" y="942827"/>
                    <a:pt x="584764" y="955527"/>
                    <a:pt x="555554" y="969497"/>
                  </a:cubicBezTo>
                  <a:cubicBezTo>
                    <a:pt x="527614" y="982197"/>
                    <a:pt x="493324" y="996167"/>
                    <a:pt x="462844" y="997437"/>
                  </a:cubicBezTo>
                  <a:cubicBezTo>
                    <a:pt x="433634" y="998707"/>
                    <a:pt x="412044" y="992357"/>
                    <a:pt x="379024" y="982197"/>
                  </a:cubicBezTo>
                  <a:cubicBezTo>
                    <a:pt x="325684" y="965687"/>
                    <a:pt x="230434" y="928857"/>
                    <a:pt x="177094" y="889487"/>
                  </a:cubicBezTo>
                  <a:cubicBezTo>
                    <a:pt x="133914" y="857737"/>
                    <a:pt x="102164" y="815827"/>
                    <a:pt x="76764" y="776457"/>
                  </a:cubicBezTo>
                  <a:cubicBezTo>
                    <a:pt x="53904" y="740897"/>
                    <a:pt x="38664" y="705337"/>
                    <a:pt x="25964" y="665967"/>
                  </a:cubicBezTo>
                  <a:cubicBezTo>
                    <a:pt x="11994" y="622787"/>
                    <a:pt x="3104" y="575797"/>
                    <a:pt x="564" y="524997"/>
                  </a:cubicBezTo>
                  <a:cubicBezTo>
                    <a:pt x="-1976" y="469117"/>
                    <a:pt x="4374" y="404347"/>
                    <a:pt x="13264" y="343387"/>
                  </a:cubicBezTo>
                  <a:cubicBezTo>
                    <a:pt x="22154" y="281157"/>
                    <a:pt x="37394" y="213847"/>
                    <a:pt x="53904" y="157967"/>
                  </a:cubicBezTo>
                  <a:cubicBezTo>
                    <a:pt x="69144" y="110977"/>
                    <a:pt x="83114" y="56367"/>
                    <a:pt x="104704" y="30967"/>
                  </a:cubicBezTo>
                  <a:cubicBezTo>
                    <a:pt x="117404" y="14457"/>
                    <a:pt x="132644" y="4297"/>
                    <a:pt x="149154" y="487"/>
                  </a:cubicBezTo>
                  <a:cubicBezTo>
                    <a:pt x="169474" y="-2053"/>
                    <a:pt x="202494" y="5567"/>
                    <a:pt x="217734" y="18267"/>
                  </a:cubicBezTo>
                  <a:cubicBezTo>
                    <a:pt x="231704" y="29697"/>
                    <a:pt x="239324" y="51287"/>
                    <a:pt x="241864" y="66527"/>
                  </a:cubicBezTo>
                  <a:cubicBezTo>
                    <a:pt x="244404" y="79227"/>
                    <a:pt x="236784" y="102087"/>
                    <a:pt x="236784" y="102087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3882390" y="3252788"/>
            <a:ext cx="538162" cy="231458"/>
            <a:chOff x="0" y="0"/>
            <a:chExt cx="717550" cy="3086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557" y="50254"/>
              <a:ext cx="616193" cy="211888"/>
            </a:xfrm>
            <a:custGeom>
              <a:avLst/>
              <a:gdLst/>
              <a:ahLst/>
              <a:cxnLst/>
              <a:rect r="r" b="b" t="t" l="l"/>
              <a:pathLst>
                <a:path h="211888" w="616193">
                  <a:moveTo>
                    <a:pt x="68823" y="57696"/>
                  </a:moveTo>
                  <a:cubicBezTo>
                    <a:pt x="576823" y="4356"/>
                    <a:pt x="585713" y="13246"/>
                    <a:pt x="595873" y="24676"/>
                  </a:cubicBezTo>
                  <a:cubicBezTo>
                    <a:pt x="607303" y="36106"/>
                    <a:pt x="616193" y="53886"/>
                    <a:pt x="616193" y="70396"/>
                  </a:cubicBezTo>
                  <a:cubicBezTo>
                    <a:pt x="616193" y="90716"/>
                    <a:pt x="600953" y="123736"/>
                    <a:pt x="586983" y="137706"/>
                  </a:cubicBezTo>
                  <a:cubicBezTo>
                    <a:pt x="574283" y="149136"/>
                    <a:pt x="556503" y="156756"/>
                    <a:pt x="539993" y="155486"/>
                  </a:cubicBezTo>
                  <a:cubicBezTo>
                    <a:pt x="519673" y="154216"/>
                    <a:pt x="486653" y="137706"/>
                    <a:pt x="473953" y="122466"/>
                  </a:cubicBezTo>
                  <a:cubicBezTo>
                    <a:pt x="462523" y="109766"/>
                    <a:pt x="457443" y="90716"/>
                    <a:pt x="459983" y="74206"/>
                  </a:cubicBezTo>
                  <a:cubicBezTo>
                    <a:pt x="461253" y="53886"/>
                    <a:pt x="477763" y="22136"/>
                    <a:pt x="495543" y="10706"/>
                  </a:cubicBezTo>
                  <a:cubicBezTo>
                    <a:pt x="514593" y="-724"/>
                    <a:pt x="548883" y="-3264"/>
                    <a:pt x="569203" y="4356"/>
                  </a:cubicBezTo>
                  <a:cubicBezTo>
                    <a:pt x="589523" y="13246"/>
                    <a:pt x="611113" y="41186"/>
                    <a:pt x="614923" y="62776"/>
                  </a:cubicBezTo>
                  <a:cubicBezTo>
                    <a:pt x="618733" y="83096"/>
                    <a:pt x="606033" y="117386"/>
                    <a:pt x="593333" y="132626"/>
                  </a:cubicBezTo>
                  <a:cubicBezTo>
                    <a:pt x="581903" y="145326"/>
                    <a:pt x="566663" y="147866"/>
                    <a:pt x="547613" y="154216"/>
                  </a:cubicBezTo>
                  <a:cubicBezTo>
                    <a:pt x="519673" y="164376"/>
                    <a:pt x="484113" y="168186"/>
                    <a:pt x="435853" y="174536"/>
                  </a:cubicBezTo>
                  <a:cubicBezTo>
                    <a:pt x="345683" y="185966"/>
                    <a:pt x="112003" y="226606"/>
                    <a:pt x="51043" y="206286"/>
                  </a:cubicBezTo>
                  <a:cubicBezTo>
                    <a:pt x="26913" y="198666"/>
                    <a:pt x="18023" y="183426"/>
                    <a:pt x="9133" y="169456"/>
                  </a:cubicBezTo>
                  <a:cubicBezTo>
                    <a:pt x="2783" y="159296"/>
                    <a:pt x="-1027" y="146596"/>
                    <a:pt x="243" y="133896"/>
                  </a:cubicBezTo>
                  <a:cubicBezTo>
                    <a:pt x="1513" y="118656"/>
                    <a:pt x="7863" y="95796"/>
                    <a:pt x="19293" y="83096"/>
                  </a:cubicBezTo>
                  <a:cubicBezTo>
                    <a:pt x="30723" y="70396"/>
                    <a:pt x="68823" y="57696"/>
                    <a:pt x="68823" y="57696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910965" y="3727133"/>
            <a:ext cx="320040" cy="627698"/>
            <a:chOff x="0" y="0"/>
            <a:chExt cx="426720" cy="8369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7474" y="50800"/>
              <a:ext cx="329317" cy="736801"/>
            </a:xfrm>
            <a:custGeom>
              <a:avLst/>
              <a:gdLst/>
              <a:ahLst/>
              <a:cxnLst/>
              <a:rect r="r" b="b" t="t" l="l"/>
              <a:pathLst>
                <a:path h="736801" w="329317">
                  <a:moveTo>
                    <a:pt x="229386" y="52070"/>
                  </a:moveTo>
                  <a:cubicBezTo>
                    <a:pt x="306856" y="347980"/>
                    <a:pt x="334796" y="488950"/>
                    <a:pt x="328446" y="568960"/>
                  </a:cubicBezTo>
                  <a:cubicBezTo>
                    <a:pt x="323366" y="618490"/>
                    <a:pt x="313206" y="662940"/>
                    <a:pt x="289076" y="688340"/>
                  </a:cubicBezTo>
                  <a:cubicBezTo>
                    <a:pt x="266216" y="712470"/>
                    <a:pt x="225576" y="718820"/>
                    <a:pt x="192556" y="726440"/>
                  </a:cubicBezTo>
                  <a:cubicBezTo>
                    <a:pt x="156996" y="735330"/>
                    <a:pt x="111276" y="739140"/>
                    <a:pt x="82066" y="735330"/>
                  </a:cubicBezTo>
                  <a:cubicBezTo>
                    <a:pt x="61746" y="732790"/>
                    <a:pt x="45236" y="728980"/>
                    <a:pt x="32536" y="718820"/>
                  </a:cubicBezTo>
                  <a:cubicBezTo>
                    <a:pt x="19836" y="709930"/>
                    <a:pt x="7136" y="693420"/>
                    <a:pt x="3326" y="676910"/>
                  </a:cubicBezTo>
                  <a:cubicBezTo>
                    <a:pt x="-484" y="656590"/>
                    <a:pt x="4596" y="619760"/>
                    <a:pt x="18566" y="603250"/>
                  </a:cubicBezTo>
                  <a:cubicBezTo>
                    <a:pt x="33806" y="586740"/>
                    <a:pt x="66826" y="572770"/>
                    <a:pt x="88416" y="575310"/>
                  </a:cubicBezTo>
                  <a:cubicBezTo>
                    <a:pt x="111276" y="576580"/>
                    <a:pt x="140486" y="596900"/>
                    <a:pt x="151916" y="615950"/>
                  </a:cubicBezTo>
                  <a:cubicBezTo>
                    <a:pt x="162076" y="636270"/>
                    <a:pt x="159536" y="671830"/>
                    <a:pt x="151916" y="692150"/>
                  </a:cubicBezTo>
                  <a:cubicBezTo>
                    <a:pt x="145566" y="707390"/>
                    <a:pt x="131596" y="721360"/>
                    <a:pt x="115086" y="727710"/>
                  </a:cubicBezTo>
                  <a:cubicBezTo>
                    <a:pt x="96036" y="734060"/>
                    <a:pt x="59206" y="732790"/>
                    <a:pt x="40156" y="723900"/>
                  </a:cubicBezTo>
                  <a:cubicBezTo>
                    <a:pt x="24916" y="716280"/>
                    <a:pt x="12216" y="699770"/>
                    <a:pt x="5866" y="684530"/>
                  </a:cubicBezTo>
                  <a:cubicBezTo>
                    <a:pt x="786" y="670560"/>
                    <a:pt x="-3024" y="650240"/>
                    <a:pt x="3326" y="633730"/>
                  </a:cubicBezTo>
                  <a:cubicBezTo>
                    <a:pt x="9676" y="614680"/>
                    <a:pt x="31266" y="586740"/>
                    <a:pt x="54126" y="579120"/>
                  </a:cubicBezTo>
                  <a:cubicBezTo>
                    <a:pt x="84606" y="568960"/>
                    <a:pt x="154456" y="621030"/>
                    <a:pt x="176046" y="600710"/>
                  </a:cubicBezTo>
                  <a:cubicBezTo>
                    <a:pt x="211606" y="568960"/>
                    <a:pt x="162076" y="387350"/>
                    <a:pt x="144296" y="293370"/>
                  </a:cubicBezTo>
                  <a:cubicBezTo>
                    <a:pt x="129056" y="210820"/>
                    <a:pt x="75716" y="111760"/>
                    <a:pt x="80796" y="64770"/>
                  </a:cubicBezTo>
                  <a:cubicBezTo>
                    <a:pt x="84606" y="43180"/>
                    <a:pt x="94766" y="29210"/>
                    <a:pt x="108736" y="17780"/>
                  </a:cubicBezTo>
                  <a:cubicBezTo>
                    <a:pt x="121436" y="7620"/>
                    <a:pt x="144296" y="1270"/>
                    <a:pt x="159536" y="0"/>
                  </a:cubicBezTo>
                  <a:cubicBezTo>
                    <a:pt x="172236" y="0"/>
                    <a:pt x="183666" y="3810"/>
                    <a:pt x="195096" y="10160"/>
                  </a:cubicBezTo>
                  <a:cubicBezTo>
                    <a:pt x="207796" y="19050"/>
                    <a:pt x="229386" y="52070"/>
                    <a:pt x="229386" y="5207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715703" y="3786188"/>
            <a:ext cx="320040" cy="374332"/>
            <a:chOff x="0" y="0"/>
            <a:chExt cx="426720" cy="4991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8500" y="50800"/>
              <a:ext cx="328339" cy="397125"/>
            </a:xfrm>
            <a:custGeom>
              <a:avLst/>
              <a:gdLst/>
              <a:ahLst/>
              <a:cxnLst/>
              <a:rect r="r" b="b" t="t" l="l"/>
              <a:pathLst>
                <a:path h="397125" w="328339">
                  <a:moveTo>
                    <a:pt x="129300" y="0"/>
                  </a:moveTo>
                  <a:cubicBezTo>
                    <a:pt x="279160" y="57150"/>
                    <a:pt x="321070" y="96520"/>
                    <a:pt x="327420" y="130810"/>
                  </a:cubicBezTo>
                  <a:cubicBezTo>
                    <a:pt x="333770" y="165100"/>
                    <a:pt x="305830" y="208280"/>
                    <a:pt x="285510" y="241300"/>
                  </a:cubicBezTo>
                  <a:cubicBezTo>
                    <a:pt x="265190" y="273050"/>
                    <a:pt x="235980" y="302260"/>
                    <a:pt x="208040" y="326390"/>
                  </a:cubicBezTo>
                  <a:cubicBezTo>
                    <a:pt x="182640" y="349250"/>
                    <a:pt x="154700" y="372110"/>
                    <a:pt x="129300" y="383540"/>
                  </a:cubicBezTo>
                  <a:cubicBezTo>
                    <a:pt x="108980" y="392430"/>
                    <a:pt x="87390" y="397510"/>
                    <a:pt x="70880" y="396240"/>
                  </a:cubicBezTo>
                  <a:cubicBezTo>
                    <a:pt x="56910" y="394970"/>
                    <a:pt x="44210" y="388620"/>
                    <a:pt x="34050" y="379730"/>
                  </a:cubicBezTo>
                  <a:cubicBezTo>
                    <a:pt x="21350" y="369570"/>
                    <a:pt x="6110" y="347980"/>
                    <a:pt x="2300" y="330200"/>
                  </a:cubicBezTo>
                  <a:cubicBezTo>
                    <a:pt x="-1510" y="312420"/>
                    <a:pt x="4840" y="287020"/>
                    <a:pt x="12460" y="271780"/>
                  </a:cubicBezTo>
                  <a:cubicBezTo>
                    <a:pt x="17540" y="259080"/>
                    <a:pt x="25160" y="250190"/>
                    <a:pt x="39130" y="242570"/>
                  </a:cubicBezTo>
                  <a:cubicBezTo>
                    <a:pt x="65800" y="228600"/>
                    <a:pt x="135650" y="214630"/>
                    <a:pt x="168670" y="224790"/>
                  </a:cubicBezTo>
                  <a:cubicBezTo>
                    <a:pt x="194070" y="232410"/>
                    <a:pt x="219470" y="255270"/>
                    <a:pt x="227090" y="276860"/>
                  </a:cubicBezTo>
                  <a:cubicBezTo>
                    <a:pt x="234710" y="298450"/>
                    <a:pt x="227090" y="336550"/>
                    <a:pt x="215660" y="355600"/>
                  </a:cubicBezTo>
                  <a:cubicBezTo>
                    <a:pt x="206770" y="370840"/>
                    <a:pt x="188990" y="381000"/>
                    <a:pt x="172480" y="386080"/>
                  </a:cubicBezTo>
                  <a:cubicBezTo>
                    <a:pt x="155970" y="391160"/>
                    <a:pt x="135650" y="392430"/>
                    <a:pt x="119140" y="384810"/>
                  </a:cubicBezTo>
                  <a:cubicBezTo>
                    <a:pt x="98820" y="375920"/>
                    <a:pt x="73420" y="346710"/>
                    <a:pt x="67070" y="326390"/>
                  </a:cubicBezTo>
                  <a:cubicBezTo>
                    <a:pt x="60720" y="308610"/>
                    <a:pt x="64530" y="288290"/>
                    <a:pt x="70880" y="273050"/>
                  </a:cubicBezTo>
                  <a:cubicBezTo>
                    <a:pt x="77230" y="257810"/>
                    <a:pt x="92470" y="241300"/>
                    <a:pt x="106440" y="232410"/>
                  </a:cubicBezTo>
                  <a:cubicBezTo>
                    <a:pt x="121680" y="224790"/>
                    <a:pt x="143270" y="220980"/>
                    <a:pt x="159780" y="223520"/>
                  </a:cubicBezTo>
                  <a:cubicBezTo>
                    <a:pt x="176290" y="224790"/>
                    <a:pt x="195340" y="233680"/>
                    <a:pt x="208040" y="246380"/>
                  </a:cubicBezTo>
                  <a:cubicBezTo>
                    <a:pt x="222010" y="262890"/>
                    <a:pt x="234710" y="299720"/>
                    <a:pt x="230900" y="322580"/>
                  </a:cubicBezTo>
                  <a:cubicBezTo>
                    <a:pt x="225820" y="344170"/>
                    <a:pt x="202960" y="370840"/>
                    <a:pt x="181370" y="383540"/>
                  </a:cubicBezTo>
                  <a:cubicBezTo>
                    <a:pt x="157240" y="396240"/>
                    <a:pt x="117870" y="398780"/>
                    <a:pt x="91200" y="396240"/>
                  </a:cubicBezTo>
                  <a:cubicBezTo>
                    <a:pt x="69610" y="394970"/>
                    <a:pt x="49290" y="391160"/>
                    <a:pt x="34050" y="379730"/>
                  </a:cubicBezTo>
                  <a:cubicBezTo>
                    <a:pt x="18810" y="369570"/>
                    <a:pt x="6110" y="346710"/>
                    <a:pt x="2300" y="330200"/>
                  </a:cubicBezTo>
                  <a:cubicBezTo>
                    <a:pt x="-1510" y="316230"/>
                    <a:pt x="-240" y="302260"/>
                    <a:pt x="3570" y="289560"/>
                  </a:cubicBezTo>
                  <a:cubicBezTo>
                    <a:pt x="7380" y="276860"/>
                    <a:pt x="12460" y="266700"/>
                    <a:pt x="23890" y="255270"/>
                  </a:cubicBezTo>
                  <a:cubicBezTo>
                    <a:pt x="42940" y="236220"/>
                    <a:pt x="93740" y="219710"/>
                    <a:pt x="119140" y="196850"/>
                  </a:cubicBezTo>
                  <a:cubicBezTo>
                    <a:pt x="142000" y="176530"/>
                    <a:pt x="158510" y="123190"/>
                    <a:pt x="175020" y="125730"/>
                  </a:cubicBezTo>
                  <a:cubicBezTo>
                    <a:pt x="188990" y="127000"/>
                    <a:pt x="218200" y="187960"/>
                    <a:pt x="210580" y="196850"/>
                  </a:cubicBezTo>
                  <a:cubicBezTo>
                    <a:pt x="201690" y="207010"/>
                    <a:pt x="102630" y="166370"/>
                    <a:pt x="73420" y="146050"/>
                  </a:cubicBezTo>
                  <a:cubicBezTo>
                    <a:pt x="54370" y="133350"/>
                    <a:pt x="41670" y="120650"/>
                    <a:pt x="36590" y="104140"/>
                  </a:cubicBezTo>
                  <a:cubicBezTo>
                    <a:pt x="30240" y="83820"/>
                    <a:pt x="36590" y="48260"/>
                    <a:pt x="45480" y="31750"/>
                  </a:cubicBezTo>
                  <a:cubicBezTo>
                    <a:pt x="51830" y="19050"/>
                    <a:pt x="61990" y="11430"/>
                    <a:pt x="73420" y="6350"/>
                  </a:cubicBezTo>
                  <a:cubicBezTo>
                    <a:pt x="88660" y="0"/>
                    <a:pt x="129300" y="0"/>
                    <a:pt x="129300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258628" y="3755708"/>
            <a:ext cx="335280" cy="268605"/>
            <a:chOff x="0" y="0"/>
            <a:chExt cx="447040" cy="358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7829" y="50427"/>
              <a:ext cx="351127" cy="255836"/>
            </a:xfrm>
            <a:custGeom>
              <a:avLst/>
              <a:gdLst/>
              <a:ahLst/>
              <a:cxnLst/>
              <a:rect r="r" b="b" t="t" l="l"/>
              <a:pathLst>
                <a:path h="255836" w="351127">
                  <a:moveTo>
                    <a:pt x="135051" y="23233"/>
                  </a:moveTo>
                  <a:cubicBezTo>
                    <a:pt x="201091" y="77843"/>
                    <a:pt x="314121" y="105783"/>
                    <a:pt x="336981" y="127373"/>
                  </a:cubicBezTo>
                  <a:cubicBezTo>
                    <a:pt x="345871" y="134993"/>
                    <a:pt x="347141" y="141343"/>
                    <a:pt x="348411" y="151503"/>
                  </a:cubicBezTo>
                  <a:cubicBezTo>
                    <a:pt x="352221" y="165473"/>
                    <a:pt x="352221" y="188333"/>
                    <a:pt x="347141" y="203573"/>
                  </a:cubicBezTo>
                  <a:cubicBezTo>
                    <a:pt x="340791" y="218813"/>
                    <a:pt x="328091" y="234053"/>
                    <a:pt x="314121" y="242943"/>
                  </a:cubicBezTo>
                  <a:cubicBezTo>
                    <a:pt x="300151" y="251833"/>
                    <a:pt x="279831" y="256913"/>
                    <a:pt x="263321" y="255643"/>
                  </a:cubicBezTo>
                  <a:cubicBezTo>
                    <a:pt x="246811" y="253103"/>
                    <a:pt x="227761" y="246753"/>
                    <a:pt x="215061" y="234053"/>
                  </a:cubicBezTo>
                  <a:cubicBezTo>
                    <a:pt x="201091" y="218813"/>
                    <a:pt x="188391" y="183253"/>
                    <a:pt x="189661" y="161663"/>
                  </a:cubicBezTo>
                  <a:cubicBezTo>
                    <a:pt x="190931" y="145153"/>
                    <a:pt x="202361" y="127373"/>
                    <a:pt x="213791" y="115943"/>
                  </a:cubicBezTo>
                  <a:cubicBezTo>
                    <a:pt x="225221" y="104513"/>
                    <a:pt x="244271" y="95623"/>
                    <a:pt x="260781" y="93083"/>
                  </a:cubicBezTo>
                  <a:cubicBezTo>
                    <a:pt x="277291" y="91813"/>
                    <a:pt x="297611" y="95623"/>
                    <a:pt x="311581" y="103243"/>
                  </a:cubicBezTo>
                  <a:cubicBezTo>
                    <a:pt x="325551" y="112133"/>
                    <a:pt x="340791" y="126103"/>
                    <a:pt x="345871" y="142613"/>
                  </a:cubicBezTo>
                  <a:cubicBezTo>
                    <a:pt x="352221" y="162933"/>
                    <a:pt x="348411" y="199763"/>
                    <a:pt x="338251" y="218813"/>
                  </a:cubicBezTo>
                  <a:cubicBezTo>
                    <a:pt x="330631" y="234053"/>
                    <a:pt x="312851" y="245483"/>
                    <a:pt x="297611" y="250563"/>
                  </a:cubicBezTo>
                  <a:cubicBezTo>
                    <a:pt x="282371" y="256913"/>
                    <a:pt x="260781" y="256913"/>
                    <a:pt x="245541" y="251833"/>
                  </a:cubicBezTo>
                  <a:cubicBezTo>
                    <a:pt x="230301" y="246753"/>
                    <a:pt x="220141" y="227703"/>
                    <a:pt x="203631" y="221353"/>
                  </a:cubicBezTo>
                  <a:cubicBezTo>
                    <a:pt x="184581" y="212463"/>
                    <a:pt x="159181" y="216273"/>
                    <a:pt x="136321" y="208653"/>
                  </a:cubicBezTo>
                  <a:cubicBezTo>
                    <a:pt x="109651" y="199763"/>
                    <a:pt x="77901" y="184523"/>
                    <a:pt x="55041" y="166743"/>
                  </a:cubicBezTo>
                  <a:cubicBezTo>
                    <a:pt x="33451" y="148963"/>
                    <a:pt x="10591" y="122293"/>
                    <a:pt x="2971" y="99433"/>
                  </a:cubicBezTo>
                  <a:cubicBezTo>
                    <a:pt x="-2109" y="81653"/>
                    <a:pt x="-839" y="60063"/>
                    <a:pt x="8051" y="43553"/>
                  </a:cubicBezTo>
                  <a:cubicBezTo>
                    <a:pt x="18211" y="25773"/>
                    <a:pt x="44881" y="4183"/>
                    <a:pt x="65201" y="373"/>
                  </a:cubicBezTo>
                  <a:cubicBezTo>
                    <a:pt x="86791" y="-3437"/>
                    <a:pt x="135051" y="23233"/>
                    <a:pt x="135051" y="23233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646295" y="2789872"/>
            <a:ext cx="639128" cy="235267"/>
            <a:chOff x="0" y="0"/>
            <a:chExt cx="852170" cy="313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0800" y="48157"/>
              <a:ext cx="751060" cy="217888"/>
            </a:xfrm>
            <a:custGeom>
              <a:avLst/>
              <a:gdLst/>
              <a:ahLst/>
              <a:cxnLst/>
              <a:rect r="r" b="b" t="t" l="l"/>
              <a:pathLst>
                <a:path h="217888" w="751060">
                  <a:moveTo>
                    <a:pt x="68580" y="61063"/>
                  </a:moveTo>
                  <a:cubicBezTo>
                    <a:pt x="488950" y="33123"/>
                    <a:pt x="632460" y="-13867"/>
                    <a:pt x="690880" y="3913"/>
                  </a:cubicBezTo>
                  <a:cubicBezTo>
                    <a:pt x="720090" y="12803"/>
                    <a:pt x="736600" y="34393"/>
                    <a:pt x="745490" y="53443"/>
                  </a:cubicBezTo>
                  <a:cubicBezTo>
                    <a:pt x="753110" y="68683"/>
                    <a:pt x="751840" y="87733"/>
                    <a:pt x="748030" y="102973"/>
                  </a:cubicBezTo>
                  <a:cubicBezTo>
                    <a:pt x="742950" y="118213"/>
                    <a:pt x="731520" y="134723"/>
                    <a:pt x="718820" y="143613"/>
                  </a:cubicBezTo>
                  <a:cubicBezTo>
                    <a:pt x="706120" y="152503"/>
                    <a:pt x="687070" y="160123"/>
                    <a:pt x="670560" y="158853"/>
                  </a:cubicBezTo>
                  <a:cubicBezTo>
                    <a:pt x="651510" y="156313"/>
                    <a:pt x="619760" y="138533"/>
                    <a:pt x="607060" y="123293"/>
                  </a:cubicBezTo>
                  <a:cubicBezTo>
                    <a:pt x="596900" y="109323"/>
                    <a:pt x="593090" y="90273"/>
                    <a:pt x="594360" y="75033"/>
                  </a:cubicBezTo>
                  <a:cubicBezTo>
                    <a:pt x="595630" y="58523"/>
                    <a:pt x="601980" y="40743"/>
                    <a:pt x="614680" y="28043"/>
                  </a:cubicBezTo>
                  <a:cubicBezTo>
                    <a:pt x="628650" y="14073"/>
                    <a:pt x="662940" y="2643"/>
                    <a:pt x="683260" y="2643"/>
                  </a:cubicBezTo>
                  <a:cubicBezTo>
                    <a:pt x="699770" y="3913"/>
                    <a:pt x="716280" y="14073"/>
                    <a:pt x="727710" y="25503"/>
                  </a:cubicBezTo>
                  <a:cubicBezTo>
                    <a:pt x="739140" y="35663"/>
                    <a:pt x="748030" y="53443"/>
                    <a:pt x="750570" y="69953"/>
                  </a:cubicBezTo>
                  <a:cubicBezTo>
                    <a:pt x="751840" y="85193"/>
                    <a:pt x="750570" y="104243"/>
                    <a:pt x="740410" y="118213"/>
                  </a:cubicBezTo>
                  <a:cubicBezTo>
                    <a:pt x="730250" y="134723"/>
                    <a:pt x="712470" y="146153"/>
                    <a:pt x="679450" y="158853"/>
                  </a:cubicBezTo>
                  <a:cubicBezTo>
                    <a:pt x="582930" y="191873"/>
                    <a:pt x="157480" y="231243"/>
                    <a:pt x="68580" y="213463"/>
                  </a:cubicBezTo>
                  <a:cubicBezTo>
                    <a:pt x="41910" y="208383"/>
                    <a:pt x="31750" y="202033"/>
                    <a:pt x="20320" y="189333"/>
                  </a:cubicBezTo>
                  <a:cubicBezTo>
                    <a:pt x="8890" y="176633"/>
                    <a:pt x="1270" y="155043"/>
                    <a:pt x="0" y="137263"/>
                  </a:cubicBezTo>
                  <a:cubicBezTo>
                    <a:pt x="0" y="120753"/>
                    <a:pt x="8890" y="99163"/>
                    <a:pt x="20320" y="86463"/>
                  </a:cubicBezTo>
                  <a:cubicBezTo>
                    <a:pt x="30480" y="73763"/>
                    <a:pt x="68580" y="61063"/>
                    <a:pt x="68580" y="61063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4768215" y="2847975"/>
            <a:ext cx="301942" cy="1079182"/>
            <a:chOff x="0" y="0"/>
            <a:chExt cx="402590" cy="14389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9280" y="50153"/>
              <a:ext cx="299970" cy="1336925"/>
            </a:xfrm>
            <a:custGeom>
              <a:avLst/>
              <a:gdLst/>
              <a:ahLst/>
              <a:cxnLst/>
              <a:rect r="r" b="b" t="t" l="l"/>
              <a:pathLst>
                <a:path h="1336925" w="299970">
                  <a:moveTo>
                    <a:pt x="299970" y="76847"/>
                  </a:moveTo>
                  <a:cubicBezTo>
                    <a:pt x="286000" y="671207"/>
                    <a:pt x="219960" y="977277"/>
                    <a:pt x="190750" y="1105547"/>
                  </a:cubicBezTo>
                  <a:cubicBezTo>
                    <a:pt x="178050" y="1165237"/>
                    <a:pt x="170430" y="1195717"/>
                    <a:pt x="157730" y="1233817"/>
                  </a:cubicBezTo>
                  <a:cubicBezTo>
                    <a:pt x="146300" y="1264297"/>
                    <a:pt x="134870" y="1298587"/>
                    <a:pt x="118360" y="1315097"/>
                  </a:cubicBezTo>
                  <a:cubicBezTo>
                    <a:pt x="108200" y="1326527"/>
                    <a:pt x="94230" y="1334147"/>
                    <a:pt x="80260" y="1335417"/>
                  </a:cubicBezTo>
                  <a:cubicBezTo>
                    <a:pt x="67560" y="1337957"/>
                    <a:pt x="49780" y="1335417"/>
                    <a:pt x="37080" y="1329067"/>
                  </a:cubicBezTo>
                  <a:cubicBezTo>
                    <a:pt x="25650" y="1322717"/>
                    <a:pt x="12950" y="1310017"/>
                    <a:pt x="7870" y="1298587"/>
                  </a:cubicBezTo>
                  <a:cubicBezTo>
                    <a:pt x="1520" y="1285887"/>
                    <a:pt x="-2290" y="1269377"/>
                    <a:pt x="1520" y="1255407"/>
                  </a:cubicBezTo>
                  <a:cubicBezTo>
                    <a:pt x="6600" y="1237627"/>
                    <a:pt x="25650" y="1212227"/>
                    <a:pt x="43430" y="1205877"/>
                  </a:cubicBezTo>
                  <a:cubicBezTo>
                    <a:pt x="59940" y="1198257"/>
                    <a:pt x="90420" y="1202067"/>
                    <a:pt x="106930" y="1212227"/>
                  </a:cubicBezTo>
                  <a:cubicBezTo>
                    <a:pt x="122170" y="1222387"/>
                    <a:pt x="137410" y="1249057"/>
                    <a:pt x="137410" y="1268107"/>
                  </a:cubicBezTo>
                  <a:cubicBezTo>
                    <a:pt x="137410" y="1287157"/>
                    <a:pt x="120900" y="1313827"/>
                    <a:pt x="108200" y="1325257"/>
                  </a:cubicBezTo>
                  <a:cubicBezTo>
                    <a:pt x="96770" y="1334147"/>
                    <a:pt x="78990" y="1337957"/>
                    <a:pt x="66290" y="1336687"/>
                  </a:cubicBezTo>
                  <a:cubicBezTo>
                    <a:pt x="52320" y="1336687"/>
                    <a:pt x="35810" y="1331607"/>
                    <a:pt x="25650" y="1321447"/>
                  </a:cubicBezTo>
                  <a:cubicBezTo>
                    <a:pt x="12950" y="1308747"/>
                    <a:pt x="1520" y="1282077"/>
                    <a:pt x="1520" y="1261757"/>
                  </a:cubicBezTo>
                  <a:cubicBezTo>
                    <a:pt x="1520" y="1241437"/>
                    <a:pt x="18030" y="1227467"/>
                    <a:pt x="26920" y="1200797"/>
                  </a:cubicBezTo>
                  <a:cubicBezTo>
                    <a:pt x="43430" y="1148727"/>
                    <a:pt x="59940" y="1063637"/>
                    <a:pt x="76450" y="973467"/>
                  </a:cubicBezTo>
                  <a:cubicBezTo>
                    <a:pt x="99310" y="841387"/>
                    <a:pt x="132330" y="643267"/>
                    <a:pt x="143760" y="484517"/>
                  </a:cubicBezTo>
                  <a:cubicBezTo>
                    <a:pt x="153920" y="338467"/>
                    <a:pt x="125980" y="126377"/>
                    <a:pt x="147570" y="59067"/>
                  </a:cubicBezTo>
                  <a:cubicBezTo>
                    <a:pt x="155190" y="33667"/>
                    <a:pt x="164080" y="23507"/>
                    <a:pt x="179320" y="13347"/>
                  </a:cubicBezTo>
                  <a:cubicBezTo>
                    <a:pt x="193290" y="3187"/>
                    <a:pt x="214880" y="-1893"/>
                    <a:pt x="232660" y="647"/>
                  </a:cubicBezTo>
                  <a:cubicBezTo>
                    <a:pt x="249170" y="1917"/>
                    <a:pt x="269490" y="13347"/>
                    <a:pt x="280920" y="26047"/>
                  </a:cubicBezTo>
                  <a:cubicBezTo>
                    <a:pt x="292350" y="38747"/>
                    <a:pt x="299970" y="76847"/>
                    <a:pt x="299970" y="76847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431030" y="3440430"/>
            <a:ext cx="233362" cy="751522"/>
            <a:chOff x="0" y="0"/>
            <a:chExt cx="311150" cy="10020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6587" y="50712"/>
              <a:ext cx="213995" cy="900518"/>
            </a:xfrm>
            <a:custGeom>
              <a:avLst/>
              <a:gdLst/>
              <a:ahLst/>
              <a:cxnLst/>
              <a:rect r="r" b="b" t="t" l="l"/>
              <a:pathLst>
                <a:path h="900518" w="213995">
                  <a:moveTo>
                    <a:pt x="155343" y="75018"/>
                  </a:moveTo>
                  <a:cubicBezTo>
                    <a:pt x="178203" y="612228"/>
                    <a:pt x="180743" y="707478"/>
                    <a:pt x="190903" y="763358"/>
                  </a:cubicBezTo>
                  <a:cubicBezTo>
                    <a:pt x="197253" y="792568"/>
                    <a:pt x="216303" y="809078"/>
                    <a:pt x="213763" y="829398"/>
                  </a:cubicBezTo>
                  <a:cubicBezTo>
                    <a:pt x="211223" y="850988"/>
                    <a:pt x="193443" y="880198"/>
                    <a:pt x="175663" y="890358"/>
                  </a:cubicBezTo>
                  <a:cubicBezTo>
                    <a:pt x="156613" y="900518"/>
                    <a:pt x="122323" y="901788"/>
                    <a:pt x="103273" y="892898"/>
                  </a:cubicBezTo>
                  <a:cubicBezTo>
                    <a:pt x="84223" y="884008"/>
                    <a:pt x="65173" y="856068"/>
                    <a:pt x="61363" y="835748"/>
                  </a:cubicBezTo>
                  <a:cubicBezTo>
                    <a:pt x="58823" y="814158"/>
                    <a:pt x="70253" y="782408"/>
                    <a:pt x="85493" y="768438"/>
                  </a:cubicBezTo>
                  <a:cubicBezTo>
                    <a:pt x="100733" y="753198"/>
                    <a:pt x="135023" y="745578"/>
                    <a:pt x="155343" y="749388"/>
                  </a:cubicBezTo>
                  <a:cubicBezTo>
                    <a:pt x="175663" y="754468"/>
                    <a:pt x="201063" y="777328"/>
                    <a:pt x="208683" y="797648"/>
                  </a:cubicBezTo>
                  <a:cubicBezTo>
                    <a:pt x="216303" y="816698"/>
                    <a:pt x="211223" y="850988"/>
                    <a:pt x="199793" y="868768"/>
                  </a:cubicBezTo>
                  <a:cubicBezTo>
                    <a:pt x="187093" y="885278"/>
                    <a:pt x="156613" y="900518"/>
                    <a:pt x="136293" y="900518"/>
                  </a:cubicBezTo>
                  <a:cubicBezTo>
                    <a:pt x="114703" y="900518"/>
                    <a:pt x="88033" y="884008"/>
                    <a:pt x="72793" y="866228"/>
                  </a:cubicBezTo>
                  <a:cubicBezTo>
                    <a:pt x="55013" y="844638"/>
                    <a:pt x="51203" y="821778"/>
                    <a:pt x="42313" y="777328"/>
                  </a:cubicBezTo>
                  <a:cubicBezTo>
                    <a:pt x="18183" y="655408"/>
                    <a:pt x="-11027" y="174078"/>
                    <a:pt x="4213" y="75018"/>
                  </a:cubicBezTo>
                  <a:cubicBezTo>
                    <a:pt x="8023" y="48348"/>
                    <a:pt x="10563" y="36918"/>
                    <a:pt x="23263" y="25488"/>
                  </a:cubicBezTo>
                  <a:cubicBezTo>
                    <a:pt x="37233" y="11518"/>
                    <a:pt x="68983" y="-1182"/>
                    <a:pt x="89303" y="88"/>
                  </a:cubicBezTo>
                  <a:cubicBezTo>
                    <a:pt x="107083" y="1358"/>
                    <a:pt x="126133" y="12788"/>
                    <a:pt x="136293" y="25488"/>
                  </a:cubicBezTo>
                  <a:cubicBezTo>
                    <a:pt x="147723" y="38188"/>
                    <a:pt x="155343" y="75018"/>
                    <a:pt x="155343" y="7501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675822" y="3267075"/>
            <a:ext cx="866775" cy="822007"/>
            <a:chOff x="0" y="0"/>
            <a:chExt cx="1155700" cy="10960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608" y="49722"/>
              <a:ext cx="1054372" cy="995010"/>
            </a:xfrm>
            <a:custGeom>
              <a:avLst/>
              <a:gdLst/>
              <a:ahLst/>
              <a:cxnLst/>
              <a:rect r="r" b="b" t="t" l="l"/>
              <a:pathLst>
                <a:path h="995010" w="1054372">
                  <a:moveTo>
                    <a:pt x="58612" y="116648"/>
                  </a:moveTo>
                  <a:cubicBezTo>
                    <a:pt x="494222" y="4888"/>
                    <a:pt x="565342" y="-4002"/>
                    <a:pt x="639002" y="1078"/>
                  </a:cubicBezTo>
                  <a:cubicBezTo>
                    <a:pt x="711392" y="6158"/>
                    <a:pt x="797752" y="31558"/>
                    <a:pt x="851092" y="51878"/>
                  </a:cubicBezTo>
                  <a:cubicBezTo>
                    <a:pt x="885382" y="65848"/>
                    <a:pt x="908242" y="76008"/>
                    <a:pt x="932372" y="95058"/>
                  </a:cubicBezTo>
                  <a:cubicBezTo>
                    <a:pt x="959042" y="116648"/>
                    <a:pt x="986982" y="145858"/>
                    <a:pt x="1003492" y="173798"/>
                  </a:cubicBezTo>
                  <a:cubicBezTo>
                    <a:pt x="1017462" y="197928"/>
                    <a:pt x="1021272" y="215708"/>
                    <a:pt x="1028892" y="249998"/>
                  </a:cubicBezTo>
                  <a:cubicBezTo>
                    <a:pt x="1041592" y="313498"/>
                    <a:pt x="1055562" y="443038"/>
                    <a:pt x="1054292" y="529398"/>
                  </a:cubicBezTo>
                  <a:cubicBezTo>
                    <a:pt x="1053022" y="606868"/>
                    <a:pt x="1039052" y="676718"/>
                    <a:pt x="1026352" y="745298"/>
                  </a:cubicBezTo>
                  <a:cubicBezTo>
                    <a:pt x="1014922" y="810068"/>
                    <a:pt x="1013652" y="887538"/>
                    <a:pt x="981902" y="929448"/>
                  </a:cubicBezTo>
                  <a:cubicBezTo>
                    <a:pt x="953962" y="965008"/>
                    <a:pt x="899352" y="990408"/>
                    <a:pt x="861252" y="994218"/>
                  </a:cubicBezTo>
                  <a:cubicBezTo>
                    <a:pt x="830772" y="998028"/>
                    <a:pt x="806642" y="987868"/>
                    <a:pt x="774892" y="968818"/>
                  </a:cubicBezTo>
                  <a:cubicBezTo>
                    <a:pt x="722822" y="940878"/>
                    <a:pt x="627572" y="845628"/>
                    <a:pt x="598362" y="806258"/>
                  </a:cubicBezTo>
                  <a:cubicBezTo>
                    <a:pt x="584392" y="788478"/>
                    <a:pt x="576772" y="778318"/>
                    <a:pt x="575502" y="761808"/>
                  </a:cubicBezTo>
                  <a:cubicBezTo>
                    <a:pt x="574232" y="741488"/>
                    <a:pt x="584392" y="707198"/>
                    <a:pt x="599632" y="693228"/>
                  </a:cubicBezTo>
                  <a:cubicBezTo>
                    <a:pt x="616142" y="677988"/>
                    <a:pt x="649162" y="670368"/>
                    <a:pt x="670752" y="674178"/>
                  </a:cubicBezTo>
                  <a:cubicBezTo>
                    <a:pt x="691072" y="679258"/>
                    <a:pt x="716472" y="704658"/>
                    <a:pt x="725362" y="722438"/>
                  </a:cubicBezTo>
                  <a:cubicBezTo>
                    <a:pt x="731712" y="737678"/>
                    <a:pt x="732982" y="756728"/>
                    <a:pt x="726632" y="771968"/>
                  </a:cubicBezTo>
                  <a:cubicBezTo>
                    <a:pt x="720282" y="791018"/>
                    <a:pt x="696152" y="817688"/>
                    <a:pt x="675832" y="824038"/>
                  </a:cubicBezTo>
                  <a:cubicBezTo>
                    <a:pt x="655512" y="830388"/>
                    <a:pt x="621222" y="822768"/>
                    <a:pt x="604712" y="811338"/>
                  </a:cubicBezTo>
                  <a:cubicBezTo>
                    <a:pt x="590742" y="802448"/>
                    <a:pt x="581852" y="784668"/>
                    <a:pt x="578042" y="769428"/>
                  </a:cubicBezTo>
                  <a:cubicBezTo>
                    <a:pt x="572962" y="754188"/>
                    <a:pt x="575502" y="735138"/>
                    <a:pt x="580582" y="719898"/>
                  </a:cubicBezTo>
                  <a:cubicBezTo>
                    <a:pt x="586932" y="705928"/>
                    <a:pt x="599632" y="690688"/>
                    <a:pt x="613602" y="683068"/>
                  </a:cubicBezTo>
                  <a:cubicBezTo>
                    <a:pt x="627572" y="675448"/>
                    <a:pt x="646622" y="671638"/>
                    <a:pt x="661862" y="672908"/>
                  </a:cubicBezTo>
                  <a:cubicBezTo>
                    <a:pt x="677102" y="675448"/>
                    <a:pt x="688532" y="681798"/>
                    <a:pt x="706312" y="694498"/>
                  </a:cubicBezTo>
                  <a:cubicBezTo>
                    <a:pt x="743142" y="721168"/>
                    <a:pt x="821882" y="860868"/>
                    <a:pt x="852362" y="851978"/>
                  </a:cubicBezTo>
                  <a:cubicBezTo>
                    <a:pt x="885382" y="841818"/>
                    <a:pt x="885382" y="698308"/>
                    <a:pt x="891732" y="627188"/>
                  </a:cubicBezTo>
                  <a:cubicBezTo>
                    <a:pt x="898082" y="564958"/>
                    <a:pt x="899352" y="510348"/>
                    <a:pt x="896812" y="450658"/>
                  </a:cubicBezTo>
                  <a:cubicBezTo>
                    <a:pt x="893002" y="389698"/>
                    <a:pt x="891732" y="308418"/>
                    <a:pt x="872682" y="265238"/>
                  </a:cubicBezTo>
                  <a:cubicBezTo>
                    <a:pt x="859982" y="237298"/>
                    <a:pt x="846012" y="222058"/>
                    <a:pt x="819342" y="205548"/>
                  </a:cubicBezTo>
                  <a:cubicBezTo>
                    <a:pt x="779972" y="180148"/>
                    <a:pt x="689802" y="161098"/>
                    <a:pt x="641542" y="154748"/>
                  </a:cubicBezTo>
                  <a:cubicBezTo>
                    <a:pt x="607252" y="149668"/>
                    <a:pt x="589472" y="152208"/>
                    <a:pt x="555182" y="156018"/>
                  </a:cubicBezTo>
                  <a:cubicBezTo>
                    <a:pt x="500572" y="159828"/>
                    <a:pt x="420562" y="169988"/>
                    <a:pt x="348172" y="186498"/>
                  </a:cubicBezTo>
                  <a:cubicBezTo>
                    <a:pt x="263082" y="205548"/>
                    <a:pt x="131002" y="270318"/>
                    <a:pt x="76392" y="267778"/>
                  </a:cubicBezTo>
                  <a:cubicBezTo>
                    <a:pt x="52262" y="267778"/>
                    <a:pt x="38292" y="260158"/>
                    <a:pt x="25592" y="248728"/>
                  </a:cubicBezTo>
                  <a:cubicBezTo>
                    <a:pt x="12892" y="237298"/>
                    <a:pt x="2732" y="216978"/>
                    <a:pt x="192" y="200468"/>
                  </a:cubicBezTo>
                  <a:cubicBezTo>
                    <a:pt x="-1078" y="183958"/>
                    <a:pt x="4002" y="162368"/>
                    <a:pt x="14162" y="148398"/>
                  </a:cubicBezTo>
                  <a:cubicBezTo>
                    <a:pt x="23052" y="134428"/>
                    <a:pt x="58612" y="116648"/>
                    <a:pt x="58612" y="11664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694872" y="3488055"/>
            <a:ext cx="722948" cy="326708"/>
            <a:chOff x="0" y="0"/>
            <a:chExt cx="963930" cy="4356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7368" y="47744"/>
              <a:ext cx="864937" cy="335796"/>
            </a:xfrm>
            <a:custGeom>
              <a:avLst/>
              <a:gdLst/>
              <a:ahLst/>
              <a:cxnLst/>
              <a:rect r="r" b="b" t="t" l="l"/>
              <a:pathLst>
                <a:path h="335796" w="864937">
                  <a:moveTo>
                    <a:pt x="60582" y="116086"/>
                  </a:moveTo>
                  <a:cubicBezTo>
                    <a:pt x="541912" y="28456"/>
                    <a:pt x="755272" y="-18534"/>
                    <a:pt x="820042" y="6866"/>
                  </a:cubicBezTo>
                  <a:cubicBezTo>
                    <a:pt x="845442" y="18296"/>
                    <a:pt x="858142" y="39886"/>
                    <a:pt x="863222" y="57666"/>
                  </a:cubicBezTo>
                  <a:cubicBezTo>
                    <a:pt x="867032" y="74176"/>
                    <a:pt x="864492" y="94496"/>
                    <a:pt x="855602" y="108466"/>
                  </a:cubicBezTo>
                  <a:cubicBezTo>
                    <a:pt x="845442" y="123706"/>
                    <a:pt x="821312" y="126246"/>
                    <a:pt x="799722" y="145296"/>
                  </a:cubicBezTo>
                  <a:cubicBezTo>
                    <a:pt x="762892" y="178316"/>
                    <a:pt x="699392" y="282456"/>
                    <a:pt x="665102" y="311666"/>
                  </a:cubicBezTo>
                  <a:cubicBezTo>
                    <a:pt x="649862" y="325636"/>
                    <a:pt x="640972" y="333256"/>
                    <a:pt x="625732" y="334526"/>
                  </a:cubicBezTo>
                  <a:cubicBezTo>
                    <a:pt x="606682" y="337066"/>
                    <a:pt x="574932" y="326906"/>
                    <a:pt x="560962" y="315476"/>
                  </a:cubicBezTo>
                  <a:cubicBezTo>
                    <a:pt x="548262" y="305316"/>
                    <a:pt x="541912" y="288806"/>
                    <a:pt x="539372" y="273566"/>
                  </a:cubicBezTo>
                  <a:cubicBezTo>
                    <a:pt x="538102" y="259596"/>
                    <a:pt x="539372" y="241816"/>
                    <a:pt x="548262" y="229116"/>
                  </a:cubicBezTo>
                  <a:cubicBezTo>
                    <a:pt x="558422" y="212606"/>
                    <a:pt x="586362" y="194826"/>
                    <a:pt x="605412" y="192286"/>
                  </a:cubicBezTo>
                  <a:cubicBezTo>
                    <a:pt x="620652" y="189746"/>
                    <a:pt x="637162" y="193556"/>
                    <a:pt x="649862" y="202446"/>
                  </a:cubicBezTo>
                  <a:cubicBezTo>
                    <a:pt x="665102" y="213876"/>
                    <a:pt x="682882" y="241816"/>
                    <a:pt x="682882" y="260866"/>
                  </a:cubicBezTo>
                  <a:cubicBezTo>
                    <a:pt x="684152" y="281186"/>
                    <a:pt x="667642" y="310396"/>
                    <a:pt x="653672" y="321826"/>
                  </a:cubicBezTo>
                  <a:cubicBezTo>
                    <a:pt x="642242" y="331986"/>
                    <a:pt x="624462" y="335796"/>
                    <a:pt x="609222" y="335796"/>
                  </a:cubicBezTo>
                  <a:cubicBezTo>
                    <a:pt x="595252" y="335796"/>
                    <a:pt x="577472" y="329446"/>
                    <a:pt x="566042" y="320556"/>
                  </a:cubicBezTo>
                  <a:cubicBezTo>
                    <a:pt x="554612" y="311666"/>
                    <a:pt x="544452" y="295156"/>
                    <a:pt x="541912" y="281186"/>
                  </a:cubicBezTo>
                  <a:cubicBezTo>
                    <a:pt x="538102" y="267216"/>
                    <a:pt x="536832" y="254516"/>
                    <a:pt x="544452" y="235466"/>
                  </a:cubicBezTo>
                  <a:cubicBezTo>
                    <a:pt x="560962" y="194826"/>
                    <a:pt x="640972" y="109736"/>
                    <a:pt x="686692" y="69096"/>
                  </a:cubicBezTo>
                  <a:cubicBezTo>
                    <a:pt x="720982" y="38616"/>
                    <a:pt x="760352" y="8136"/>
                    <a:pt x="785752" y="3056"/>
                  </a:cubicBezTo>
                  <a:cubicBezTo>
                    <a:pt x="799722" y="-754"/>
                    <a:pt x="808612" y="1786"/>
                    <a:pt x="820042" y="6866"/>
                  </a:cubicBezTo>
                  <a:cubicBezTo>
                    <a:pt x="832742" y="13216"/>
                    <a:pt x="849252" y="29726"/>
                    <a:pt x="856872" y="42426"/>
                  </a:cubicBezTo>
                  <a:cubicBezTo>
                    <a:pt x="863222" y="52586"/>
                    <a:pt x="864492" y="64016"/>
                    <a:pt x="864492" y="75446"/>
                  </a:cubicBezTo>
                  <a:cubicBezTo>
                    <a:pt x="864492" y="86876"/>
                    <a:pt x="861952" y="98306"/>
                    <a:pt x="855602" y="108466"/>
                  </a:cubicBezTo>
                  <a:cubicBezTo>
                    <a:pt x="847982" y="121166"/>
                    <a:pt x="837822" y="131326"/>
                    <a:pt x="816232" y="141486"/>
                  </a:cubicBezTo>
                  <a:cubicBezTo>
                    <a:pt x="757812" y="165616"/>
                    <a:pt x="568582" y="160536"/>
                    <a:pt x="446662" y="180856"/>
                  </a:cubicBezTo>
                  <a:cubicBezTo>
                    <a:pt x="324742" y="201176"/>
                    <a:pt x="152022" y="258326"/>
                    <a:pt x="85982" y="259596"/>
                  </a:cubicBezTo>
                  <a:cubicBezTo>
                    <a:pt x="61852" y="260866"/>
                    <a:pt x="49152" y="258326"/>
                    <a:pt x="35182" y="250706"/>
                  </a:cubicBezTo>
                  <a:cubicBezTo>
                    <a:pt x="21212" y="241816"/>
                    <a:pt x="8512" y="225306"/>
                    <a:pt x="3432" y="208796"/>
                  </a:cubicBezTo>
                  <a:cubicBezTo>
                    <a:pt x="-1648" y="193556"/>
                    <a:pt x="-1648" y="171966"/>
                    <a:pt x="7242" y="157996"/>
                  </a:cubicBezTo>
                  <a:cubicBezTo>
                    <a:pt x="16132" y="140216"/>
                    <a:pt x="60582" y="116086"/>
                    <a:pt x="60582" y="116086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608195" y="3751897"/>
            <a:ext cx="612457" cy="390525"/>
            <a:chOff x="0" y="0"/>
            <a:chExt cx="816610" cy="520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6990" y="49530"/>
              <a:ext cx="718675" cy="424665"/>
            </a:xfrm>
            <a:custGeom>
              <a:avLst/>
              <a:gdLst/>
              <a:ahLst/>
              <a:cxnLst/>
              <a:rect r="r" b="b" t="t" l="l"/>
              <a:pathLst>
                <a:path h="424665" w="718675">
                  <a:moveTo>
                    <a:pt x="38100" y="288290"/>
                  </a:moveTo>
                  <a:cubicBezTo>
                    <a:pt x="656590" y="-2540"/>
                    <a:pt x="668020" y="1270"/>
                    <a:pt x="681990" y="8890"/>
                  </a:cubicBezTo>
                  <a:cubicBezTo>
                    <a:pt x="695960" y="16510"/>
                    <a:pt x="709930" y="33020"/>
                    <a:pt x="715010" y="48260"/>
                  </a:cubicBezTo>
                  <a:cubicBezTo>
                    <a:pt x="720090" y="63500"/>
                    <a:pt x="720090" y="85090"/>
                    <a:pt x="713740" y="99060"/>
                  </a:cubicBezTo>
                  <a:cubicBezTo>
                    <a:pt x="707390" y="114300"/>
                    <a:pt x="684530" y="121920"/>
                    <a:pt x="678180" y="137160"/>
                  </a:cubicBezTo>
                  <a:cubicBezTo>
                    <a:pt x="671830" y="153670"/>
                    <a:pt x="683260" y="180340"/>
                    <a:pt x="675640" y="195580"/>
                  </a:cubicBezTo>
                  <a:cubicBezTo>
                    <a:pt x="669290" y="209550"/>
                    <a:pt x="655320" y="220980"/>
                    <a:pt x="641350" y="227330"/>
                  </a:cubicBezTo>
                  <a:cubicBezTo>
                    <a:pt x="628650" y="233680"/>
                    <a:pt x="609600" y="234950"/>
                    <a:pt x="595630" y="232410"/>
                  </a:cubicBezTo>
                  <a:cubicBezTo>
                    <a:pt x="581660" y="228600"/>
                    <a:pt x="565150" y="219710"/>
                    <a:pt x="556260" y="208280"/>
                  </a:cubicBezTo>
                  <a:cubicBezTo>
                    <a:pt x="546100" y="196850"/>
                    <a:pt x="538480" y="180340"/>
                    <a:pt x="538480" y="165100"/>
                  </a:cubicBezTo>
                  <a:cubicBezTo>
                    <a:pt x="539750" y="146050"/>
                    <a:pt x="551180" y="115570"/>
                    <a:pt x="567690" y="102870"/>
                  </a:cubicBezTo>
                  <a:cubicBezTo>
                    <a:pt x="582930" y="90170"/>
                    <a:pt x="615950" y="85090"/>
                    <a:pt x="635000" y="91440"/>
                  </a:cubicBezTo>
                  <a:cubicBezTo>
                    <a:pt x="654050" y="99060"/>
                    <a:pt x="675640" y="124460"/>
                    <a:pt x="681990" y="142240"/>
                  </a:cubicBezTo>
                  <a:cubicBezTo>
                    <a:pt x="687070" y="156210"/>
                    <a:pt x="684530" y="175260"/>
                    <a:pt x="679450" y="187960"/>
                  </a:cubicBezTo>
                  <a:cubicBezTo>
                    <a:pt x="673100" y="201930"/>
                    <a:pt x="662940" y="217170"/>
                    <a:pt x="648970" y="223520"/>
                  </a:cubicBezTo>
                  <a:cubicBezTo>
                    <a:pt x="631190" y="232410"/>
                    <a:pt x="598170" y="236220"/>
                    <a:pt x="580390" y="227330"/>
                  </a:cubicBezTo>
                  <a:cubicBezTo>
                    <a:pt x="562610" y="218440"/>
                    <a:pt x="543560" y="190500"/>
                    <a:pt x="539750" y="172720"/>
                  </a:cubicBezTo>
                  <a:cubicBezTo>
                    <a:pt x="535940" y="157480"/>
                    <a:pt x="541020" y="139700"/>
                    <a:pt x="547370" y="127000"/>
                  </a:cubicBezTo>
                  <a:cubicBezTo>
                    <a:pt x="553720" y="113030"/>
                    <a:pt x="568960" y="106680"/>
                    <a:pt x="579120" y="91440"/>
                  </a:cubicBezTo>
                  <a:cubicBezTo>
                    <a:pt x="593090" y="71120"/>
                    <a:pt x="603250" y="17780"/>
                    <a:pt x="614680" y="6350"/>
                  </a:cubicBezTo>
                  <a:cubicBezTo>
                    <a:pt x="621030" y="1270"/>
                    <a:pt x="624840" y="2540"/>
                    <a:pt x="631190" y="1270"/>
                  </a:cubicBezTo>
                  <a:cubicBezTo>
                    <a:pt x="641350" y="0"/>
                    <a:pt x="655320" y="-1270"/>
                    <a:pt x="666750" y="2540"/>
                  </a:cubicBezTo>
                  <a:cubicBezTo>
                    <a:pt x="679450" y="6350"/>
                    <a:pt x="698500" y="19050"/>
                    <a:pt x="707390" y="33020"/>
                  </a:cubicBezTo>
                  <a:cubicBezTo>
                    <a:pt x="716280" y="45720"/>
                    <a:pt x="720090" y="67310"/>
                    <a:pt x="717550" y="82550"/>
                  </a:cubicBezTo>
                  <a:cubicBezTo>
                    <a:pt x="715010" y="99060"/>
                    <a:pt x="709930" y="111760"/>
                    <a:pt x="692150" y="127000"/>
                  </a:cubicBezTo>
                  <a:cubicBezTo>
                    <a:pt x="654050" y="162560"/>
                    <a:pt x="529590" y="196850"/>
                    <a:pt x="440690" y="241300"/>
                  </a:cubicBezTo>
                  <a:cubicBezTo>
                    <a:pt x="336550" y="292100"/>
                    <a:pt x="179070" y="400050"/>
                    <a:pt x="109220" y="417830"/>
                  </a:cubicBezTo>
                  <a:cubicBezTo>
                    <a:pt x="78740" y="426720"/>
                    <a:pt x="57150" y="426720"/>
                    <a:pt x="39370" y="419100"/>
                  </a:cubicBezTo>
                  <a:cubicBezTo>
                    <a:pt x="24130" y="412750"/>
                    <a:pt x="10160" y="394970"/>
                    <a:pt x="3810" y="379730"/>
                  </a:cubicBezTo>
                  <a:cubicBezTo>
                    <a:pt x="-1270" y="364490"/>
                    <a:pt x="-1270" y="342900"/>
                    <a:pt x="3810" y="327660"/>
                  </a:cubicBezTo>
                  <a:cubicBezTo>
                    <a:pt x="8890" y="312420"/>
                    <a:pt x="38100" y="288290"/>
                    <a:pt x="38100" y="28829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677728" y="3970020"/>
            <a:ext cx="509588" cy="225742"/>
            <a:chOff x="0" y="0"/>
            <a:chExt cx="679450" cy="3009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46037" y="48392"/>
              <a:ext cx="582806" cy="206960"/>
            </a:xfrm>
            <a:custGeom>
              <a:avLst/>
              <a:gdLst/>
              <a:ahLst/>
              <a:cxnLst/>
              <a:rect r="r" b="b" t="t" l="l"/>
              <a:pathLst>
                <a:path h="206960" w="582806">
                  <a:moveTo>
                    <a:pt x="78423" y="41778"/>
                  </a:moveTo>
                  <a:cubicBezTo>
                    <a:pt x="385763" y="32888"/>
                    <a:pt x="446723" y="3678"/>
                    <a:pt x="484823" y="2408"/>
                  </a:cubicBezTo>
                  <a:cubicBezTo>
                    <a:pt x="507683" y="1138"/>
                    <a:pt x="521653" y="-132"/>
                    <a:pt x="536893" y="8758"/>
                  </a:cubicBezTo>
                  <a:cubicBezTo>
                    <a:pt x="554673" y="20188"/>
                    <a:pt x="578803" y="49398"/>
                    <a:pt x="581343" y="70988"/>
                  </a:cubicBezTo>
                  <a:cubicBezTo>
                    <a:pt x="585153" y="93848"/>
                    <a:pt x="572453" y="128138"/>
                    <a:pt x="554673" y="143378"/>
                  </a:cubicBezTo>
                  <a:cubicBezTo>
                    <a:pt x="538163" y="158618"/>
                    <a:pt x="501333" y="164968"/>
                    <a:pt x="481013" y="161158"/>
                  </a:cubicBezTo>
                  <a:cubicBezTo>
                    <a:pt x="463233" y="158618"/>
                    <a:pt x="446723" y="148458"/>
                    <a:pt x="436563" y="133218"/>
                  </a:cubicBezTo>
                  <a:cubicBezTo>
                    <a:pt x="425133" y="115438"/>
                    <a:pt x="416243" y="79878"/>
                    <a:pt x="422593" y="58288"/>
                  </a:cubicBezTo>
                  <a:cubicBezTo>
                    <a:pt x="428943" y="36698"/>
                    <a:pt x="456883" y="12568"/>
                    <a:pt x="477203" y="3678"/>
                  </a:cubicBezTo>
                  <a:cubicBezTo>
                    <a:pt x="492443" y="-2672"/>
                    <a:pt x="514033" y="-132"/>
                    <a:pt x="529273" y="6218"/>
                  </a:cubicBezTo>
                  <a:cubicBezTo>
                    <a:pt x="544513" y="11298"/>
                    <a:pt x="561023" y="23998"/>
                    <a:pt x="569913" y="37968"/>
                  </a:cubicBezTo>
                  <a:cubicBezTo>
                    <a:pt x="578803" y="51938"/>
                    <a:pt x="583883" y="72258"/>
                    <a:pt x="582613" y="88768"/>
                  </a:cubicBezTo>
                  <a:cubicBezTo>
                    <a:pt x="581343" y="105278"/>
                    <a:pt x="572453" y="124328"/>
                    <a:pt x="561023" y="137028"/>
                  </a:cubicBezTo>
                  <a:cubicBezTo>
                    <a:pt x="550863" y="149728"/>
                    <a:pt x="536893" y="154808"/>
                    <a:pt x="516573" y="162428"/>
                  </a:cubicBezTo>
                  <a:cubicBezTo>
                    <a:pt x="475933" y="177668"/>
                    <a:pt x="397193" y="195448"/>
                    <a:pt x="328613" y="200528"/>
                  </a:cubicBezTo>
                  <a:cubicBezTo>
                    <a:pt x="243523" y="208148"/>
                    <a:pt x="91123" y="213228"/>
                    <a:pt x="41593" y="190368"/>
                  </a:cubicBezTo>
                  <a:cubicBezTo>
                    <a:pt x="21273" y="180208"/>
                    <a:pt x="11113" y="164968"/>
                    <a:pt x="4763" y="148458"/>
                  </a:cubicBezTo>
                  <a:cubicBezTo>
                    <a:pt x="-1587" y="131948"/>
                    <a:pt x="-1587" y="109088"/>
                    <a:pt x="4763" y="92578"/>
                  </a:cubicBezTo>
                  <a:cubicBezTo>
                    <a:pt x="11113" y="76068"/>
                    <a:pt x="28893" y="59558"/>
                    <a:pt x="41593" y="50668"/>
                  </a:cubicBezTo>
                  <a:cubicBezTo>
                    <a:pt x="53023" y="44318"/>
                    <a:pt x="78423" y="41778"/>
                    <a:pt x="78423" y="4177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4701540" y="4162425"/>
            <a:ext cx="320040" cy="235267"/>
            <a:chOff x="0" y="0"/>
            <a:chExt cx="426720" cy="313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0" y="47889"/>
              <a:ext cx="329143" cy="214043"/>
            </a:xfrm>
            <a:custGeom>
              <a:avLst/>
              <a:gdLst/>
              <a:ahLst/>
              <a:cxnLst/>
              <a:rect r="r" b="b" t="t" l="l"/>
              <a:pathLst>
                <a:path h="214043" w="329143">
                  <a:moveTo>
                    <a:pt x="267970" y="154041"/>
                  </a:moveTo>
                  <a:cubicBezTo>
                    <a:pt x="54610" y="212461"/>
                    <a:pt x="29210" y="197221"/>
                    <a:pt x="16510" y="181981"/>
                  </a:cubicBezTo>
                  <a:cubicBezTo>
                    <a:pt x="5080" y="169281"/>
                    <a:pt x="0" y="148961"/>
                    <a:pt x="0" y="133721"/>
                  </a:cubicBezTo>
                  <a:cubicBezTo>
                    <a:pt x="0" y="117211"/>
                    <a:pt x="5080" y="98161"/>
                    <a:pt x="16510" y="85461"/>
                  </a:cubicBezTo>
                  <a:cubicBezTo>
                    <a:pt x="30480" y="70221"/>
                    <a:pt x="64770" y="54981"/>
                    <a:pt x="85090" y="54981"/>
                  </a:cubicBezTo>
                  <a:cubicBezTo>
                    <a:pt x="102870" y="53711"/>
                    <a:pt x="120650" y="63871"/>
                    <a:pt x="132080" y="74031"/>
                  </a:cubicBezTo>
                  <a:cubicBezTo>
                    <a:pt x="144780" y="84191"/>
                    <a:pt x="156210" y="100701"/>
                    <a:pt x="158750" y="118481"/>
                  </a:cubicBezTo>
                  <a:cubicBezTo>
                    <a:pt x="161290" y="138801"/>
                    <a:pt x="151130" y="174361"/>
                    <a:pt x="137160" y="189601"/>
                  </a:cubicBezTo>
                  <a:cubicBezTo>
                    <a:pt x="127000" y="203571"/>
                    <a:pt x="107950" y="211191"/>
                    <a:pt x="92710" y="213731"/>
                  </a:cubicBezTo>
                  <a:cubicBezTo>
                    <a:pt x="76200" y="215001"/>
                    <a:pt x="55880" y="212461"/>
                    <a:pt x="41910" y="204841"/>
                  </a:cubicBezTo>
                  <a:cubicBezTo>
                    <a:pt x="27940" y="197221"/>
                    <a:pt x="13970" y="181981"/>
                    <a:pt x="7620" y="166741"/>
                  </a:cubicBezTo>
                  <a:cubicBezTo>
                    <a:pt x="1270" y="152771"/>
                    <a:pt x="-2540" y="132451"/>
                    <a:pt x="2540" y="115941"/>
                  </a:cubicBezTo>
                  <a:cubicBezTo>
                    <a:pt x="8890" y="96891"/>
                    <a:pt x="27940" y="75301"/>
                    <a:pt x="50800" y="60061"/>
                  </a:cubicBezTo>
                  <a:cubicBezTo>
                    <a:pt x="82550" y="38471"/>
                    <a:pt x="142240" y="20691"/>
                    <a:pt x="182880" y="11801"/>
                  </a:cubicBezTo>
                  <a:cubicBezTo>
                    <a:pt x="215900" y="4181"/>
                    <a:pt x="251460" y="-4709"/>
                    <a:pt x="275590" y="2911"/>
                  </a:cubicBezTo>
                  <a:cubicBezTo>
                    <a:pt x="293370" y="7991"/>
                    <a:pt x="311150" y="20691"/>
                    <a:pt x="318770" y="35931"/>
                  </a:cubicBezTo>
                  <a:cubicBezTo>
                    <a:pt x="328930" y="53711"/>
                    <a:pt x="332740" y="88001"/>
                    <a:pt x="325120" y="108321"/>
                  </a:cubicBezTo>
                  <a:cubicBezTo>
                    <a:pt x="316230" y="127371"/>
                    <a:pt x="267970" y="154041"/>
                    <a:pt x="267970" y="15404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080635" y="4160520"/>
            <a:ext cx="425768" cy="309562"/>
            <a:chOff x="0" y="0"/>
            <a:chExt cx="567690" cy="4127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47665" y="50800"/>
              <a:ext cx="468710" cy="311450"/>
            </a:xfrm>
            <a:custGeom>
              <a:avLst/>
              <a:gdLst/>
              <a:ahLst/>
              <a:cxnLst/>
              <a:rect r="r" b="b" t="t" l="l"/>
              <a:pathLst>
                <a:path h="311450" w="468710">
                  <a:moveTo>
                    <a:pt x="93305" y="0"/>
                  </a:moveTo>
                  <a:cubicBezTo>
                    <a:pt x="403185" y="121920"/>
                    <a:pt x="443825" y="162560"/>
                    <a:pt x="460335" y="193040"/>
                  </a:cubicBezTo>
                  <a:cubicBezTo>
                    <a:pt x="469225" y="210820"/>
                    <a:pt x="470495" y="228600"/>
                    <a:pt x="466685" y="245110"/>
                  </a:cubicBezTo>
                  <a:cubicBezTo>
                    <a:pt x="464145" y="261620"/>
                    <a:pt x="455255" y="280670"/>
                    <a:pt x="440015" y="290830"/>
                  </a:cubicBezTo>
                  <a:cubicBezTo>
                    <a:pt x="423505" y="303530"/>
                    <a:pt x="387945" y="314960"/>
                    <a:pt x="365085" y="308610"/>
                  </a:cubicBezTo>
                  <a:cubicBezTo>
                    <a:pt x="343495" y="303530"/>
                    <a:pt x="315555" y="278130"/>
                    <a:pt x="307935" y="257810"/>
                  </a:cubicBezTo>
                  <a:cubicBezTo>
                    <a:pt x="300315" y="236220"/>
                    <a:pt x="305395" y="199390"/>
                    <a:pt x="318095" y="180340"/>
                  </a:cubicBezTo>
                  <a:cubicBezTo>
                    <a:pt x="332065" y="162560"/>
                    <a:pt x="365085" y="146050"/>
                    <a:pt x="387945" y="146050"/>
                  </a:cubicBezTo>
                  <a:cubicBezTo>
                    <a:pt x="410805" y="147320"/>
                    <a:pt x="442555" y="167640"/>
                    <a:pt x="455255" y="184150"/>
                  </a:cubicBezTo>
                  <a:cubicBezTo>
                    <a:pt x="466685" y="199390"/>
                    <a:pt x="469225" y="219710"/>
                    <a:pt x="467955" y="236220"/>
                  </a:cubicBezTo>
                  <a:cubicBezTo>
                    <a:pt x="466685" y="252730"/>
                    <a:pt x="460335" y="271780"/>
                    <a:pt x="446365" y="284480"/>
                  </a:cubicBezTo>
                  <a:cubicBezTo>
                    <a:pt x="431125" y="299720"/>
                    <a:pt x="401915" y="313690"/>
                    <a:pt x="373975" y="311150"/>
                  </a:cubicBezTo>
                  <a:cubicBezTo>
                    <a:pt x="329525" y="306070"/>
                    <a:pt x="268565" y="233680"/>
                    <a:pt x="212685" y="205740"/>
                  </a:cubicBezTo>
                  <a:cubicBezTo>
                    <a:pt x="158075" y="180340"/>
                    <a:pt x="79335" y="170180"/>
                    <a:pt x="43775" y="147320"/>
                  </a:cubicBezTo>
                  <a:cubicBezTo>
                    <a:pt x="24725" y="135890"/>
                    <a:pt x="12025" y="123190"/>
                    <a:pt x="5675" y="107950"/>
                  </a:cubicBezTo>
                  <a:cubicBezTo>
                    <a:pt x="-675" y="91440"/>
                    <a:pt x="-1945" y="68580"/>
                    <a:pt x="3135" y="52070"/>
                  </a:cubicBezTo>
                  <a:cubicBezTo>
                    <a:pt x="8215" y="35560"/>
                    <a:pt x="23455" y="17780"/>
                    <a:pt x="38695" y="8890"/>
                  </a:cubicBezTo>
                  <a:cubicBezTo>
                    <a:pt x="52665" y="0"/>
                    <a:pt x="93305" y="0"/>
                    <a:pt x="93305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519910" y="3514725"/>
            <a:ext cx="1515427" cy="1410652"/>
            <a:chOff x="0" y="0"/>
            <a:chExt cx="2020570" cy="18808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46412" y="50800"/>
              <a:ext cx="1923358" cy="1779711"/>
            </a:xfrm>
            <a:custGeom>
              <a:avLst/>
              <a:gdLst/>
              <a:ahLst/>
              <a:cxnLst/>
              <a:rect r="r" b="b" t="t" l="l"/>
              <a:pathLst>
                <a:path h="1779711" w="1923358">
                  <a:moveTo>
                    <a:pt x="573348" y="0"/>
                  </a:moveTo>
                  <a:cubicBezTo>
                    <a:pt x="1153738" y="132080"/>
                    <a:pt x="1259148" y="163830"/>
                    <a:pt x="1321378" y="186690"/>
                  </a:cubicBezTo>
                  <a:cubicBezTo>
                    <a:pt x="1354398" y="200660"/>
                    <a:pt x="1370908" y="207010"/>
                    <a:pt x="1396308" y="222250"/>
                  </a:cubicBezTo>
                  <a:cubicBezTo>
                    <a:pt x="1426788" y="243840"/>
                    <a:pt x="1458538" y="274320"/>
                    <a:pt x="1491558" y="304800"/>
                  </a:cubicBezTo>
                  <a:cubicBezTo>
                    <a:pt x="1529658" y="341630"/>
                    <a:pt x="1577918" y="391160"/>
                    <a:pt x="1609668" y="429260"/>
                  </a:cubicBezTo>
                  <a:cubicBezTo>
                    <a:pt x="1632528" y="459740"/>
                    <a:pt x="1642688" y="480060"/>
                    <a:pt x="1664278" y="513080"/>
                  </a:cubicBezTo>
                  <a:cubicBezTo>
                    <a:pt x="1696028" y="563880"/>
                    <a:pt x="1750638" y="647700"/>
                    <a:pt x="1778578" y="702310"/>
                  </a:cubicBezTo>
                  <a:cubicBezTo>
                    <a:pt x="1800168" y="744220"/>
                    <a:pt x="1810328" y="772160"/>
                    <a:pt x="1825568" y="812800"/>
                  </a:cubicBezTo>
                  <a:cubicBezTo>
                    <a:pt x="1844618" y="864870"/>
                    <a:pt x="1867478" y="929640"/>
                    <a:pt x="1882718" y="990600"/>
                  </a:cubicBezTo>
                  <a:cubicBezTo>
                    <a:pt x="1896688" y="1054100"/>
                    <a:pt x="1905578" y="1131570"/>
                    <a:pt x="1911928" y="1186180"/>
                  </a:cubicBezTo>
                  <a:cubicBezTo>
                    <a:pt x="1917008" y="1225550"/>
                    <a:pt x="1922088" y="1250950"/>
                    <a:pt x="1923358" y="1286510"/>
                  </a:cubicBezTo>
                  <a:cubicBezTo>
                    <a:pt x="1923358" y="1325880"/>
                    <a:pt x="1919548" y="1372870"/>
                    <a:pt x="1913198" y="1410970"/>
                  </a:cubicBezTo>
                  <a:cubicBezTo>
                    <a:pt x="1908118" y="1442720"/>
                    <a:pt x="1901768" y="1471930"/>
                    <a:pt x="1891608" y="1498600"/>
                  </a:cubicBezTo>
                  <a:cubicBezTo>
                    <a:pt x="1882718" y="1522730"/>
                    <a:pt x="1872558" y="1543050"/>
                    <a:pt x="1856048" y="1565910"/>
                  </a:cubicBezTo>
                  <a:cubicBezTo>
                    <a:pt x="1834458" y="1595120"/>
                    <a:pt x="1802708" y="1629410"/>
                    <a:pt x="1767148" y="1656080"/>
                  </a:cubicBezTo>
                  <a:cubicBezTo>
                    <a:pt x="1725238" y="1686560"/>
                    <a:pt x="1664278" y="1718310"/>
                    <a:pt x="1619828" y="1737360"/>
                  </a:cubicBezTo>
                  <a:cubicBezTo>
                    <a:pt x="1585538" y="1751330"/>
                    <a:pt x="1563948" y="1756410"/>
                    <a:pt x="1527118" y="1764030"/>
                  </a:cubicBezTo>
                  <a:cubicBezTo>
                    <a:pt x="1472508" y="1772920"/>
                    <a:pt x="1410278" y="1781810"/>
                    <a:pt x="1325188" y="1779270"/>
                  </a:cubicBezTo>
                  <a:cubicBezTo>
                    <a:pt x="1179138" y="1772920"/>
                    <a:pt x="916248" y="1710690"/>
                    <a:pt x="734638" y="1691640"/>
                  </a:cubicBezTo>
                  <a:cubicBezTo>
                    <a:pt x="579698" y="1675130"/>
                    <a:pt x="389198" y="1673860"/>
                    <a:pt x="302838" y="1661160"/>
                  </a:cubicBezTo>
                  <a:cubicBezTo>
                    <a:pt x="264738" y="1656080"/>
                    <a:pt x="248228" y="1656080"/>
                    <a:pt x="221558" y="1644650"/>
                  </a:cubicBezTo>
                  <a:cubicBezTo>
                    <a:pt x="191078" y="1630680"/>
                    <a:pt x="156788" y="1604010"/>
                    <a:pt x="130118" y="1577340"/>
                  </a:cubicBezTo>
                  <a:cubicBezTo>
                    <a:pt x="103448" y="1549400"/>
                    <a:pt x="83128" y="1512570"/>
                    <a:pt x="65348" y="1479550"/>
                  </a:cubicBezTo>
                  <a:cubicBezTo>
                    <a:pt x="50108" y="1449070"/>
                    <a:pt x="39948" y="1418590"/>
                    <a:pt x="29788" y="1385570"/>
                  </a:cubicBezTo>
                  <a:cubicBezTo>
                    <a:pt x="19628" y="1347470"/>
                    <a:pt x="13278" y="1309370"/>
                    <a:pt x="8198" y="1261110"/>
                  </a:cubicBezTo>
                  <a:cubicBezTo>
                    <a:pt x="1848" y="1196340"/>
                    <a:pt x="-4502" y="1115060"/>
                    <a:pt x="4388" y="1027430"/>
                  </a:cubicBezTo>
                  <a:cubicBezTo>
                    <a:pt x="15818" y="914400"/>
                    <a:pt x="57728" y="768350"/>
                    <a:pt x="90748" y="643890"/>
                  </a:cubicBezTo>
                  <a:cubicBezTo>
                    <a:pt x="122498" y="524510"/>
                    <a:pt x="166948" y="368300"/>
                    <a:pt x="198698" y="294640"/>
                  </a:cubicBezTo>
                  <a:cubicBezTo>
                    <a:pt x="213938" y="259080"/>
                    <a:pt x="221558" y="246380"/>
                    <a:pt x="241878" y="218440"/>
                  </a:cubicBezTo>
                  <a:cubicBezTo>
                    <a:pt x="269818" y="181610"/>
                    <a:pt x="320618" y="114300"/>
                    <a:pt x="357448" y="100330"/>
                  </a:cubicBezTo>
                  <a:cubicBezTo>
                    <a:pt x="381578" y="91440"/>
                    <a:pt x="410788" y="96520"/>
                    <a:pt x="427298" y="105410"/>
                  </a:cubicBezTo>
                  <a:cubicBezTo>
                    <a:pt x="441268" y="113030"/>
                    <a:pt x="452698" y="128270"/>
                    <a:pt x="457778" y="142240"/>
                  </a:cubicBezTo>
                  <a:cubicBezTo>
                    <a:pt x="462858" y="156210"/>
                    <a:pt x="464128" y="175260"/>
                    <a:pt x="459048" y="189230"/>
                  </a:cubicBezTo>
                  <a:cubicBezTo>
                    <a:pt x="451428" y="207010"/>
                    <a:pt x="429838" y="232410"/>
                    <a:pt x="409518" y="238760"/>
                  </a:cubicBezTo>
                  <a:cubicBezTo>
                    <a:pt x="390468" y="245110"/>
                    <a:pt x="357448" y="237490"/>
                    <a:pt x="340938" y="226060"/>
                  </a:cubicBezTo>
                  <a:cubicBezTo>
                    <a:pt x="328238" y="217170"/>
                    <a:pt x="319348" y="200660"/>
                    <a:pt x="315538" y="186690"/>
                  </a:cubicBezTo>
                  <a:cubicBezTo>
                    <a:pt x="311728" y="171450"/>
                    <a:pt x="311728" y="153670"/>
                    <a:pt x="319348" y="139700"/>
                  </a:cubicBezTo>
                  <a:cubicBezTo>
                    <a:pt x="328238" y="121920"/>
                    <a:pt x="353638" y="99060"/>
                    <a:pt x="372688" y="95250"/>
                  </a:cubicBezTo>
                  <a:cubicBezTo>
                    <a:pt x="393008" y="91440"/>
                    <a:pt x="424758" y="100330"/>
                    <a:pt x="439998" y="115570"/>
                  </a:cubicBezTo>
                  <a:cubicBezTo>
                    <a:pt x="453968" y="129540"/>
                    <a:pt x="465398" y="156210"/>
                    <a:pt x="460318" y="181610"/>
                  </a:cubicBezTo>
                  <a:cubicBezTo>
                    <a:pt x="452698" y="223520"/>
                    <a:pt x="368878" y="266700"/>
                    <a:pt x="333318" y="330200"/>
                  </a:cubicBezTo>
                  <a:cubicBezTo>
                    <a:pt x="285058" y="417830"/>
                    <a:pt x="255848" y="556260"/>
                    <a:pt x="226638" y="671830"/>
                  </a:cubicBezTo>
                  <a:cubicBezTo>
                    <a:pt x="197428" y="788670"/>
                    <a:pt x="168218" y="923290"/>
                    <a:pt x="159328" y="1027430"/>
                  </a:cubicBezTo>
                  <a:cubicBezTo>
                    <a:pt x="151708" y="1108710"/>
                    <a:pt x="158058" y="1184910"/>
                    <a:pt x="164408" y="1247140"/>
                  </a:cubicBezTo>
                  <a:cubicBezTo>
                    <a:pt x="168218" y="1294130"/>
                    <a:pt x="172028" y="1334770"/>
                    <a:pt x="183458" y="1371600"/>
                  </a:cubicBezTo>
                  <a:cubicBezTo>
                    <a:pt x="194888" y="1405890"/>
                    <a:pt x="208858" y="1437640"/>
                    <a:pt x="229178" y="1463040"/>
                  </a:cubicBezTo>
                  <a:cubicBezTo>
                    <a:pt x="249498" y="1487170"/>
                    <a:pt x="267278" y="1504950"/>
                    <a:pt x="306648" y="1520190"/>
                  </a:cubicBezTo>
                  <a:cubicBezTo>
                    <a:pt x="391738" y="1551940"/>
                    <a:pt x="606368" y="1539240"/>
                    <a:pt x="757498" y="1555750"/>
                  </a:cubicBezTo>
                  <a:cubicBezTo>
                    <a:pt x="911168" y="1572260"/>
                    <a:pt x="1102938" y="1610360"/>
                    <a:pt x="1222318" y="1619250"/>
                  </a:cubicBezTo>
                  <a:cubicBezTo>
                    <a:pt x="1298518" y="1624330"/>
                    <a:pt x="1359478" y="1624330"/>
                    <a:pt x="1407738" y="1621790"/>
                  </a:cubicBezTo>
                  <a:cubicBezTo>
                    <a:pt x="1439488" y="1620520"/>
                    <a:pt x="1455998" y="1620520"/>
                    <a:pt x="1485208" y="1614170"/>
                  </a:cubicBezTo>
                  <a:cubicBezTo>
                    <a:pt x="1520768" y="1605280"/>
                    <a:pt x="1570298" y="1590040"/>
                    <a:pt x="1607128" y="1570990"/>
                  </a:cubicBezTo>
                  <a:cubicBezTo>
                    <a:pt x="1643958" y="1551940"/>
                    <a:pt x="1680788" y="1534160"/>
                    <a:pt x="1706188" y="1501140"/>
                  </a:cubicBezTo>
                  <a:cubicBezTo>
                    <a:pt x="1737938" y="1461770"/>
                    <a:pt x="1762068" y="1405890"/>
                    <a:pt x="1772228" y="1342390"/>
                  </a:cubicBezTo>
                  <a:cubicBezTo>
                    <a:pt x="1784928" y="1257300"/>
                    <a:pt x="1760798" y="1117600"/>
                    <a:pt x="1743018" y="1031240"/>
                  </a:cubicBezTo>
                  <a:cubicBezTo>
                    <a:pt x="1730318" y="967740"/>
                    <a:pt x="1715078" y="923290"/>
                    <a:pt x="1693488" y="869950"/>
                  </a:cubicBezTo>
                  <a:cubicBezTo>
                    <a:pt x="1670628" y="811530"/>
                    <a:pt x="1638878" y="750570"/>
                    <a:pt x="1604588" y="693420"/>
                  </a:cubicBezTo>
                  <a:cubicBezTo>
                    <a:pt x="1571568" y="636270"/>
                    <a:pt x="1538548" y="582930"/>
                    <a:pt x="1494098" y="529590"/>
                  </a:cubicBezTo>
                  <a:cubicBezTo>
                    <a:pt x="1445838" y="469900"/>
                    <a:pt x="1373448" y="393700"/>
                    <a:pt x="1325188" y="356870"/>
                  </a:cubicBezTo>
                  <a:cubicBezTo>
                    <a:pt x="1294708" y="334010"/>
                    <a:pt x="1282008" y="327660"/>
                    <a:pt x="1245178" y="312420"/>
                  </a:cubicBezTo>
                  <a:cubicBezTo>
                    <a:pt x="1176598" y="283210"/>
                    <a:pt x="1043248" y="243840"/>
                    <a:pt x="931488" y="217170"/>
                  </a:cubicBezTo>
                  <a:cubicBezTo>
                    <a:pt x="807028" y="186690"/>
                    <a:pt x="591128" y="172720"/>
                    <a:pt x="530168" y="140970"/>
                  </a:cubicBezTo>
                  <a:cubicBezTo>
                    <a:pt x="508578" y="129540"/>
                    <a:pt x="499688" y="118110"/>
                    <a:pt x="493338" y="104140"/>
                  </a:cubicBezTo>
                  <a:cubicBezTo>
                    <a:pt x="486988" y="88900"/>
                    <a:pt x="484448" y="67310"/>
                    <a:pt x="489528" y="50800"/>
                  </a:cubicBezTo>
                  <a:cubicBezTo>
                    <a:pt x="494608" y="35560"/>
                    <a:pt x="508578" y="17780"/>
                    <a:pt x="522548" y="10160"/>
                  </a:cubicBezTo>
                  <a:cubicBezTo>
                    <a:pt x="536518" y="1270"/>
                    <a:pt x="573348" y="0"/>
                    <a:pt x="573348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4899005" y="4030980"/>
            <a:ext cx="214312" cy="192405"/>
            <a:chOff x="0" y="0"/>
            <a:chExt cx="285750" cy="2565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47454" y="50476"/>
              <a:ext cx="189087" cy="154928"/>
            </a:xfrm>
            <a:custGeom>
              <a:avLst/>
              <a:gdLst/>
              <a:ahLst/>
              <a:cxnLst/>
              <a:rect r="r" b="b" t="t" l="l"/>
              <a:pathLst>
                <a:path h="154928" w="189087">
                  <a:moveTo>
                    <a:pt x="74466" y="324"/>
                  </a:moveTo>
                  <a:cubicBezTo>
                    <a:pt x="157016" y="13024"/>
                    <a:pt x="181146" y="35884"/>
                    <a:pt x="187496" y="56204"/>
                  </a:cubicBezTo>
                  <a:cubicBezTo>
                    <a:pt x="192576" y="76524"/>
                    <a:pt x="184956" y="110814"/>
                    <a:pt x="172256" y="127324"/>
                  </a:cubicBezTo>
                  <a:cubicBezTo>
                    <a:pt x="158286" y="142564"/>
                    <a:pt x="125266" y="155264"/>
                    <a:pt x="104946" y="153994"/>
                  </a:cubicBezTo>
                  <a:cubicBezTo>
                    <a:pt x="83356" y="151454"/>
                    <a:pt x="54146" y="132404"/>
                    <a:pt x="45256" y="113354"/>
                  </a:cubicBezTo>
                  <a:cubicBezTo>
                    <a:pt x="35096" y="94304"/>
                    <a:pt x="35096" y="60014"/>
                    <a:pt x="45256" y="40964"/>
                  </a:cubicBezTo>
                  <a:cubicBezTo>
                    <a:pt x="54146" y="21914"/>
                    <a:pt x="83356" y="2864"/>
                    <a:pt x="104946" y="324"/>
                  </a:cubicBezTo>
                  <a:cubicBezTo>
                    <a:pt x="125266" y="-2216"/>
                    <a:pt x="158286" y="10484"/>
                    <a:pt x="172256" y="26994"/>
                  </a:cubicBezTo>
                  <a:cubicBezTo>
                    <a:pt x="184956" y="43504"/>
                    <a:pt x="191306" y="77794"/>
                    <a:pt x="187496" y="98114"/>
                  </a:cubicBezTo>
                  <a:cubicBezTo>
                    <a:pt x="183686" y="113354"/>
                    <a:pt x="172256" y="128594"/>
                    <a:pt x="159556" y="138754"/>
                  </a:cubicBezTo>
                  <a:cubicBezTo>
                    <a:pt x="146856" y="147644"/>
                    <a:pt x="130346" y="152724"/>
                    <a:pt x="112566" y="153994"/>
                  </a:cubicBezTo>
                  <a:cubicBezTo>
                    <a:pt x="90976" y="156534"/>
                    <a:pt x="57956" y="153994"/>
                    <a:pt x="38906" y="145104"/>
                  </a:cubicBezTo>
                  <a:cubicBezTo>
                    <a:pt x="23666" y="136214"/>
                    <a:pt x="8426" y="120974"/>
                    <a:pt x="3346" y="104464"/>
                  </a:cubicBezTo>
                  <a:cubicBezTo>
                    <a:pt x="-3004" y="84144"/>
                    <a:pt x="-464" y="51124"/>
                    <a:pt x="12236" y="33344"/>
                  </a:cubicBezTo>
                  <a:cubicBezTo>
                    <a:pt x="23666" y="15564"/>
                    <a:pt x="74466" y="324"/>
                    <a:pt x="74466" y="32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5433357" y="3959542"/>
            <a:ext cx="184785" cy="189548"/>
            <a:chOff x="0" y="0"/>
            <a:chExt cx="246380" cy="2527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7065" y="50749"/>
              <a:ext cx="145975" cy="152154"/>
            </a:xfrm>
            <a:custGeom>
              <a:avLst/>
              <a:gdLst/>
              <a:ahLst/>
              <a:cxnLst/>
              <a:rect r="r" b="b" t="t" l="l"/>
              <a:pathLst>
                <a:path h="152154" w="145975">
                  <a:moveTo>
                    <a:pt x="145975" y="52121"/>
                  </a:moveTo>
                  <a:cubicBezTo>
                    <a:pt x="143435" y="106731"/>
                    <a:pt x="120575" y="134671"/>
                    <a:pt x="105335" y="144831"/>
                  </a:cubicBezTo>
                  <a:cubicBezTo>
                    <a:pt x="93905" y="151181"/>
                    <a:pt x="82475" y="153721"/>
                    <a:pt x="68505" y="151181"/>
                  </a:cubicBezTo>
                  <a:cubicBezTo>
                    <a:pt x="50725" y="147371"/>
                    <a:pt x="18975" y="132131"/>
                    <a:pt x="8815" y="114351"/>
                  </a:cubicBezTo>
                  <a:cubicBezTo>
                    <a:pt x="-2615" y="96571"/>
                    <a:pt x="-1345" y="61011"/>
                    <a:pt x="3735" y="43231"/>
                  </a:cubicBezTo>
                  <a:cubicBezTo>
                    <a:pt x="7545" y="30531"/>
                    <a:pt x="17705" y="21641"/>
                    <a:pt x="26595" y="15291"/>
                  </a:cubicBezTo>
                  <a:cubicBezTo>
                    <a:pt x="35485" y="7671"/>
                    <a:pt x="46915" y="1321"/>
                    <a:pt x="59615" y="51"/>
                  </a:cubicBezTo>
                  <a:cubicBezTo>
                    <a:pt x="78665" y="-1219"/>
                    <a:pt x="126925" y="21641"/>
                    <a:pt x="126925" y="2164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821852" y="4128135"/>
            <a:ext cx="991552" cy="521970"/>
            <a:chOff x="0" y="0"/>
            <a:chExt cx="1322070" cy="695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800" y="50606"/>
              <a:ext cx="1219827" cy="597983"/>
            </a:xfrm>
            <a:custGeom>
              <a:avLst/>
              <a:gdLst/>
              <a:ahLst/>
              <a:cxnLst/>
              <a:rect r="r" b="b" t="t" l="l"/>
              <a:pathLst>
                <a:path h="597983" w="1219827">
                  <a:moveTo>
                    <a:pt x="0" y="512004"/>
                  </a:moveTo>
                  <a:cubicBezTo>
                    <a:pt x="26670" y="386274"/>
                    <a:pt x="60960" y="307534"/>
                    <a:pt x="99060" y="259274"/>
                  </a:cubicBezTo>
                  <a:cubicBezTo>
                    <a:pt x="137160" y="212284"/>
                    <a:pt x="179070" y="179264"/>
                    <a:pt x="236220" y="146244"/>
                  </a:cubicBezTo>
                  <a:cubicBezTo>
                    <a:pt x="311150" y="103064"/>
                    <a:pt x="433070" y="66234"/>
                    <a:pt x="518160" y="40834"/>
                  </a:cubicBezTo>
                  <a:cubicBezTo>
                    <a:pt x="589280" y="20514"/>
                    <a:pt x="647700" y="-2346"/>
                    <a:pt x="713740" y="194"/>
                  </a:cubicBezTo>
                  <a:cubicBezTo>
                    <a:pt x="781050" y="1464"/>
                    <a:pt x="867410" y="34484"/>
                    <a:pt x="919480" y="56074"/>
                  </a:cubicBezTo>
                  <a:cubicBezTo>
                    <a:pt x="953770" y="68774"/>
                    <a:pt x="971550" y="80204"/>
                    <a:pt x="999490" y="100524"/>
                  </a:cubicBezTo>
                  <a:cubicBezTo>
                    <a:pt x="1036320" y="127194"/>
                    <a:pt x="1084580" y="156404"/>
                    <a:pt x="1117600" y="204664"/>
                  </a:cubicBezTo>
                  <a:cubicBezTo>
                    <a:pt x="1163320" y="274514"/>
                    <a:pt x="1226820" y="434534"/>
                    <a:pt x="1219200" y="495494"/>
                  </a:cubicBezTo>
                  <a:cubicBezTo>
                    <a:pt x="1214120" y="525974"/>
                    <a:pt x="1193800" y="550104"/>
                    <a:pt x="1173480" y="560264"/>
                  </a:cubicBezTo>
                  <a:cubicBezTo>
                    <a:pt x="1151890" y="571694"/>
                    <a:pt x="1113790" y="571694"/>
                    <a:pt x="1093470" y="560264"/>
                  </a:cubicBezTo>
                  <a:cubicBezTo>
                    <a:pt x="1073150" y="548834"/>
                    <a:pt x="1052830" y="514544"/>
                    <a:pt x="1049020" y="492954"/>
                  </a:cubicBezTo>
                  <a:cubicBezTo>
                    <a:pt x="1046480" y="475174"/>
                    <a:pt x="1051560" y="454854"/>
                    <a:pt x="1061720" y="440884"/>
                  </a:cubicBezTo>
                  <a:cubicBezTo>
                    <a:pt x="1074420" y="423104"/>
                    <a:pt x="1107440" y="401514"/>
                    <a:pt x="1130300" y="400244"/>
                  </a:cubicBezTo>
                  <a:cubicBezTo>
                    <a:pt x="1154430" y="398974"/>
                    <a:pt x="1188720" y="418024"/>
                    <a:pt x="1202690" y="434534"/>
                  </a:cubicBezTo>
                  <a:cubicBezTo>
                    <a:pt x="1215390" y="448504"/>
                    <a:pt x="1219200" y="468824"/>
                    <a:pt x="1219200" y="486604"/>
                  </a:cubicBezTo>
                  <a:cubicBezTo>
                    <a:pt x="1219200" y="503114"/>
                    <a:pt x="1211580" y="523434"/>
                    <a:pt x="1201420" y="537404"/>
                  </a:cubicBezTo>
                  <a:cubicBezTo>
                    <a:pt x="1191260" y="551374"/>
                    <a:pt x="1172210" y="562804"/>
                    <a:pt x="1155700" y="567884"/>
                  </a:cubicBezTo>
                  <a:cubicBezTo>
                    <a:pt x="1139190" y="571694"/>
                    <a:pt x="1117600" y="570424"/>
                    <a:pt x="1102360" y="564074"/>
                  </a:cubicBezTo>
                  <a:cubicBezTo>
                    <a:pt x="1085850" y="557724"/>
                    <a:pt x="1074420" y="547564"/>
                    <a:pt x="1060450" y="528514"/>
                  </a:cubicBezTo>
                  <a:cubicBezTo>
                    <a:pt x="1033780" y="489144"/>
                    <a:pt x="1016000" y="368494"/>
                    <a:pt x="988060" y="322774"/>
                  </a:cubicBezTo>
                  <a:cubicBezTo>
                    <a:pt x="970280" y="293564"/>
                    <a:pt x="949960" y="280864"/>
                    <a:pt x="928370" y="263084"/>
                  </a:cubicBezTo>
                  <a:cubicBezTo>
                    <a:pt x="908050" y="245304"/>
                    <a:pt x="891540" y="228794"/>
                    <a:pt x="863600" y="213554"/>
                  </a:cubicBezTo>
                  <a:cubicBezTo>
                    <a:pt x="820420" y="193234"/>
                    <a:pt x="746760" y="164024"/>
                    <a:pt x="687070" y="164024"/>
                  </a:cubicBezTo>
                  <a:cubicBezTo>
                    <a:pt x="627380" y="164024"/>
                    <a:pt x="566420" y="194504"/>
                    <a:pt x="505460" y="214824"/>
                  </a:cubicBezTo>
                  <a:cubicBezTo>
                    <a:pt x="441960" y="235144"/>
                    <a:pt x="364490" y="260544"/>
                    <a:pt x="313690" y="288484"/>
                  </a:cubicBezTo>
                  <a:cubicBezTo>
                    <a:pt x="276860" y="310074"/>
                    <a:pt x="246380" y="329124"/>
                    <a:pt x="222250" y="357064"/>
                  </a:cubicBezTo>
                  <a:cubicBezTo>
                    <a:pt x="196850" y="385004"/>
                    <a:pt x="177800" y="423104"/>
                    <a:pt x="165100" y="457394"/>
                  </a:cubicBezTo>
                  <a:cubicBezTo>
                    <a:pt x="154940" y="487874"/>
                    <a:pt x="161290" y="528514"/>
                    <a:pt x="149860" y="552644"/>
                  </a:cubicBezTo>
                  <a:cubicBezTo>
                    <a:pt x="140970" y="570424"/>
                    <a:pt x="129540" y="585664"/>
                    <a:pt x="113030" y="593284"/>
                  </a:cubicBezTo>
                  <a:cubicBezTo>
                    <a:pt x="93980" y="600904"/>
                    <a:pt x="57150" y="598364"/>
                    <a:pt x="39370" y="592014"/>
                  </a:cubicBezTo>
                  <a:cubicBezTo>
                    <a:pt x="26670" y="586934"/>
                    <a:pt x="19050" y="578044"/>
                    <a:pt x="12700" y="566614"/>
                  </a:cubicBezTo>
                  <a:cubicBezTo>
                    <a:pt x="3810" y="552644"/>
                    <a:pt x="0" y="512004"/>
                    <a:pt x="0" y="51200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751368" y="3747135"/>
            <a:ext cx="595312" cy="400050"/>
            <a:chOff x="0" y="0"/>
            <a:chExt cx="793750" cy="533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49993" y="47642"/>
              <a:ext cx="691764" cy="438768"/>
            </a:xfrm>
            <a:custGeom>
              <a:avLst/>
              <a:gdLst/>
              <a:ahLst/>
              <a:cxnLst/>
              <a:rect r="r" b="b" t="t" l="l"/>
              <a:pathLst>
                <a:path h="438768" w="691764">
                  <a:moveTo>
                    <a:pt x="115107" y="6968"/>
                  </a:moveTo>
                  <a:cubicBezTo>
                    <a:pt x="685337" y="324468"/>
                    <a:pt x="692957" y="343518"/>
                    <a:pt x="691687" y="365108"/>
                  </a:cubicBezTo>
                  <a:cubicBezTo>
                    <a:pt x="691687" y="386698"/>
                    <a:pt x="672637" y="415908"/>
                    <a:pt x="654857" y="427338"/>
                  </a:cubicBezTo>
                  <a:cubicBezTo>
                    <a:pt x="637077" y="438768"/>
                    <a:pt x="601517" y="440038"/>
                    <a:pt x="582467" y="431148"/>
                  </a:cubicBezTo>
                  <a:cubicBezTo>
                    <a:pt x="563417" y="422258"/>
                    <a:pt x="541827" y="394318"/>
                    <a:pt x="539287" y="373998"/>
                  </a:cubicBezTo>
                  <a:cubicBezTo>
                    <a:pt x="535477" y="352408"/>
                    <a:pt x="546907" y="319388"/>
                    <a:pt x="562147" y="305418"/>
                  </a:cubicBezTo>
                  <a:cubicBezTo>
                    <a:pt x="577387" y="290178"/>
                    <a:pt x="610407" y="281288"/>
                    <a:pt x="631997" y="286368"/>
                  </a:cubicBezTo>
                  <a:cubicBezTo>
                    <a:pt x="652317" y="290178"/>
                    <a:pt x="678987" y="313038"/>
                    <a:pt x="686607" y="332088"/>
                  </a:cubicBezTo>
                  <a:cubicBezTo>
                    <a:pt x="694227" y="352408"/>
                    <a:pt x="689147" y="386698"/>
                    <a:pt x="678987" y="404478"/>
                  </a:cubicBezTo>
                  <a:cubicBezTo>
                    <a:pt x="671367" y="418448"/>
                    <a:pt x="654857" y="429878"/>
                    <a:pt x="639617" y="434958"/>
                  </a:cubicBezTo>
                  <a:cubicBezTo>
                    <a:pt x="625647" y="440038"/>
                    <a:pt x="614217" y="440038"/>
                    <a:pt x="590087" y="434958"/>
                  </a:cubicBezTo>
                  <a:cubicBezTo>
                    <a:pt x="510077" y="414638"/>
                    <a:pt x="181147" y="224138"/>
                    <a:pt x="90977" y="172068"/>
                  </a:cubicBezTo>
                  <a:cubicBezTo>
                    <a:pt x="56687" y="151748"/>
                    <a:pt x="36367" y="146668"/>
                    <a:pt x="21127" y="126348"/>
                  </a:cubicBezTo>
                  <a:cubicBezTo>
                    <a:pt x="7157" y="107298"/>
                    <a:pt x="-3003" y="79358"/>
                    <a:pt x="807" y="59038"/>
                  </a:cubicBezTo>
                  <a:cubicBezTo>
                    <a:pt x="4617" y="37448"/>
                    <a:pt x="24937" y="10778"/>
                    <a:pt x="43987" y="3158"/>
                  </a:cubicBezTo>
                  <a:cubicBezTo>
                    <a:pt x="63037" y="-5732"/>
                    <a:pt x="115107" y="6968"/>
                    <a:pt x="115107" y="696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5253335" y="3714750"/>
            <a:ext cx="367665" cy="280035"/>
            <a:chOff x="0" y="0"/>
            <a:chExt cx="490220" cy="3733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48657" y="47752"/>
              <a:ext cx="391572" cy="273558"/>
            </a:xfrm>
            <a:custGeom>
              <a:avLst/>
              <a:gdLst/>
              <a:ahLst/>
              <a:cxnLst/>
              <a:rect r="r" b="b" t="t" l="l"/>
              <a:pathLst>
                <a:path h="273558" w="391572">
                  <a:moveTo>
                    <a:pt x="351393" y="145288"/>
                  </a:moveTo>
                  <a:cubicBezTo>
                    <a:pt x="56753" y="274828"/>
                    <a:pt x="42783" y="267208"/>
                    <a:pt x="30083" y="257048"/>
                  </a:cubicBezTo>
                  <a:cubicBezTo>
                    <a:pt x="17383" y="246888"/>
                    <a:pt x="5953" y="229108"/>
                    <a:pt x="2143" y="213868"/>
                  </a:cubicBezTo>
                  <a:cubicBezTo>
                    <a:pt x="-1667" y="198628"/>
                    <a:pt x="-397" y="177038"/>
                    <a:pt x="5953" y="161798"/>
                  </a:cubicBezTo>
                  <a:cubicBezTo>
                    <a:pt x="12303" y="147828"/>
                    <a:pt x="23733" y="131318"/>
                    <a:pt x="40243" y="123698"/>
                  </a:cubicBezTo>
                  <a:cubicBezTo>
                    <a:pt x="58023" y="114808"/>
                    <a:pt x="94853" y="110998"/>
                    <a:pt x="115173" y="121158"/>
                  </a:cubicBezTo>
                  <a:cubicBezTo>
                    <a:pt x="135493" y="130048"/>
                    <a:pt x="157083" y="159258"/>
                    <a:pt x="159623" y="182118"/>
                  </a:cubicBezTo>
                  <a:cubicBezTo>
                    <a:pt x="163433" y="203708"/>
                    <a:pt x="149463" y="237998"/>
                    <a:pt x="135493" y="253238"/>
                  </a:cubicBezTo>
                  <a:cubicBezTo>
                    <a:pt x="122793" y="265938"/>
                    <a:pt x="105013" y="273558"/>
                    <a:pt x="87233" y="273558"/>
                  </a:cubicBezTo>
                  <a:cubicBezTo>
                    <a:pt x="66913" y="273558"/>
                    <a:pt x="32623" y="262128"/>
                    <a:pt x="17383" y="244348"/>
                  </a:cubicBezTo>
                  <a:cubicBezTo>
                    <a:pt x="3413" y="227838"/>
                    <a:pt x="873" y="188468"/>
                    <a:pt x="3413" y="170688"/>
                  </a:cubicBezTo>
                  <a:cubicBezTo>
                    <a:pt x="4683" y="160528"/>
                    <a:pt x="5953" y="155448"/>
                    <a:pt x="13573" y="146558"/>
                  </a:cubicBezTo>
                  <a:cubicBezTo>
                    <a:pt x="32623" y="126238"/>
                    <a:pt x="96123" y="97028"/>
                    <a:pt x="140573" y="74168"/>
                  </a:cubicBezTo>
                  <a:cubicBezTo>
                    <a:pt x="187563" y="48768"/>
                    <a:pt x="251063" y="9398"/>
                    <a:pt x="289163" y="3048"/>
                  </a:cubicBezTo>
                  <a:cubicBezTo>
                    <a:pt x="312023" y="-2032"/>
                    <a:pt x="329803" y="-762"/>
                    <a:pt x="345043" y="6858"/>
                  </a:cubicBezTo>
                  <a:cubicBezTo>
                    <a:pt x="360283" y="13208"/>
                    <a:pt x="376793" y="32258"/>
                    <a:pt x="384413" y="46228"/>
                  </a:cubicBezTo>
                  <a:cubicBezTo>
                    <a:pt x="389493" y="57658"/>
                    <a:pt x="393303" y="69088"/>
                    <a:pt x="390763" y="83058"/>
                  </a:cubicBezTo>
                  <a:cubicBezTo>
                    <a:pt x="386953" y="102108"/>
                    <a:pt x="351393" y="145288"/>
                    <a:pt x="351393" y="14528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4654212" y="4862512"/>
            <a:ext cx="778193" cy="2872740"/>
            <a:chOff x="0" y="0"/>
            <a:chExt cx="1037590" cy="38303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49929" y="49050"/>
              <a:ext cx="939144" cy="3729200"/>
            </a:xfrm>
            <a:custGeom>
              <a:avLst/>
              <a:gdLst/>
              <a:ahLst/>
              <a:cxnLst/>
              <a:rect r="r" b="b" t="t" l="l"/>
              <a:pathLst>
                <a:path h="3729200" w="939144">
                  <a:moveTo>
                    <a:pt x="865741" y="71600"/>
                  </a:moveTo>
                  <a:cubicBezTo>
                    <a:pt x="784461" y="954250"/>
                    <a:pt x="774301" y="1236190"/>
                    <a:pt x="783191" y="1485110"/>
                  </a:cubicBezTo>
                  <a:cubicBezTo>
                    <a:pt x="792081" y="1718790"/>
                    <a:pt x="816211" y="1976600"/>
                    <a:pt x="845421" y="2162020"/>
                  </a:cubicBezTo>
                  <a:cubicBezTo>
                    <a:pt x="867011" y="2294100"/>
                    <a:pt x="908921" y="2412210"/>
                    <a:pt x="922891" y="2497300"/>
                  </a:cubicBezTo>
                  <a:cubicBezTo>
                    <a:pt x="931781" y="2548100"/>
                    <a:pt x="945751" y="2579850"/>
                    <a:pt x="935591" y="2620490"/>
                  </a:cubicBezTo>
                  <a:cubicBezTo>
                    <a:pt x="922891" y="2670020"/>
                    <a:pt x="887331" y="2706850"/>
                    <a:pt x="836531" y="2767810"/>
                  </a:cubicBezTo>
                  <a:cubicBezTo>
                    <a:pt x="728581" y="2899890"/>
                    <a:pt x="362821" y="3228820"/>
                    <a:pt x="272651" y="3335500"/>
                  </a:cubicBezTo>
                  <a:cubicBezTo>
                    <a:pt x="239631" y="3373600"/>
                    <a:pt x="229471" y="3387570"/>
                    <a:pt x="210421" y="3418050"/>
                  </a:cubicBezTo>
                  <a:cubicBezTo>
                    <a:pt x="190101" y="3453610"/>
                    <a:pt x="165971" y="3491710"/>
                    <a:pt x="152001" y="3534890"/>
                  </a:cubicBezTo>
                  <a:cubicBezTo>
                    <a:pt x="136761" y="3584420"/>
                    <a:pt x="150731" y="3672050"/>
                    <a:pt x="127871" y="3702530"/>
                  </a:cubicBezTo>
                  <a:cubicBezTo>
                    <a:pt x="112631" y="3721580"/>
                    <a:pt x="84691" y="3729200"/>
                    <a:pt x="66911" y="3729200"/>
                  </a:cubicBezTo>
                  <a:cubicBezTo>
                    <a:pt x="51671" y="3729200"/>
                    <a:pt x="35161" y="3721580"/>
                    <a:pt x="25001" y="3711420"/>
                  </a:cubicBezTo>
                  <a:cubicBezTo>
                    <a:pt x="13571" y="3702530"/>
                    <a:pt x="3411" y="3687290"/>
                    <a:pt x="2141" y="3672050"/>
                  </a:cubicBezTo>
                  <a:cubicBezTo>
                    <a:pt x="-399" y="3654270"/>
                    <a:pt x="7221" y="3622520"/>
                    <a:pt x="21191" y="3608550"/>
                  </a:cubicBezTo>
                  <a:cubicBezTo>
                    <a:pt x="35161" y="3594580"/>
                    <a:pt x="66911" y="3586960"/>
                    <a:pt x="84691" y="3588230"/>
                  </a:cubicBezTo>
                  <a:cubicBezTo>
                    <a:pt x="99931" y="3590770"/>
                    <a:pt x="115171" y="3599660"/>
                    <a:pt x="124061" y="3611090"/>
                  </a:cubicBezTo>
                  <a:cubicBezTo>
                    <a:pt x="134221" y="3621250"/>
                    <a:pt x="141841" y="3636490"/>
                    <a:pt x="143111" y="3651730"/>
                  </a:cubicBezTo>
                  <a:cubicBezTo>
                    <a:pt x="143111" y="3670780"/>
                    <a:pt x="131681" y="3701260"/>
                    <a:pt x="116441" y="3713960"/>
                  </a:cubicBezTo>
                  <a:cubicBezTo>
                    <a:pt x="101201" y="3725390"/>
                    <a:pt x="69451" y="3730470"/>
                    <a:pt x="51671" y="3726660"/>
                  </a:cubicBezTo>
                  <a:cubicBezTo>
                    <a:pt x="36431" y="3722850"/>
                    <a:pt x="22461" y="3711420"/>
                    <a:pt x="14841" y="3699990"/>
                  </a:cubicBezTo>
                  <a:cubicBezTo>
                    <a:pt x="5951" y="3688560"/>
                    <a:pt x="2141" y="3675860"/>
                    <a:pt x="871" y="3656810"/>
                  </a:cubicBezTo>
                  <a:cubicBezTo>
                    <a:pt x="-1669" y="3626330"/>
                    <a:pt x="871" y="3575530"/>
                    <a:pt x="14841" y="3531080"/>
                  </a:cubicBezTo>
                  <a:cubicBezTo>
                    <a:pt x="31351" y="3472660"/>
                    <a:pt x="77071" y="3392650"/>
                    <a:pt x="108821" y="3341850"/>
                  </a:cubicBezTo>
                  <a:cubicBezTo>
                    <a:pt x="132951" y="3302480"/>
                    <a:pt x="144381" y="3289780"/>
                    <a:pt x="182481" y="3245330"/>
                  </a:cubicBezTo>
                  <a:cubicBezTo>
                    <a:pt x="289161" y="3124680"/>
                    <a:pt x="752711" y="2812260"/>
                    <a:pt x="814941" y="2602710"/>
                  </a:cubicBezTo>
                  <a:cubicBezTo>
                    <a:pt x="858121" y="2457930"/>
                    <a:pt x="752711" y="2323310"/>
                    <a:pt x="729851" y="2177260"/>
                  </a:cubicBezTo>
                  <a:cubicBezTo>
                    <a:pt x="706991" y="2022320"/>
                    <a:pt x="687941" y="1826740"/>
                    <a:pt x="677781" y="1698470"/>
                  </a:cubicBezTo>
                  <a:cubicBezTo>
                    <a:pt x="670161" y="1613380"/>
                    <a:pt x="667621" y="1574010"/>
                    <a:pt x="665081" y="1485110"/>
                  </a:cubicBezTo>
                  <a:cubicBezTo>
                    <a:pt x="661271" y="1337790"/>
                    <a:pt x="661271" y="1097760"/>
                    <a:pt x="667621" y="897100"/>
                  </a:cubicBezTo>
                  <a:cubicBezTo>
                    <a:pt x="675241" y="686280"/>
                    <a:pt x="693021" y="405610"/>
                    <a:pt x="709531" y="250670"/>
                  </a:cubicBezTo>
                  <a:cubicBezTo>
                    <a:pt x="719691" y="161770"/>
                    <a:pt x="723501" y="81760"/>
                    <a:pt x="741281" y="42390"/>
                  </a:cubicBezTo>
                  <a:cubicBezTo>
                    <a:pt x="748901" y="24610"/>
                    <a:pt x="759061" y="14450"/>
                    <a:pt x="770491" y="8100"/>
                  </a:cubicBezTo>
                  <a:cubicBezTo>
                    <a:pt x="783191" y="480"/>
                    <a:pt x="802241" y="-2060"/>
                    <a:pt x="816211" y="1750"/>
                  </a:cubicBezTo>
                  <a:cubicBezTo>
                    <a:pt x="830181" y="4290"/>
                    <a:pt x="846691" y="15720"/>
                    <a:pt x="854311" y="27150"/>
                  </a:cubicBezTo>
                  <a:cubicBezTo>
                    <a:pt x="863201" y="38580"/>
                    <a:pt x="865741" y="71600"/>
                    <a:pt x="865741" y="7160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5260955" y="6633210"/>
            <a:ext cx="964882" cy="744855"/>
            <a:chOff x="0" y="0"/>
            <a:chExt cx="1286510" cy="9931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50800" y="50432"/>
              <a:ext cx="1185050" cy="892215"/>
            </a:xfrm>
            <a:custGeom>
              <a:avLst/>
              <a:gdLst/>
              <a:ahLst/>
              <a:cxnLst/>
              <a:rect r="r" b="b" t="t" l="l"/>
              <a:pathLst>
                <a:path h="892215" w="1185050">
                  <a:moveTo>
                    <a:pt x="104140" y="9258"/>
                  </a:moveTo>
                  <a:cubicBezTo>
                    <a:pt x="773430" y="388988"/>
                    <a:pt x="800100" y="408038"/>
                    <a:pt x="848360" y="446138"/>
                  </a:cubicBezTo>
                  <a:cubicBezTo>
                    <a:pt x="905510" y="490588"/>
                    <a:pt x="974090" y="547738"/>
                    <a:pt x="1027430" y="601078"/>
                  </a:cubicBezTo>
                  <a:cubicBezTo>
                    <a:pt x="1076960" y="649338"/>
                    <a:pt x="1135380" y="706488"/>
                    <a:pt x="1159510" y="748398"/>
                  </a:cubicBezTo>
                  <a:cubicBezTo>
                    <a:pt x="1174750" y="772528"/>
                    <a:pt x="1182370" y="791578"/>
                    <a:pt x="1183640" y="811898"/>
                  </a:cubicBezTo>
                  <a:cubicBezTo>
                    <a:pt x="1183640" y="832218"/>
                    <a:pt x="1174750" y="858888"/>
                    <a:pt x="1165860" y="871588"/>
                  </a:cubicBezTo>
                  <a:cubicBezTo>
                    <a:pt x="1158240" y="881748"/>
                    <a:pt x="1149350" y="886828"/>
                    <a:pt x="1137920" y="889368"/>
                  </a:cubicBezTo>
                  <a:cubicBezTo>
                    <a:pt x="1125220" y="891908"/>
                    <a:pt x="1103630" y="891908"/>
                    <a:pt x="1090930" y="886828"/>
                  </a:cubicBezTo>
                  <a:cubicBezTo>
                    <a:pt x="1079500" y="883018"/>
                    <a:pt x="1074420" y="879208"/>
                    <a:pt x="1065530" y="867778"/>
                  </a:cubicBezTo>
                  <a:cubicBezTo>
                    <a:pt x="1037590" y="833488"/>
                    <a:pt x="961390" y="683628"/>
                    <a:pt x="960120" y="630288"/>
                  </a:cubicBezTo>
                  <a:cubicBezTo>
                    <a:pt x="960120" y="603618"/>
                    <a:pt x="970280" y="582028"/>
                    <a:pt x="985520" y="570598"/>
                  </a:cubicBezTo>
                  <a:cubicBezTo>
                    <a:pt x="999490" y="557898"/>
                    <a:pt x="1031240" y="552818"/>
                    <a:pt x="1049020" y="556628"/>
                  </a:cubicBezTo>
                  <a:cubicBezTo>
                    <a:pt x="1062990" y="559168"/>
                    <a:pt x="1076960" y="570598"/>
                    <a:pt x="1085850" y="582028"/>
                  </a:cubicBezTo>
                  <a:cubicBezTo>
                    <a:pt x="1093470" y="593458"/>
                    <a:pt x="1101090" y="608698"/>
                    <a:pt x="1099820" y="623938"/>
                  </a:cubicBezTo>
                  <a:cubicBezTo>
                    <a:pt x="1097280" y="641718"/>
                    <a:pt x="1084580" y="670928"/>
                    <a:pt x="1068070" y="681088"/>
                  </a:cubicBezTo>
                  <a:cubicBezTo>
                    <a:pt x="1052830" y="692518"/>
                    <a:pt x="1021080" y="693788"/>
                    <a:pt x="1003300" y="687438"/>
                  </a:cubicBezTo>
                  <a:cubicBezTo>
                    <a:pt x="989330" y="683628"/>
                    <a:pt x="976630" y="670928"/>
                    <a:pt x="970280" y="659498"/>
                  </a:cubicBezTo>
                  <a:cubicBezTo>
                    <a:pt x="962660" y="646798"/>
                    <a:pt x="957580" y="630288"/>
                    <a:pt x="960120" y="615048"/>
                  </a:cubicBezTo>
                  <a:cubicBezTo>
                    <a:pt x="963930" y="597268"/>
                    <a:pt x="981710" y="571868"/>
                    <a:pt x="996950" y="561708"/>
                  </a:cubicBezTo>
                  <a:cubicBezTo>
                    <a:pt x="1009650" y="554088"/>
                    <a:pt x="1027430" y="552818"/>
                    <a:pt x="1041400" y="555358"/>
                  </a:cubicBezTo>
                  <a:cubicBezTo>
                    <a:pt x="1055370" y="556628"/>
                    <a:pt x="1066800" y="561708"/>
                    <a:pt x="1080770" y="575678"/>
                  </a:cubicBezTo>
                  <a:cubicBezTo>
                    <a:pt x="1113790" y="612508"/>
                    <a:pt x="1188720" y="776338"/>
                    <a:pt x="1184910" y="828408"/>
                  </a:cubicBezTo>
                  <a:cubicBezTo>
                    <a:pt x="1182370" y="853808"/>
                    <a:pt x="1167130" y="871588"/>
                    <a:pt x="1153160" y="881748"/>
                  </a:cubicBezTo>
                  <a:cubicBezTo>
                    <a:pt x="1140460" y="890638"/>
                    <a:pt x="1120140" y="893178"/>
                    <a:pt x="1106170" y="891908"/>
                  </a:cubicBezTo>
                  <a:cubicBezTo>
                    <a:pt x="1094740" y="890638"/>
                    <a:pt x="1087120" y="888098"/>
                    <a:pt x="1076960" y="879208"/>
                  </a:cubicBezTo>
                  <a:cubicBezTo>
                    <a:pt x="1055370" y="860158"/>
                    <a:pt x="1032510" y="797928"/>
                    <a:pt x="1008380" y="766178"/>
                  </a:cubicBezTo>
                  <a:cubicBezTo>
                    <a:pt x="988060" y="739508"/>
                    <a:pt x="974090" y="724268"/>
                    <a:pt x="947420" y="697598"/>
                  </a:cubicBezTo>
                  <a:cubicBezTo>
                    <a:pt x="906780" y="655688"/>
                    <a:pt x="833120" y="588378"/>
                    <a:pt x="779780" y="545198"/>
                  </a:cubicBezTo>
                  <a:cubicBezTo>
                    <a:pt x="734060" y="510908"/>
                    <a:pt x="709930" y="494398"/>
                    <a:pt x="648970" y="457568"/>
                  </a:cubicBezTo>
                  <a:cubicBezTo>
                    <a:pt x="519430" y="377558"/>
                    <a:pt x="82550" y="181978"/>
                    <a:pt x="20320" y="113398"/>
                  </a:cubicBezTo>
                  <a:cubicBezTo>
                    <a:pt x="3810" y="95618"/>
                    <a:pt x="1270" y="85458"/>
                    <a:pt x="0" y="70218"/>
                  </a:cubicBezTo>
                  <a:cubicBezTo>
                    <a:pt x="0" y="54978"/>
                    <a:pt x="6350" y="35928"/>
                    <a:pt x="15240" y="24498"/>
                  </a:cubicBezTo>
                  <a:cubicBezTo>
                    <a:pt x="24130" y="13068"/>
                    <a:pt x="41910" y="2908"/>
                    <a:pt x="55880" y="368"/>
                  </a:cubicBezTo>
                  <a:cubicBezTo>
                    <a:pt x="71120" y="-2172"/>
                    <a:pt x="104140" y="9258"/>
                    <a:pt x="104140" y="925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3929360" y="4910138"/>
            <a:ext cx="1399223" cy="405765"/>
            <a:chOff x="0" y="0"/>
            <a:chExt cx="1865630" cy="5410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0607" y="48880"/>
              <a:ext cx="1765596" cy="444767"/>
            </a:xfrm>
            <a:custGeom>
              <a:avLst/>
              <a:gdLst/>
              <a:ahLst/>
              <a:cxnLst/>
              <a:rect r="r" b="b" t="t" l="l"/>
              <a:pathLst>
                <a:path h="444767" w="1765596">
                  <a:moveTo>
                    <a:pt x="1679133" y="172100"/>
                  </a:moveTo>
                  <a:cubicBezTo>
                    <a:pt x="1289243" y="160670"/>
                    <a:pt x="1246063" y="175910"/>
                    <a:pt x="1153353" y="197500"/>
                  </a:cubicBezTo>
                  <a:cubicBezTo>
                    <a:pt x="981903" y="238140"/>
                    <a:pt x="600903" y="358790"/>
                    <a:pt x="424373" y="398160"/>
                  </a:cubicBezTo>
                  <a:cubicBezTo>
                    <a:pt x="325313" y="421020"/>
                    <a:pt x="259273" y="433720"/>
                    <a:pt x="191963" y="440070"/>
                  </a:cubicBezTo>
                  <a:cubicBezTo>
                    <a:pt x="138623" y="443880"/>
                    <a:pt x="82743" y="448960"/>
                    <a:pt x="52263" y="438800"/>
                  </a:cubicBezTo>
                  <a:cubicBezTo>
                    <a:pt x="33213" y="432450"/>
                    <a:pt x="20513" y="423560"/>
                    <a:pt x="12893" y="408320"/>
                  </a:cubicBezTo>
                  <a:cubicBezTo>
                    <a:pt x="2733" y="391810"/>
                    <a:pt x="-2347" y="357520"/>
                    <a:pt x="5273" y="338470"/>
                  </a:cubicBezTo>
                  <a:cubicBezTo>
                    <a:pt x="12893" y="318150"/>
                    <a:pt x="39563" y="296560"/>
                    <a:pt x="59883" y="291480"/>
                  </a:cubicBezTo>
                  <a:cubicBezTo>
                    <a:pt x="80203" y="287670"/>
                    <a:pt x="113223" y="297830"/>
                    <a:pt x="128463" y="310530"/>
                  </a:cubicBezTo>
                  <a:cubicBezTo>
                    <a:pt x="141163" y="320690"/>
                    <a:pt x="150053" y="337200"/>
                    <a:pt x="151323" y="353710"/>
                  </a:cubicBezTo>
                  <a:cubicBezTo>
                    <a:pt x="152593" y="374030"/>
                    <a:pt x="143703" y="407050"/>
                    <a:pt x="128463" y="421020"/>
                  </a:cubicBezTo>
                  <a:cubicBezTo>
                    <a:pt x="113223" y="436260"/>
                    <a:pt x="78933" y="442610"/>
                    <a:pt x="59883" y="440070"/>
                  </a:cubicBezTo>
                  <a:cubicBezTo>
                    <a:pt x="43373" y="438800"/>
                    <a:pt x="28133" y="427370"/>
                    <a:pt x="17973" y="415940"/>
                  </a:cubicBezTo>
                  <a:cubicBezTo>
                    <a:pt x="7813" y="403240"/>
                    <a:pt x="193" y="385460"/>
                    <a:pt x="193" y="370220"/>
                  </a:cubicBezTo>
                  <a:cubicBezTo>
                    <a:pt x="-1077" y="354980"/>
                    <a:pt x="4003" y="335930"/>
                    <a:pt x="12893" y="323230"/>
                  </a:cubicBezTo>
                  <a:cubicBezTo>
                    <a:pt x="21783" y="310530"/>
                    <a:pt x="31943" y="300370"/>
                    <a:pt x="52263" y="294020"/>
                  </a:cubicBezTo>
                  <a:cubicBezTo>
                    <a:pt x="92903" y="278780"/>
                    <a:pt x="204663" y="295290"/>
                    <a:pt x="265623" y="288940"/>
                  </a:cubicBezTo>
                  <a:cubicBezTo>
                    <a:pt x="312613" y="283860"/>
                    <a:pt x="329123" y="277510"/>
                    <a:pt x="387543" y="263540"/>
                  </a:cubicBezTo>
                  <a:cubicBezTo>
                    <a:pt x="548833" y="224170"/>
                    <a:pt x="1083503" y="43830"/>
                    <a:pt x="1277813" y="12080"/>
                  </a:cubicBezTo>
                  <a:cubicBezTo>
                    <a:pt x="1371793" y="-3160"/>
                    <a:pt x="1416243" y="-620"/>
                    <a:pt x="1488633" y="1920"/>
                  </a:cubicBezTo>
                  <a:cubicBezTo>
                    <a:pt x="1563563" y="4460"/>
                    <a:pt x="1675323" y="5730"/>
                    <a:pt x="1718503" y="26050"/>
                  </a:cubicBezTo>
                  <a:cubicBezTo>
                    <a:pt x="1738823" y="34940"/>
                    <a:pt x="1750253" y="47640"/>
                    <a:pt x="1757873" y="62880"/>
                  </a:cubicBezTo>
                  <a:cubicBezTo>
                    <a:pt x="1765493" y="76850"/>
                    <a:pt x="1768033" y="99710"/>
                    <a:pt x="1762953" y="116220"/>
                  </a:cubicBezTo>
                  <a:cubicBezTo>
                    <a:pt x="1759143" y="132730"/>
                    <a:pt x="1745173" y="150510"/>
                    <a:pt x="1731203" y="159400"/>
                  </a:cubicBezTo>
                  <a:cubicBezTo>
                    <a:pt x="1717233" y="169560"/>
                    <a:pt x="1679133" y="172100"/>
                    <a:pt x="1679133" y="17210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079855" y="5305425"/>
            <a:ext cx="1329690" cy="506730"/>
            <a:chOff x="0" y="0"/>
            <a:chExt cx="1772920" cy="675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50638" y="50519"/>
              <a:ext cx="1671482" cy="576536"/>
            </a:xfrm>
            <a:custGeom>
              <a:avLst/>
              <a:gdLst/>
              <a:ahLst/>
              <a:cxnLst/>
              <a:rect r="r" b="b" t="t" l="l"/>
              <a:pathLst>
                <a:path h="576536" w="1671482">
                  <a:moveTo>
                    <a:pt x="1619412" y="132361"/>
                  </a:moveTo>
                  <a:cubicBezTo>
                    <a:pt x="242732" y="505741"/>
                    <a:pt x="146212" y="570511"/>
                    <a:pt x="83982" y="574321"/>
                  </a:cubicBezTo>
                  <a:cubicBezTo>
                    <a:pt x="57312" y="576861"/>
                    <a:pt x="36992" y="573051"/>
                    <a:pt x="24292" y="560351"/>
                  </a:cubicBezTo>
                  <a:cubicBezTo>
                    <a:pt x="10322" y="548921"/>
                    <a:pt x="162" y="519711"/>
                    <a:pt x="1432" y="501931"/>
                  </a:cubicBezTo>
                  <a:cubicBezTo>
                    <a:pt x="1432" y="487961"/>
                    <a:pt x="10322" y="473991"/>
                    <a:pt x="19212" y="463831"/>
                  </a:cubicBezTo>
                  <a:cubicBezTo>
                    <a:pt x="29372" y="453671"/>
                    <a:pt x="43342" y="444781"/>
                    <a:pt x="57312" y="444781"/>
                  </a:cubicBezTo>
                  <a:cubicBezTo>
                    <a:pt x="73822" y="443511"/>
                    <a:pt x="103032" y="453671"/>
                    <a:pt x="115732" y="465101"/>
                  </a:cubicBezTo>
                  <a:cubicBezTo>
                    <a:pt x="127162" y="473991"/>
                    <a:pt x="132242" y="490501"/>
                    <a:pt x="133512" y="503201"/>
                  </a:cubicBezTo>
                  <a:cubicBezTo>
                    <a:pt x="134782" y="517171"/>
                    <a:pt x="130972" y="533681"/>
                    <a:pt x="123352" y="545111"/>
                  </a:cubicBezTo>
                  <a:cubicBezTo>
                    <a:pt x="117002" y="556541"/>
                    <a:pt x="104302" y="567971"/>
                    <a:pt x="91602" y="571781"/>
                  </a:cubicBezTo>
                  <a:cubicBezTo>
                    <a:pt x="78902" y="576861"/>
                    <a:pt x="61122" y="578131"/>
                    <a:pt x="48422" y="574321"/>
                  </a:cubicBezTo>
                  <a:cubicBezTo>
                    <a:pt x="35722" y="570511"/>
                    <a:pt x="21752" y="560351"/>
                    <a:pt x="14132" y="550191"/>
                  </a:cubicBezTo>
                  <a:cubicBezTo>
                    <a:pt x="5242" y="538761"/>
                    <a:pt x="-1108" y="523521"/>
                    <a:pt x="162" y="509551"/>
                  </a:cubicBezTo>
                  <a:cubicBezTo>
                    <a:pt x="2702" y="491771"/>
                    <a:pt x="12862" y="470181"/>
                    <a:pt x="30642" y="454941"/>
                  </a:cubicBezTo>
                  <a:cubicBezTo>
                    <a:pt x="54772" y="433351"/>
                    <a:pt x="87792" y="429541"/>
                    <a:pt x="144942" y="410491"/>
                  </a:cubicBezTo>
                  <a:cubicBezTo>
                    <a:pt x="302422" y="355881"/>
                    <a:pt x="801532" y="207291"/>
                    <a:pt x="1050452" y="137441"/>
                  </a:cubicBezTo>
                  <a:cubicBezTo>
                    <a:pt x="1221902" y="90451"/>
                    <a:pt x="1390812" y="47271"/>
                    <a:pt x="1489872" y="24411"/>
                  </a:cubicBezTo>
                  <a:cubicBezTo>
                    <a:pt x="1540672" y="12981"/>
                    <a:pt x="1576232" y="-2259"/>
                    <a:pt x="1605442" y="281"/>
                  </a:cubicBezTo>
                  <a:cubicBezTo>
                    <a:pt x="1624492" y="2821"/>
                    <a:pt x="1639732" y="6631"/>
                    <a:pt x="1649892" y="18061"/>
                  </a:cubicBezTo>
                  <a:cubicBezTo>
                    <a:pt x="1662592" y="30761"/>
                    <a:pt x="1671482" y="59971"/>
                    <a:pt x="1671482" y="76481"/>
                  </a:cubicBezTo>
                  <a:cubicBezTo>
                    <a:pt x="1670212" y="87911"/>
                    <a:pt x="1666402" y="98071"/>
                    <a:pt x="1658782" y="105691"/>
                  </a:cubicBezTo>
                  <a:cubicBezTo>
                    <a:pt x="1651162" y="117121"/>
                    <a:pt x="1619412" y="132361"/>
                    <a:pt x="1619412" y="13236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4594205" y="2216467"/>
            <a:ext cx="828675" cy="1263015"/>
            <a:chOff x="0" y="0"/>
            <a:chExt cx="1104900" cy="16840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50153" y="50800"/>
              <a:ext cx="1005217" cy="1582777"/>
            </a:xfrm>
            <a:custGeom>
              <a:avLst/>
              <a:gdLst/>
              <a:ahLst/>
              <a:cxnLst/>
              <a:rect r="r" b="b" t="t" l="l"/>
              <a:pathLst>
                <a:path h="1582777" w="1005217">
                  <a:moveTo>
                    <a:pt x="74307" y="0"/>
                  </a:moveTo>
                  <a:cubicBezTo>
                    <a:pt x="620407" y="24130"/>
                    <a:pt x="661047" y="30480"/>
                    <a:pt x="716927" y="49530"/>
                  </a:cubicBezTo>
                  <a:cubicBezTo>
                    <a:pt x="779157" y="69850"/>
                    <a:pt x="879487" y="99060"/>
                    <a:pt x="904887" y="140970"/>
                  </a:cubicBezTo>
                  <a:cubicBezTo>
                    <a:pt x="922667" y="167640"/>
                    <a:pt x="921397" y="213360"/>
                    <a:pt x="906157" y="238760"/>
                  </a:cubicBezTo>
                  <a:cubicBezTo>
                    <a:pt x="888377" y="266700"/>
                    <a:pt x="829957" y="281940"/>
                    <a:pt x="793127" y="295910"/>
                  </a:cubicBezTo>
                  <a:cubicBezTo>
                    <a:pt x="760107" y="307340"/>
                    <a:pt x="719467" y="295910"/>
                    <a:pt x="695337" y="318770"/>
                  </a:cubicBezTo>
                  <a:cubicBezTo>
                    <a:pt x="662317" y="347980"/>
                    <a:pt x="647077" y="434340"/>
                    <a:pt x="638187" y="480060"/>
                  </a:cubicBezTo>
                  <a:cubicBezTo>
                    <a:pt x="633107" y="513080"/>
                    <a:pt x="629297" y="538480"/>
                    <a:pt x="636917" y="566420"/>
                  </a:cubicBezTo>
                  <a:cubicBezTo>
                    <a:pt x="644537" y="596900"/>
                    <a:pt x="658507" y="618490"/>
                    <a:pt x="685177" y="654050"/>
                  </a:cubicBezTo>
                  <a:cubicBezTo>
                    <a:pt x="738517" y="721360"/>
                    <a:pt x="917587" y="852170"/>
                    <a:pt x="964577" y="924560"/>
                  </a:cubicBezTo>
                  <a:cubicBezTo>
                    <a:pt x="988707" y="961390"/>
                    <a:pt x="992517" y="988060"/>
                    <a:pt x="1000137" y="1021080"/>
                  </a:cubicBezTo>
                  <a:cubicBezTo>
                    <a:pt x="1005217" y="1052830"/>
                    <a:pt x="1006487" y="1085850"/>
                    <a:pt x="1003947" y="1116330"/>
                  </a:cubicBezTo>
                  <a:cubicBezTo>
                    <a:pt x="1000137" y="1143000"/>
                    <a:pt x="988707" y="1162050"/>
                    <a:pt x="983627" y="1193800"/>
                  </a:cubicBezTo>
                  <a:cubicBezTo>
                    <a:pt x="974737" y="1245870"/>
                    <a:pt x="976007" y="1344930"/>
                    <a:pt x="965847" y="1399540"/>
                  </a:cubicBezTo>
                  <a:cubicBezTo>
                    <a:pt x="958227" y="1436370"/>
                    <a:pt x="951877" y="1460500"/>
                    <a:pt x="936637" y="1489710"/>
                  </a:cubicBezTo>
                  <a:cubicBezTo>
                    <a:pt x="920127" y="1521460"/>
                    <a:pt x="897267" y="1577340"/>
                    <a:pt x="866787" y="1582420"/>
                  </a:cubicBezTo>
                  <a:cubicBezTo>
                    <a:pt x="827417" y="1588770"/>
                    <a:pt x="747407" y="1508760"/>
                    <a:pt x="709307" y="1471930"/>
                  </a:cubicBezTo>
                  <a:cubicBezTo>
                    <a:pt x="682637" y="1445260"/>
                    <a:pt x="681367" y="1421130"/>
                    <a:pt x="652157" y="1390650"/>
                  </a:cubicBezTo>
                  <a:cubicBezTo>
                    <a:pt x="601357" y="1337310"/>
                    <a:pt x="441337" y="1247140"/>
                    <a:pt x="404507" y="1203960"/>
                  </a:cubicBezTo>
                  <a:cubicBezTo>
                    <a:pt x="390537" y="1186180"/>
                    <a:pt x="385457" y="1174750"/>
                    <a:pt x="382917" y="1160780"/>
                  </a:cubicBezTo>
                  <a:cubicBezTo>
                    <a:pt x="381647" y="1145540"/>
                    <a:pt x="385457" y="1126490"/>
                    <a:pt x="391807" y="1112520"/>
                  </a:cubicBezTo>
                  <a:cubicBezTo>
                    <a:pt x="399427" y="1099820"/>
                    <a:pt x="413397" y="1085850"/>
                    <a:pt x="428637" y="1080770"/>
                  </a:cubicBezTo>
                  <a:cubicBezTo>
                    <a:pt x="446417" y="1074420"/>
                    <a:pt x="480707" y="1075690"/>
                    <a:pt x="498487" y="1087120"/>
                  </a:cubicBezTo>
                  <a:cubicBezTo>
                    <a:pt x="516267" y="1098550"/>
                    <a:pt x="531507" y="1129030"/>
                    <a:pt x="532777" y="1148080"/>
                  </a:cubicBezTo>
                  <a:cubicBezTo>
                    <a:pt x="535317" y="1164590"/>
                    <a:pt x="527697" y="1182370"/>
                    <a:pt x="518807" y="1193800"/>
                  </a:cubicBezTo>
                  <a:cubicBezTo>
                    <a:pt x="509917" y="1206500"/>
                    <a:pt x="495947" y="1219200"/>
                    <a:pt x="479437" y="1221740"/>
                  </a:cubicBezTo>
                  <a:cubicBezTo>
                    <a:pt x="460387" y="1226820"/>
                    <a:pt x="427367" y="1219200"/>
                    <a:pt x="410857" y="1209040"/>
                  </a:cubicBezTo>
                  <a:cubicBezTo>
                    <a:pt x="396887" y="1200150"/>
                    <a:pt x="387997" y="1183640"/>
                    <a:pt x="384187" y="1168400"/>
                  </a:cubicBezTo>
                  <a:cubicBezTo>
                    <a:pt x="381647" y="1153160"/>
                    <a:pt x="382917" y="1134110"/>
                    <a:pt x="389267" y="1120140"/>
                  </a:cubicBezTo>
                  <a:cubicBezTo>
                    <a:pt x="394347" y="1106170"/>
                    <a:pt x="405777" y="1090930"/>
                    <a:pt x="421017" y="1084580"/>
                  </a:cubicBezTo>
                  <a:cubicBezTo>
                    <a:pt x="438797" y="1076960"/>
                    <a:pt x="461657" y="1073150"/>
                    <a:pt x="490867" y="1083310"/>
                  </a:cubicBezTo>
                  <a:cubicBezTo>
                    <a:pt x="556907" y="1103630"/>
                    <a:pt x="711847" y="1228090"/>
                    <a:pt x="776617" y="1299210"/>
                  </a:cubicBezTo>
                  <a:cubicBezTo>
                    <a:pt x="819797" y="1350010"/>
                    <a:pt x="868057" y="1446530"/>
                    <a:pt x="864247" y="1449070"/>
                  </a:cubicBezTo>
                  <a:cubicBezTo>
                    <a:pt x="860437" y="1451610"/>
                    <a:pt x="815987" y="1419860"/>
                    <a:pt x="805827" y="1388110"/>
                  </a:cubicBezTo>
                  <a:cubicBezTo>
                    <a:pt x="782967" y="1322070"/>
                    <a:pt x="882027" y="1141730"/>
                    <a:pt x="845197" y="1037590"/>
                  </a:cubicBezTo>
                  <a:cubicBezTo>
                    <a:pt x="805827" y="925830"/>
                    <a:pt x="608977" y="812800"/>
                    <a:pt x="554367" y="749300"/>
                  </a:cubicBezTo>
                  <a:cubicBezTo>
                    <a:pt x="528967" y="720090"/>
                    <a:pt x="518807" y="708660"/>
                    <a:pt x="506107" y="681990"/>
                  </a:cubicBezTo>
                  <a:cubicBezTo>
                    <a:pt x="489597" y="650240"/>
                    <a:pt x="476897" y="603250"/>
                    <a:pt x="473087" y="565150"/>
                  </a:cubicBezTo>
                  <a:cubicBezTo>
                    <a:pt x="469277" y="528320"/>
                    <a:pt x="471817" y="496570"/>
                    <a:pt x="479437" y="455930"/>
                  </a:cubicBezTo>
                  <a:cubicBezTo>
                    <a:pt x="489597" y="397510"/>
                    <a:pt x="511187" y="302260"/>
                    <a:pt x="539127" y="252730"/>
                  </a:cubicBezTo>
                  <a:cubicBezTo>
                    <a:pt x="558177" y="218440"/>
                    <a:pt x="575957" y="193040"/>
                    <a:pt x="608977" y="176530"/>
                  </a:cubicBezTo>
                  <a:cubicBezTo>
                    <a:pt x="657237" y="152400"/>
                    <a:pt x="794397" y="130810"/>
                    <a:pt x="814717" y="153670"/>
                  </a:cubicBezTo>
                  <a:cubicBezTo>
                    <a:pt x="827417" y="168910"/>
                    <a:pt x="812177" y="228600"/>
                    <a:pt x="794397" y="237490"/>
                  </a:cubicBezTo>
                  <a:cubicBezTo>
                    <a:pt x="774077" y="247650"/>
                    <a:pt x="730897" y="201930"/>
                    <a:pt x="687717" y="187960"/>
                  </a:cubicBezTo>
                  <a:cubicBezTo>
                    <a:pt x="624217" y="167640"/>
                    <a:pt x="537857" y="151130"/>
                    <a:pt x="447687" y="143510"/>
                  </a:cubicBezTo>
                  <a:cubicBezTo>
                    <a:pt x="333387" y="133350"/>
                    <a:pt x="120027" y="165100"/>
                    <a:pt x="56527" y="146050"/>
                  </a:cubicBezTo>
                  <a:cubicBezTo>
                    <a:pt x="32397" y="138430"/>
                    <a:pt x="22237" y="129540"/>
                    <a:pt x="13347" y="116840"/>
                  </a:cubicBezTo>
                  <a:cubicBezTo>
                    <a:pt x="3187" y="102870"/>
                    <a:pt x="-1893" y="81280"/>
                    <a:pt x="647" y="66040"/>
                  </a:cubicBezTo>
                  <a:cubicBezTo>
                    <a:pt x="1917" y="49530"/>
                    <a:pt x="12077" y="30480"/>
                    <a:pt x="24777" y="19050"/>
                  </a:cubicBezTo>
                  <a:cubicBezTo>
                    <a:pt x="37477" y="8890"/>
                    <a:pt x="74307" y="0"/>
                    <a:pt x="74307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4714220" y="2685098"/>
            <a:ext cx="1172527" cy="362903"/>
            <a:chOff x="0" y="0"/>
            <a:chExt cx="1563370" cy="4838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50139" y="48909"/>
              <a:ext cx="1464357" cy="384192"/>
            </a:xfrm>
            <a:custGeom>
              <a:avLst/>
              <a:gdLst/>
              <a:ahLst/>
              <a:cxnLst/>
              <a:rect r="r" b="b" t="t" l="l"/>
              <a:pathLst>
                <a:path h="384192" w="1464357">
                  <a:moveTo>
                    <a:pt x="50191" y="250811"/>
                  </a:moveTo>
                  <a:cubicBezTo>
                    <a:pt x="917601" y="39991"/>
                    <a:pt x="1127151" y="15861"/>
                    <a:pt x="1218591" y="6971"/>
                  </a:cubicBezTo>
                  <a:cubicBezTo>
                    <a:pt x="1255421" y="3161"/>
                    <a:pt x="1266851" y="-3189"/>
                    <a:pt x="1297331" y="1891"/>
                  </a:cubicBezTo>
                  <a:cubicBezTo>
                    <a:pt x="1343051" y="9511"/>
                    <a:pt x="1448461" y="45071"/>
                    <a:pt x="1462431" y="75551"/>
                  </a:cubicBezTo>
                  <a:cubicBezTo>
                    <a:pt x="1470051" y="93331"/>
                    <a:pt x="1453541" y="122541"/>
                    <a:pt x="1439571" y="135241"/>
                  </a:cubicBezTo>
                  <a:cubicBezTo>
                    <a:pt x="1425601" y="147941"/>
                    <a:pt x="1395121" y="153021"/>
                    <a:pt x="1378611" y="150481"/>
                  </a:cubicBezTo>
                  <a:cubicBezTo>
                    <a:pt x="1363371" y="147941"/>
                    <a:pt x="1349401" y="139051"/>
                    <a:pt x="1341781" y="127621"/>
                  </a:cubicBezTo>
                  <a:cubicBezTo>
                    <a:pt x="1331621" y="112381"/>
                    <a:pt x="1324001" y="83171"/>
                    <a:pt x="1329081" y="64121"/>
                  </a:cubicBezTo>
                  <a:cubicBezTo>
                    <a:pt x="1334161" y="46341"/>
                    <a:pt x="1355751" y="24751"/>
                    <a:pt x="1374801" y="19671"/>
                  </a:cubicBezTo>
                  <a:cubicBezTo>
                    <a:pt x="1392581" y="13321"/>
                    <a:pt x="1421791" y="20941"/>
                    <a:pt x="1437031" y="31101"/>
                  </a:cubicBezTo>
                  <a:cubicBezTo>
                    <a:pt x="1448461" y="39991"/>
                    <a:pt x="1457351" y="53961"/>
                    <a:pt x="1459891" y="67931"/>
                  </a:cubicBezTo>
                  <a:cubicBezTo>
                    <a:pt x="1463701" y="80631"/>
                    <a:pt x="1463701" y="98411"/>
                    <a:pt x="1457351" y="111111"/>
                  </a:cubicBezTo>
                  <a:cubicBezTo>
                    <a:pt x="1448461" y="126351"/>
                    <a:pt x="1425601" y="147941"/>
                    <a:pt x="1407821" y="151751"/>
                  </a:cubicBezTo>
                  <a:cubicBezTo>
                    <a:pt x="1388771" y="154291"/>
                    <a:pt x="1359561" y="144131"/>
                    <a:pt x="1346861" y="132701"/>
                  </a:cubicBezTo>
                  <a:cubicBezTo>
                    <a:pt x="1335431" y="123811"/>
                    <a:pt x="1325271" y="94601"/>
                    <a:pt x="1326541" y="93331"/>
                  </a:cubicBezTo>
                  <a:cubicBezTo>
                    <a:pt x="1327811" y="93331"/>
                    <a:pt x="1360831" y="125081"/>
                    <a:pt x="1355751" y="133971"/>
                  </a:cubicBezTo>
                  <a:cubicBezTo>
                    <a:pt x="1345591" y="154291"/>
                    <a:pt x="1216051" y="133971"/>
                    <a:pt x="1133501" y="141591"/>
                  </a:cubicBezTo>
                  <a:cubicBezTo>
                    <a:pt x="1028091" y="150481"/>
                    <a:pt x="915061" y="164451"/>
                    <a:pt x="776631" y="192391"/>
                  </a:cubicBezTo>
                  <a:cubicBezTo>
                    <a:pt x="579781" y="233031"/>
                    <a:pt x="164491" y="386701"/>
                    <a:pt x="69241" y="384161"/>
                  </a:cubicBezTo>
                  <a:cubicBezTo>
                    <a:pt x="45111" y="382891"/>
                    <a:pt x="36221" y="377811"/>
                    <a:pt x="24791" y="367651"/>
                  </a:cubicBezTo>
                  <a:cubicBezTo>
                    <a:pt x="13361" y="358761"/>
                    <a:pt x="3201" y="340981"/>
                    <a:pt x="661" y="327011"/>
                  </a:cubicBezTo>
                  <a:cubicBezTo>
                    <a:pt x="-1879" y="311771"/>
                    <a:pt x="3201" y="291451"/>
                    <a:pt x="10821" y="280021"/>
                  </a:cubicBezTo>
                  <a:cubicBezTo>
                    <a:pt x="19711" y="267321"/>
                    <a:pt x="50191" y="250811"/>
                    <a:pt x="50191" y="25081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4858703" y="5167312"/>
            <a:ext cx="3720465" cy="1442085"/>
            <a:chOff x="0" y="0"/>
            <a:chExt cx="4960620" cy="19227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607" y="50443"/>
              <a:ext cx="4858040" cy="1820461"/>
            </a:xfrm>
            <a:custGeom>
              <a:avLst/>
              <a:gdLst/>
              <a:ahLst/>
              <a:cxnLst/>
              <a:rect r="r" b="b" t="t" l="l"/>
              <a:pathLst>
                <a:path h="1820461" w="4858040">
                  <a:moveTo>
                    <a:pt x="17973" y="1070967"/>
                  </a:moveTo>
                  <a:cubicBezTo>
                    <a:pt x="245303" y="865227"/>
                    <a:pt x="275783" y="844907"/>
                    <a:pt x="334203" y="808077"/>
                  </a:cubicBezTo>
                  <a:cubicBezTo>
                    <a:pt x="429453" y="748387"/>
                    <a:pt x="598363" y="649327"/>
                    <a:pt x="722823" y="588367"/>
                  </a:cubicBezTo>
                  <a:cubicBezTo>
                    <a:pt x="832043" y="536297"/>
                    <a:pt x="915863" y="505817"/>
                    <a:pt x="1040323" y="462637"/>
                  </a:cubicBezTo>
                  <a:cubicBezTo>
                    <a:pt x="1211773" y="401677"/>
                    <a:pt x="1496253" y="316587"/>
                    <a:pt x="1662623" y="268327"/>
                  </a:cubicBezTo>
                  <a:cubicBezTo>
                    <a:pt x="1773113" y="235307"/>
                    <a:pt x="1828993" y="218797"/>
                    <a:pt x="1939483" y="193397"/>
                  </a:cubicBezTo>
                  <a:cubicBezTo>
                    <a:pt x="2103313" y="156567"/>
                    <a:pt x="2362393" y="112117"/>
                    <a:pt x="2552893" y="82907"/>
                  </a:cubicBezTo>
                  <a:cubicBezTo>
                    <a:pt x="2717993" y="57507"/>
                    <a:pt x="2869123" y="35917"/>
                    <a:pt x="3016443" y="21947"/>
                  </a:cubicBezTo>
                  <a:cubicBezTo>
                    <a:pt x="3148523" y="9247"/>
                    <a:pt x="3314893" y="-2183"/>
                    <a:pt x="3394903" y="357"/>
                  </a:cubicBezTo>
                  <a:cubicBezTo>
                    <a:pt x="3433003" y="357"/>
                    <a:pt x="3446973" y="1627"/>
                    <a:pt x="3477453" y="7977"/>
                  </a:cubicBezTo>
                  <a:cubicBezTo>
                    <a:pt x="3516823" y="18137"/>
                    <a:pt x="3572703" y="37187"/>
                    <a:pt x="3608263" y="56237"/>
                  </a:cubicBezTo>
                  <a:cubicBezTo>
                    <a:pt x="3636203" y="71477"/>
                    <a:pt x="3646363" y="79097"/>
                    <a:pt x="3676843" y="108307"/>
                  </a:cubicBezTo>
                  <a:cubicBezTo>
                    <a:pt x="3767013" y="193397"/>
                    <a:pt x="4019743" y="507087"/>
                    <a:pt x="4155633" y="681077"/>
                  </a:cubicBezTo>
                  <a:cubicBezTo>
                    <a:pt x="4263583" y="820777"/>
                    <a:pt x="4339783" y="943967"/>
                    <a:pt x="4435033" y="1067157"/>
                  </a:cubicBezTo>
                  <a:cubicBezTo>
                    <a:pt x="4526473" y="1185267"/>
                    <a:pt x="4656013" y="1319887"/>
                    <a:pt x="4715703" y="1404977"/>
                  </a:cubicBezTo>
                  <a:cubicBezTo>
                    <a:pt x="4748723" y="1451967"/>
                    <a:pt x="4766503" y="1483717"/>
                    <a:pt x="4783013" y="1520547"/>
                  </a:cubicBezTo>
                  <a:cubicBezTo>
                    <a:pt x="4796983" y="1551027"/>
                    <a:pt x="4813493" y="1581507"/>
                    <a:pt x="4812223" y="1609447"/>
                  </a:cubicBezTo>
                  <a:cubicBezTo>
                    <a:pt x="4810953" y="1634847"/>
                    <a:pt x="4771583" y="1667867"/>
                    <a:pt x="4777933" y="1683107"/>
                  </a:cubicBezTo>
                  <a:cubicBezTo>
                    <a:pt x="4784283" y="1697077"/>
                    <a:pt x="4826193" y="1691997"/>
                    <a:pt x="4840163" y="1703427"/>
                  </a:cubicBezTo>
                  <a:cubicBezTo>
                    <a:pt x="4850323" y="1713587"/>
                    <a:pt x="4857943" y="1728827"/>
                    <a:pt x="4857943" y="1742797"/>
                  </a:cubicBezTo>
                  <a:cubicBezTo>
                    <a:pt x="4859213" y="1760577"/>
                    <a:pt x="4847783" y="1791057"/>
                    <a:pt x="4835083" y="1803757"/>
                  </a:cubicBezTo>
                  <a:cubicBezTo>
                    <a:pt x="4824923" y="1813917"/>
                    <a:pt x="4808413" y="1818997"/>
                    <a:pt x="4794443" y="1820267"/>
                  </a:cubicBezTo>
                  <a:cubicBezTo>
                    <a:pt x="4780473" y="1821537"/>
                    <a:pt x="4762693" y="1816457"/>
                    <a:pt x="4751263" y="1808837"/>
                  </a:cubicBezTo>
                  <a:cubicBezTo>
                    <a:pt x="4739833" y="1801217"/>
                    <a:pt x="4728403" y="1788517"/>
                    <a:pt x="4724593" y="1773277"/>
                  </a:cubicBezTo>
                  <a:cubicBezTo>
                    <a:pt x="4719513" y="1756767"/>
                    <a:pt x="4724593" y="1725017"/>
                    <a:pt x="4734753" y="1709777"/>
                  </a:cubicBezTo>
                  <a:cubicBezTo>
                    <a:pt x="4742373" y="1697077"/>
                    <a:pt x="4757613" y="1688187"/>
                    <a:pt x="4770313" y="1684377"/>
                  </a:cubicBezTo>
                  <a:cubicBezTo>
                    <a:pt x="4784283" y="1680567"/>
                    <a:pt x="4802063" y="1680567"/>
                    <a:pt x="4814763" y="1686917"/>
                  </a:cubicBezTo>
                  <a:cubicBezTo>
                    <a:pt x="4831273" y="1694537"/>
                    <a:pt x="4852863" y="1717397"/>
                    <a:pt x="4856673" y="1735177"/>
                  </a:cubicBezTo>
                  <a:cubicBezTo>
                    <a:pt x="4861753" y="1754227"/>
                    <a:pt x="4851593" y="1784707"/>
                    <a:pt x="4840163" y="1798677"/>
                  </a:cubicBezTo>
                  <a:cubicBezTo>
                    <a:pt x="4831273" y="1810107"/>
                    <a:pt x="4816033" y="1822807"/>
                    <a:pt x="4802063" y="1818997"/>
                  </a:cubicBezTo>
                  <a:cubicBezTo>
                    <a:pt x="4771583" y="1812647"/>
                    <a:pt x="4716973" y="1721207"/>
                    <a:pt x="4692843" y="1672947"/>
                  </a:cubicBezTo>
                  <a:cubicBezTo>
                    <a:pt x="4673793" y="1633577"/>
                    <a:pt x="4677603" y="1598017"/>
                    <a:pt x="4659823" y="1558647"/>
                  </a:cubicBezTo>
                  <a:cubicBezTo>
                    <a:pt x="4636963" y="1507847"/>
                    <a:pt x="4602673" y="1454507"/>
                    <a:pt x="4559493" y="1396087"/>
                  </a:cubicBezTo>
                  <a:cubicBezTo>
                    <a:pt x="4503613" y="1317347"/>
                    <a:pt x="4415983" y="1233527"/>
                    <a:pt x="4339783" y="1137007"/>
                  </a:cubicBezTo>
                  <a:cubicBezTo>
                    <a:pt x="4250883" y="1023977"/>
                    <a:pt x="4155633" y="876657"/>
                    <a:pt x="4061653" y="757277"/>
                  </a:cubicBezTo>
                  <a:cubicBezTo>
                    <a:pt x="3972753" y="644247"/>
                    <a:pt x="3877503" y="532487"/>
                    <a:pt x="3793683" y="435967"/>
                  </a:cubicBezTo>
                  <a:cubicBezTo>
                    <a:pt x="3722563" y="354687"/>
                    <a:pt x="3647633" y="264517"/>
                    <a:pt x="3591753" y="213717"/>
                  </a:cubicBezTo>
                  <a:cubicBezTo>
                    <a:pt x="3557463" y="183237"/>
                    <a:pt x="3534603" y="164187"/>
                    <a:pt x="3502853" y="148947"/>
                  </a:cubicBezTo>
                  <a:cubicBezTo>
                    <a:pt x="3471103" y="133707"/>
                    <a:pt x="3443163" y="127357"/>
                    <a:pt x="3397443" y="122277"/>
                  </a:cubicBezTo>
                  <a:cubicBezTo>
                    <a:pt x="3312353" y="113387"/>
                    <a:pt x="3158683" y="124817"/>
                    <a:pt x="3030413" y="134977"/>
                  </a:cubicBezTo>
                  <a:cubicBezTo>
                    <a:pt x="2886903" y="147677"/>
                    <a:pt x="2737043" y="170537"/>
                    <a:pt x="2575753" y="195937"/>
                  </a:cubicBezTo>
                  <a:cubicBezTo>
                    <a:pt x="2387793" y="225147"/>
                    <a:pt x="2131253" y="268327"/>
                    <a:pt x="1969963" y="305157"/>
                  </a:cubicBezTo>
                  <a:cubicBezTo>
                    <a:pt x="1860743" y="329287"/>
                    <a:pt x="1806133" y="347067"/>
                    <a:pt x="1698183" y="378817"/>
                  </a:cubicBezTo>
                  <a:cubicBezTo>
                    <a:pt x="1533083" y="427077"/>
                    <a:pt x="1252413" y="510897"/>
                    <a:pt x="1083503" y="571857"/>
                  </a:cubicBezTo>
                  <a:cubicBezTo>
                    <a:pt x="962853" y="615037"/>
                    <a:pt x="882843" y="642977"/>
                    <a:pt x="777433" y="695047"/>
                  </a:cubicBezTo>
                  <a:cubicBezTo>
                    <a:pt x="658053" y="753467"/>
                    <a:pt x="522163" y="828397"/>
                    <a:pt x="405323" y="908407"/>
                  </a:cubicBezTo>
                  <a:cubicBezTo>
                    <a:pt x="289753" y="988417"/>
                    <a:pt x="133543" y="1156057"/>
                    <a:pt x="81473" y="1176377"/>
                  </a:cubicBezTo>
                  <a:cubicBezTo>
                    <a:pt x="67503" y="1182727"/>
                    <a:pt x="61153" y="1181457"/>
                    <a:pt x="50993" y="1178917"/>
                  </a:cubicBezTo>
                  <a:cubicBezTo>
                    <a:pt x="38293" y="1175107"/>
                    <a:pt x="21783" y="1166217"/>
                    <a:pt x="12893" y="1154787"/>
                  </a:cubicBezTo>
                  <a:cubicBezTo>
                    <a:pt x="4003" y="1143357"/>
                    <a:pt x="-1077" y="1125577"/>
                    <a:pt x="193" y="1111607"/>
                  </a:cubicBezTo>
                  <a:cubicBezTo>
                    <a:pt x="193" y="1098907"/>
                    <a:pt x="17973" y="1070967"/>
                    <a:pt x="17973" y="1070967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622345" y="2467683"/>
            <a:ext cx="7309298" cy="5814482"/>
          </a:xfrm>
          <a:custGeom>
            <a:avLst/>
            <a:gdLst/>
            <a:ahLst/>
            <a:cxnLst/>
            <a:rect r="r" b="b" t="t" l="l"/>
            <a:pathLst>
              <a:path h="5814482" w="7309298">
                <a:moveTo>
                  <a:pt x="0" y="0"/>
                </a:moveTo>
                <a:lnTo>
                  <a:pt x="7309298" y="0"/>
                </a:lnTo>
                <a:lnTo>
                  <a:pt x="7309298" y="5814482"/>
                </a:lnTo>
                <a:lnTo>
                  <a:pt x="0" y="581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492509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事件線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78061" y="1676657"/>
            <a:ext cx="1819099" cy="7814680"/>
            <a:chOff x="0" y="0"/>
            <a:chExt cx="1936801" cy="8320316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936750" cy="8320278"/>
            </a:xfrm>
            <a:custGeom>
              <a:avLst/>
              <a:gdLst/>
              <a:ahLst/>
              <a:cxnLst/>
              <a:rect r="r" b="b" t="t" l="l"/>
              <a:pathLst>
                <a:path h="8320278" w="1936750">
                  <a:moveTo>
                    <a:pt x="0" y="0"/>
                  </a:moveTo>
                  <a:lnTo>
                    <a:pt x="1936750" y="0"/>
                  </a:lnTo>
                  <a:lnTo>
                    <a:pt x="1936750" y="8320278"/>
                  </a:lnTo>
                  <a:lnTo>
                    <a:pt x="0" y="8320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63596" y="2119312"/>
            <a:ext cx="10368372" cy="3236052"/>
            <a:chOff x="0" y="0"/>
            <a:chExt cx="13824496" cy="4314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824586" cy="4314825"/>
            </a:xfrm>
            <a:custGeom>
              <a:avLst/>
              <a:gdLst/>
              <a:ahLst/>
              <a:cxnLst/>
              <a:rect r="r" b="b" t="t" l="l"/>
              <a:pathLst>
                <a:path h="4314825" w="13824586">
                  <a:moveTo>
                    <a:pt x="0" y="719201"/>
                  </a:moveTo>
                  <a:cubicBezTo>
                    <a:pt x="0" y="321945"/>
                    <a:pt x="321945" y="0"/>
                    <a:pt x="719201" y="0"/>
                  </a:cubicBezTo>
                  <a:lnTo>
                    <a:pt x="13105383" y="0"/>
                  </a:lnTo>
                  <a:cubicBezTo>
                    <a:pt x="13502512" y="0"/>
                    <a:pt x="13824586" y="321945"/>
                    <a:pt x="13824586" y="719201"/>
                  </a:cubicBezTo>
                  <a:lnTo>
                    <a:pt x="13824586" y="3595624"/>
                  </a:lnTo>
                  <a:cubicBezTo>
                    <a:pt x="13824586" y="3992753"/>
                    <a:pt x="13502639" y="4314825"/>
                    <a:pt x="13105383" y="4314825"/>
                  </a:cubicBezTo>
                  <a:lnTo>
                    <a:pt x="719201" y="4314825"/>
                  </a:lnTo>
                  <a:cubicBezTo>
                    <a:pt x="321945" y="4314698"/>
                    <a:pt x="0" y="3992753"/>
                    <a:pt x="0" y="35956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496044" y="2641511"/>
            <a:ext cx="9303477" cy="114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7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鄭伯將伐許。五月甲辰，授兵於大宮。</a:t>
            </a:r>
          </a:p>
          <a:p>
            <a:pPr algn="l">
              <a:lnSpc>
                <a:spcPts val="4662"/>
              </a:lnSpc>
            </a:pPr>
            <a:r>
              <a:rPr lang="en-US" sz="37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公孫閼與潁考叔爭車……子都怒。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08521" y="4530776"/>
            <a:ext cx="4191000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58"/>
              </a:lnSpc>
            </a:pPr>
            <a:r>
              <a:rPr lang="en-US" sz="33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69336" y="5959792"/>
            <a:ext cx="2042655" cy="1315812"/>
            <a:chOff x="0" y="0"/>
            <a:chExt cx="2723540" cy="1754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23388" cy="1754251"/>
            </a:xfrm>
            <a:custGeom>
              <a:avLst/>
              <a:gdLst/>
              <a:ahLst/>
              <a:cxnLst/>
              <a:rect r="r" b="b" t="t" l="l"/>
              <a:pathLst>
                <a:path h="1754251" w="2723388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2431034" y="0"/>
                  </a:lnTo>
                  <a:cubicBezTo>
                    <a:pt x="2592578" y="0"/>
                    <a:pt x="2723388" y="130937"/>
                    <a:pt x="2723388" y="292354"/>
                  </a:cubicBezTo>
                  <a:lnTo>
                    <a:pt x="2723388" y="1461897"/>
                  </a:lnTo>
                  <a:cubicBezTo>
                    <a:pt x="2723388" y="1623441"/>
                    <a:pt x="2592451" y="1754251"/>
                    <a:pt x="2431034" y="1754251"/>
                  </a:cubicBezTo>
                  <a:lnTo>
                    <a:pt x="292354" y="1754251"/>
                  </a:lnTo>
                  <a:cubicBezTo>
                    <a:pt x="130937" y="1754378"/>
                    <a:pt x="0" y="1623441"/>
                    <a:pt x="0" y="1462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562019" y="6139967"/>
            <a:ext cx="1257300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將伐許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31347" y="6592481"/>
            <a:ext cx="1718643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決策落地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8211992" y="6617699"/>
            <a:ext cx="453761" cy="147450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665753" y="5959792"/>
            <a:ext cx="2042655" cy="1315812"/>
            <a:chOff x="0" y="0"/>
            <a:chExt cx="2723540" cy="17544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23388" cy="1754251"/>
            </a:xfrm>
            <a:custGeom>
              <a:avLst/>
              <a:gdLst/>
              <a:ahLst/>
              <a:cxnLst/>
              <a:rect r="r" b="b" t="t" l="l"/>
              <a:pathLst>
                <a:path h="1754251" w="2723388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2431034" y="0"/>
                  </a:lnTo>
                  <a:cubicBezTo>
                    <a:pt x="2592578" y="0"/>
                    <a:pt x="2723388" y="130937"/>
                    <a:pt x="2723388" y="292354"/>
                  </a:cubicBezTo>
                  <a:lnTo>
                    <a:pt x="2723388" y="1461897"/>
                  </a:lnTo>
                  <a:cubicBezTo>
                    <a:pt x="2723388" y="1623441"/>
                    <a:pt x="2592451" y="1754251"/>
                    <a:pt x="2431034" y="1754251"/>
                  </a:cubicBezTo>
                  <a:lnTo>
                    <a:pt x="292354" y="1754251"/>
                  </a:lnTo>
                  <a:cubicBezTo>
                    <a:pt x="130937" y="1754378"/>
                    <a:pt x="0" y="1623441"/>
                    <a:pt x="0" y="1462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848886" y="6139967"/>
            <a:ext cx="1676400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授兵大宮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27764" y="6592481"/>
            <a:ext cx="1718643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正式動員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708408" y="6531647"/>
            <a:ext cx="453771" cy="86051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1162179" y="5959792"/>
            <a:ext cx="2042655" cy="1315812"/>
            <a:chOff x="0" y="0"/>
            <a:chExt cx="2723540" cy="17544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23388" cy="1754251"/>
            </a:xfrm>
            <a:custGeom>
              <a:avLst/>
              <a:gdLst/>
              <a:ahLst/>
              <a:cxnLst/>
              <a:rect r="r" b="b" t="t" l="l"/>
              <a:pathLst>
                <a:path h="1754251" w="2723388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2431034" y="0"/>
                  </a:lnTo>
                  <a:cubicBezTo>
                    <a:pt x="2592578" y="0"/>
                    <a:pt x="2723388" y="130937"/>
                    <a:pt x="2723388" y="292354"/>
                  </a:cubicBezTo>
                  <a:lnTo>
                    <a:pt x="2723388" y="1461897"/>
                  </a:lnTo>
                  <a:cubicBezTo>
                    <a:pt x="2723388" y="1623441"/>
                    <a:pt x="2592451" y="1754251"/>
                    <a:pt x="2431034" y="1754251"/>
                  </a:cubicBezTo>
                  <a:lnTo>
                    <a:pt x="292354" y="1754251"/>
                  </a:lnTo>
                  <a:cubicBezTo>
                    <a:pt x="130937" y="1754378"/>
                    <a:pt x="0" y="1623441"/>
                    <a:pt x="0" y="1462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764402" y="6139967"/>
            <a:ext cx="838200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爭車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24181" y="6592481"/>
            <a:ext cx="1718643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內部競爭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3173120" y="6617699"/>
            <a:ext cx="484933" cy="0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3658053" y="5959792"/>
            <a:ext cx="2042655" cy="1315812"/>
            <a:chOff x="0" y="0"/>
            <a:chExt cx="2723540" cy="17544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23388" cy="1754251"/>
            </a:xfrm>
            <a:custGeom>
              <a:avLst/>
              <a:gdLst/>
              <a:ahLst/>
              <a:cxnLst/>
              <a:rect r="r" b="b" t="t" l="l"/>
              <a:pathLst>
                <a:path h="1754251" w="2723388">
                  <a:moveTo>
                    <a:pt x="0" y="292354"/>
                  </a:moveTo>
                  <a:cubicBezTo>
                    <a:pt x="0" y="130937"/>
                    <a:pt x="130937" y="0"/>
                    <a:pt x="292354" y="0"/>
                  </a:cubicBezTo>
                  <a:lnTo>
                    <a:pt x="2431034" y="0"/>
                  </a:lnTo>
                  <a:cubicBezTo>
                    <a:pt x="2592578" y="0"/>
                    <a:pt x="2723388" y="130937"/>
                    <a:pt x="2723388" y="292354"/>
                  </a:cubicBezTo>
                  <a:lnTo>
                    <a:pt x="2723388" y="1461897"/>
                  </a:lnTo>
                  <a:cubicBezTo>
                    <a:pt x="2723388" y="1623441"/>
                    <a:pt x="2592451" y="1754251"/>
                    <a:pt x="2431034" y="1754251"/>
                  </a:cubicBezTo>
                  <a:lnTo>
                    <a:pt x="292354" y="1754251"/>
                  </a:lnTo>
                  <a:cubicBezTo>
                    <a:pt x="130937" y="1754378"/>
                    <a:pt x="0" y="1623441"/>
                    <a:pt x="0" y="1462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051279" y="6139967"/>
            <a:ext cx="1257300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子都怒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20607" y="6592481"/>
            <a:ext cx="1718643" cy="527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"/>
              </a:lnSpc>
            </a:pPr>
            <a:r>
              <a:rPr lang="en-US" sz="33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仇怨形成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14046" y="7847105"/>
            <a:ext cx="10496266" cy="59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7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私人衝突不是後來才插入，在授兵當天就已經發生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236154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「鄭伯將伐許」：從「謀」轉成真正的軍事動員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325052"/>
            <a:ext cx="7625172" cy="4813392"/>
            <a:chOff x="0" y="0"/>
            <a:chExt cx="10166896" cy="6417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6985" cy="6417945"/>
            </a:xfrm>
            <a:custGeom>
              <a:avLst/>
              <a:gdLst/>
              <a:ahLst/>
              <a:cxnLst/>
              <a:rect r="r" b="b" t="t" l="l"/>
              <a:pathLst>
                <a:path h="6417945" w="10166985">
                  <a:moveTo>
                    <a:pt x="0" y="1069721"/>
                  </a:moveTo>
                  <a:cubicBezTo>
                    <a:pt x="0" y="478917"/>
                    <a:pt x="478917" y="0"/>
                    <a:pt x="1069721" y="0"/>
                  </a:cubicBezTo>
                  <a:lnTo>
                    <a:pt x="9097264" y="0"/>
                  </a:lnTo>
                  <a:cubicBezTo>
                    <a:pt x="9688068" y="0"/>
                    <a:pt x="10166985" y="478917"/>
                    <a:pt x="10166985" y="1069721"/>
                  </a:cubicBezTo>
                  <a:lnTo>
                    <a:pt x="10166985" y="5348224"/>
                  </a:lnTo>
                  <a:cubicBezTo>
                    <a:pt x="10166985" y="5939028"/>
                    <a:pt x="9688068" y="6417945"/>
                    <a:pt x="9097264" y="6417945"/>
                  </a:cubicBezTo>
                  <a:lnTo>
                    <a:pt x="1069721" y="6417945"/>
                  </a:lnTo>
                  <a:cubicBezTo>
                    <a:pt x="478917" y="6417818"/>
                    <a:pt x="0" y="5938901"/>
                    <a:pt x="0" y="53482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64103" y="2828201"/>
            <a:ext cx="253984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夏：謀伐許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060" y="3802199"/>
            <a:ext cx="66288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魯隱公與鄭莊公在郲會面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政治層次：共同討論是否、如何伐許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尚未進入具體軍隊動員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88793" y="2325052"/>
            <a:ext cx="7625172" cy="4813392"/>
            <a:chOff x="0" y="0"/>
            <a:chExt cx="10166896" cy="6417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6985" cy="6417945"/>
            </a:xfrm>
            <a:custGeom>
              <a:avLst/>
              <a:gdLst/>
              <a:ahLst/>
              <a:cxnLst/>
              <a:rect r="r" b="b" t="t" l="l"/>
              <a:pathLst>
                <a:path h="6417945" w="10166985">
                  <a:moveTo>
                    <a:pt x="0" y="1069721"/>
                  </a:moveTo>
                  <a:cubicBezTo>
                    <a:pt x="0" y="478917"/>
                    <a:pt x="478917" y="0"/>
                    <a:pt x="1069721" y="0"/>
                  </a:cubicBezTo>
                  <a:lnTo>
                    <a:pt x="9097264" y="0"/>
                  </a:lnTo>
                  <a:cubicBezTo>
                    <a:pt x="9688068" y="0"/>
                    <a:pt x="10166985" y="478917"/>
                    <a:pt x="10166985" y="1069721"/>
                  </a:cubicBezTo>
                  <a:lnTo>
                    <a:pt x="10166985" y="5348224"/>
                  </a:lnTo>
                  <a:cubicBezTo>
                    <a:pt x="10166985" y="5939028"/>
                    <a:pt x="9688068" y="6417945"/>
                    <a:pt x="9097264" y="6417945"/>
                  </a:cubicBezTo>
                  <a:lnTo>
                    <a:pt x="1069721" y="6417945"/>
                  </a:lnTo>
                  <a:cubicBezTo>
                    <a:pt x="478917" y="6417818"/>
                    <a:pt x="0" y="5938901"/>
                    <a:pt x="0" y="53482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893703" y="2828201"/>
            <a:ext cx="304776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五月：將伐許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193" y="3486721"/>
            <a:ext cx="6628857" cy="32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鄭莊公開始執行戰爭計畫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「授兵」顯示軍事準備已制度化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敘事焦點由諸侯外交轉向鄭國軍中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8756249" y="4731749"/>
            <a:ext cx="632544" cy="43445"/>
          </a:xfrm>
          <a:prstGeom prst="line">
            <a:avLst/>
          </a:prstGeom>
          <a:ln cap="rnd" w="28575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3337560" y="7628801"/>
            <a:ext cx="1163519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「謀」回答的是決策；「將伐」回答的是執行。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4923" y="1807173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「五月甲辰」為什麼要記得這麼細？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64546" y="2693412"/>
            <a:ext cx="16024317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699">
                <a:solidFill>
                  <a:srgbClr val="6D6A64"/>
                </a:solidFill>
                <a:latin typeface="Noto Sans"/>
                <a:ea typeface="Noto Sans"/>
                <a:cs typeface="Noto Sans"/>
                <a:sym typeface="Noto Sans"/>
              </a:rPr>
              <a:t>《左傳》的編年敘事把會商、授兵、攻城分成不同時間節點。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1331320" y="5667496"/>
            <a:ext cx="15853579" cy="40398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780519" y="5515580"/>
            <a:ext cx="343118" cy="343118"/>
            <a:chOff x="0" y="0"/>
            <a:chExt cx="438480" cy="438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2689" y="4274724"/>
            <a:ext cx="1764413" cy="66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923" y="6225711"/>
            <a:ext cx="2479945" cy="128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會於郲</a:t>
            </a:r>
          </a:p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謀伐許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15946" y="5515580"/>
            <a:ext cx="343118" cy="343118"/>
            <a:chOff x="0" y="0"/>
            <a:chExt cx="438480" cy="438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48116" y="4274724"/>
            <a:ext cx="1764413" cy="132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五月甲辰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90350" y="6225711"/>
            <a:ext cx="2479945" cy="128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授兵大宮</a:t>
            </a:r>
          </a:p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爭車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368651" y="5515580"/>
            <a:ext cx="343118" cy="343118"/>
            <a:chOff x="0" y="0"/>
            <a:chExt cx="438480" cy="438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00821" y="4274724"/>
            <a:ext cx="1764413" cy="132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秋七月庚辰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43055" y="6225711"/>
            <a:ext cx="2479945" cy="128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傅於許</a:t>
            </a:r>
          </a:p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開始攻城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804951" y="5515580"/>
            <a:ext cx="343118" cy="343118"/>
            <a:chOff x="0" y="0"/>
            <a:chExt cx="438480" cy="438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531" cy="438531"/>
            </a:xfrm>
            <a:custGeom>
              <a:avLst/>
              <a:gdLst/>
              <a:ahLst/>
              <a:cxnLst/>
              <a:rect r="r" b="b" t="t" l="l"/>
              <a:pathLst>
                <a:path h="438531" w="438531">
                  <a:moveTo>
                    <a:pt x="0" y="219202"/>
                  </a:moveTo>
                  <a:cubicBezTo>
                    <a:pt x="0" y="98171"/>
                    <a:pt x="98171" y="0"/>
                    <a:pt x="219202" y="0"/>
                  </a:cubicBezTo>
                  <a:cubicBezTo>
                    <a:pt x="340233" y="0"/>
                    <a:pt x="438531" y="98171"/>
                    <a:pt x="438531" y="219202"/>
                  </a:cubicBezTo>
                  <a:cubicBezTo>
                    <a:pt x="438531" y="340233"/>
                    <a:pt x="340360" y="438531"/>
                    <a:pt x="219202" y="438531"/>
                  </a:cubicBezTo>
                  <a:cubicBezTo>
                    <a:pt x="98044" y="438531"/>
                    <a:pt x="0" y="340360"/>
                    <a:pt x="0" y="219202"/>
                  </a:cubicBez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137121" y="4274724"/>
            <a:ext cx="1764413" cy="66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壬午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79355" y="6206661"/>
            <a:ext cx="2479945" cy="66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</a:pPr>
            <a:r>
              <a:rPr lang="en-US" sz="4173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遂入許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9944" y="908390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「授兵於大宮」：不是普通發武器，而是國家軍事儀式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00987" y="1731350"/>
            <a:ext cx="16024317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699">
                <a:solidFill>
                  <a:srgbClr val="6D6A64"/>
                </a:solidFill>
                <a:latin typeface="Noto Sans"/>
                <a:ea typeface="Noto Sans"/>
                <a:cs typeface="Noto Sans"/>
                <a:sym typeface="Noto Sans"/>
              </a:rPr>
              <a:t>「大宮」是鄭國祖廟；戰爭被放進宗廟與國家秩序之中。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99021" y="4192843"/>
            <a:ext cx="7076532" cy="2304094"/>
            <a:chOff x="0" y="0"/>
            <a:chExt cx="9435376" cy="3072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35338" cy="3072082"/>
            </a:xfrm>
            <a:custGeom>
              <a:avLst/>
              <a:gdLst/>
              <a:ahLst/>
              <a:cxnLst/>
              <a:rect r="r" b="b" t="t" l="l"/>
              <a:pathLst>
                <a:path h="3072082" w="9435338">
                  <a:moveTo>
                    <a:pt x="0" y="511965"/>
                  </a:moveTo>
                  <a:cubicBezTo>
                    <a:pt x="0" y="229229"/>
                    <a:pt x="199136" y="0"/>
                    <a:pt x="444754" y="0"/>
                  </a:cubicBezTo>
                  <a:lnTo>
                    <a:pt x="8990584" y="0"/>
                  </a:lnTo>
                  <a:cubicBezTo>
                    <a:pt x="9236202" y="0"/>
                    <a:pt x="9435338" y="229229"/>
                    <a:pt x="9435338" y="511965"/>
                  </a:cubicBezTo>
                  <a:lnTo>
                    <a:pt x="9435338" y="2560117"/>
                  </a:lnTo>
                  <a:cubicBezTo>
                    <a:pt x="9435338" y="2842852"/>
                    <a:pt x="9236202" y="3072082"/>
                    <a:pt x="8990584" y="3072082"/>
                  </a:cubicBezTo>
                  <a:lnTo>
                    <a:pt x="444754" y="3072082"/>
                  </a:lnTo>
                  <a:cubicBezTo>
                    <a:pt x="199136" y="3072082"/>
                    <a:pt x="0" y="2842853"/>
                    <a:pt x="0" y="2560117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731469" y="4695991"/>
            <a:ext cx="601163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五月甲辰，授兵於大宮。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3542" y="5724691"/>
            <a:ext cx="5079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914271" y="2855799"/>
            <a:ext cx="8412890" cy="6902440"/>
            <a:chOff x="0" y="0"/>
            <a:chExt cx="11217186" cy="92032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17274" cy="9203342"/>
            </a:xfrm>
            <a:custGeom>
              <a:avLst/>
              <a:gdLst/>
              <a:ahLst/>
              <a:cxnLst/>
              <a:rect r="r" b="b" t="t" l="l"/>
              <a:pathLst>
                <a:path h="9203342" w="11217274">
                  <a:moveTo>
                    <a:pt x="0" y="1533986"/>
                  </a:moveTo>
                  <a:cubicBezTo>
                    <a:pt x="0" y="686819"/>
                    <a:pt x="499984" y="0"/>
                    <a:pt x="1116695" y="0"/>
                  </a:cubicBezTo>
                  <a:lnTo>
                    <a:pt x="10100582" y="0"/>
                  </a:lnTo>
                  <a:cubicBezTo>
                    <a:pt x="10717294" y="0"/>
                    <a:pt x="11217274" y="686819"/>
                    <a:pt x="11217274" y="1533986"/>
                  </a:cubicBezTo>
                  <a:lnTo>
                    <a:pt x="11217274" y="7669392"/>
                  </a:lnTo>
                  <a:cubicBezTo>
                    <a:pt x="11217274" y="8516559"/>
                    <a:pt x="10717294" y="9203342"/>
                    <a:pt x="10100582" y="9203342"/>
                  </a:cubicBezTo>
                  <a:lnTo>
                    <a:pt x="1116695" y="9203342"/>
                  </a:lnTo>
                  <a:cubicBezTo>
                    <a:pt x="499984" y="9203199"/>
                    <a:pt x="0" y="8516559"/>
                    <a:pt x="0" y="7669392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21868" y="3376903"/>
            <a:ext cx="2589928" cy="815940"/>
            <a:chOff x="0" y="0"/>
            <a:chExt cx="2028736" cy="6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825" cy="639191"/>
            </a:xfrm>
            <a:custGeom>
              <a:avLst/>
              <a:gdLst/>
              <a:ahLst/>
              <a:cxnLst/>
              <a:rect r="r" b="b" t="t" l="l"/>
              <a:pathLst>
                <a:path h="639191" w="202882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1922272" y="0"/>
                  </a:lnTo>
                  <a:cubicBezTo>
                    <a:pt x="1981073" y="0"/>
                    <a:pt x="2028825" y="47752"/>
                    <a:pt x="2028825" y="106553"/>
                  </a:cubicBezTo>
                  <a:lnTo>
                    <a:pt x="2028825" y="532638"/>
                  </a:lnTo>
                  <a:cubicBezTo>
                    <a:pt x="2028825" y="591439"/>
                    <a:pt x="1981073" y="639191"/>
                    <a:pt x="1922272" y="639191"/>
                  </a:cubicBezTo>
                  <a:lnTo>
                    <a:pt x="106553" y="639191"/>
                  </a:lnTo>
                  <a:cubicBezTo>
                    <a:pt x="47752" y="639191"/>
                    <a:pt x="0" y="591439"/>
                    <a:pt x="0" y="532638"/>
                  </a:cubicBezTo>
                  <a:close/>
                </a:path>
              </a:pathLst>
            </a:custGeom>
            <a:solidFill>
              <a:srgbClr val="F7E8B9"/>
            </a:solidFill>
            <a:ln w="13335" cap="sq">
              <a:solidFill>
                <a:srgbClr val="F7E8B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501802" y="3455074"/>
            <a:ext cx="252685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制度背景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1868" y="4463592"/>
            <a:ext cx="7578585" cy="459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教育部《重編國語辭典》：「授兵」指古代兵器藏於宗廟，戰時祭告後授與出征軍士。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杜預注「大宮」為「鄭祖廟」。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因此這一句把軍事行動置於祖先、宗廟與國家權力的正式框架。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14299" y="5742827"/>
            <a:ext cx="6445977" cy="1508220"/>
            <a:chOff x="0" y="0"/>
            <a:chExt cx="8594636" cy="2010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94640" cy="2010964"/>
            </a:xfrm>
            <a:custGeom>
              <a:avLst/>
              <a:gdLst/>
              <a:ahLst/>
              <a:cxnLst/>
              <a:rect r="r" b="b" t="t" l="l"/>
              <a:pathLst>
                <a:path h="2010964" w="8594640">
                  <a:moveTo>
                    <a:pt x="0" y="0"/>
                  </a:moveTo>
                  <a:lnTo>
                    <a:pt x="8594640" y="0"/>
                  </a:lnTo>
                  <a:lnTo>
                    <a:pt x="8594640" y="2010964"/>
                  </a:lnTo>
                  <a:lnTo>
                    <a:pt x="0" y="2010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7" r="0" b="-332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594636" cy="2039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0456" y="1822937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大宮和爭車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0456" y="3185713"/>
            <a:ext cx="7556592" cy="4881972"/>
            <a:chOff x="0" y="0"/>
            <a:chExt cx="10075456" cy="6509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75545" cy="6509385"/>
            </a:xfrm>
            <a:custGeom>
              <a:avLst/>
              <a:gdLst/>
              <a:ahLst/>
              <a:cxnLst/>
              <a:rect r="r" b="b" t="t" l="l"/>
              <a:pathLst>
                <a:path h="6509385" w="10075545">
                  <a:moveTo>
                    <a:pt x="0" y="1084961"/>
                  </a:moveTo>
                  <a:cubicBezTo>
                    <a:pt x="0" y="485775"/>
                    <a:pt x="485775" y="0"/>
                    <a:pt x="1084961" y="0"/>
                  </a:cubicBezTo>
                  <a:lnTo>
                    <a:pt x="8990584" y="0"/>
                  </a:lnTo>
                  <a:cubicBezTo>
                    <a:pt x="9589770" y="0"/>
                    <a:pt x="10075545" y="485775"/>
                    <a:pt x="10075545" y="1084961"/>
                  </a:cubicBezTo>
                  <a:lnTo>
                    <a:pt x="10075545" y="5424424"/>
                  </a:lnTo>
                  <a:cubicBezTo>
                    <a:pt x="10075545" y="6023610"/>
                    <a:pt x="9589770" y="6509385"/>
                    <a:pt x="8990584" y="6509385"/>
                  </a:cubicBezTo>
                  <a:lnTo>
                    <a:pt x="1084961" y="6509385"/>
                  </a:lnTo>
                  <a:cubicBezTo>
                    <a:pt x="485775" y="6509258"/>
                    <a:pt x="0" y="6023610"/>
                    <a:pt x="0" y="54244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14324" y="3757442"/>
            <a:ext cx="662885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「授兵於大宮」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0501" y="4800020"/>
            <a:ext cx="52572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宗廟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國君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軍事動員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公共秩序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80056" y="3185713"/>
            <a:ext cx="7556592" cy="4881972"/>
            <a:chOff x="0" y="0"/>
            <a:chExt cx="10075456" cy="6509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5545" cy="6509385"/>
            </a:xfrm>
            <a:custGeom>
              <a:avLst/>
              <a:gdLst/>
              <a:ahLst/>
              <a:cxnLst/>
              <a:rect r="r" b="b" t="t" l="l"/>
              <a:pathLst>
                <a:path h="6509385" w="10075545">
                  <a:moveTo>
                    <a:pt x="0" y="1084961"/>
                  </a:moveTo>
                  <a:cubicBezTo>
                    <a:pt x="0" y="485775"/>
                    <a:pt x="485775" y="0"/>
                    <a:pt x="1084961" y="0"/>
                  </a:cubicBezTo>
                  <a:lnTo>
                    <a:pt x="8990584" y="0"/>
                  </a:lnTo>
                  <a:cubicBezTo>
                    <a:pt x="9589770" y="0"/>
                    <a:pt x="10075545" y="485775"/>
                    <a:pt x="10075545" y="1084961"/>
                  </a:cubicBezTo>
                  <a:lnTo>
                    <a:pt x="10075545" y="5424424"/>
                  </a:lnTo>
                  <a:cubicBezTo>
                    <a:pt x="10075545" y="6023610"/>
                    <a:pt x="9589770" y="6509385"/>
                    <a:pt x="8990584" y="6509385"/>
                  </a:cubicBezTo>
                  <a:lnTo>
                    <a:pt x="1084961" y="6509385"/>
                  </a:lnTo>
                  <a:cubicBezTo>
                    <a:pt x="485775" y="6509258"/>
                    <a:pt x="0" y="6023610"/>
                    <a:pt x="0" y="54244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16387" y="3757442"/>
            <a:ext cx="669743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「公孫閼與潁考叔爭車」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20101" y="4800020"/>
            <a:ext cx="52572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爭奪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勝負心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忿怒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私人恩怨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807048" y="5626699"/>
            <a:ext cx="673008" cy="0"/>
          </a:xfrm>
          <a:prstGeom prst="line">
            <a:avLst/>
          </a:prstGeom>
          <a:ln cap="rnd" w="28575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2291" y="1846695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爭車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57969" y="4058882"/>
            <a:ext cx="3013571" cy="2563633"/>
            <a:chOff x="0" y="0"/>
            <a:chExt cx="3674656" cy="3126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4618" cy="3125978"/>
            </a:xfrm>
            <a:custGeom>
              <a:avLst/>
              <a:gdLst/>
              <a:ahLst/>
              <a:cxnLst/>
              <a:rect r="r" b="b" t="t" l="l"/>
              <a:pathLst>
                <a:path h="3125978" w="3674618">
                  <a:moveTo>
                    <a:pt x="0" y="520954"/>
                  </a:moveTo>
                  <a:cubicBezTo>
                    <a:pt x="0" y="233299"/>
                    <a:pt x="233299" y="0"/>
                    <a:pt x="520954" y="0"/>
                  </a:cubicBezTo>
                  <a:lnTo>
                    <a:pt x="3153664" y="0"/>
                  </a:lnTo>
                  <a:cubicBezTo>
                    <a:pt x="3441446" y="0"/>
                    <a:pt x="3674618" y="233299"/>
                    <a:pt x="3674618" y="520954"/>
                  </a:cubicBezTo>
                  <a:lnTo>
                    <a:pt x="3674618" y="2605024"/>
                  </a:lnTo>
                  <a:cubicBezTo>
                    <a:pt x="3674618" y="2892806"/>
                    <a:pt x="3441319" y="3125978"/>
                    <a:pt x="3153664" y="3125978"/>
                  </a:cubicBezTo>
                  <a:lnTo>
                    <a:pt x="520954" y="3125978"/>
                  </a:lnTo>
                  <a:cubicBezTo>
                    <a:pt x="233299" y="3125978"/>
                    <a:pt x="0" y="2892806"/>
                    <a:pt x="0" y="2605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65232" y="4527211"/>
            <a:ext cx="2599045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爭車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53" y="5396976"/>
            <a:ext cx="2538824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互不相讓</a:t>
            </a:r>
          </a:p>
        </p:txBody>
      </p:sp>
      <p:sp>
        <p:nvSpPr>
          <p:cNvPr name="AutoShape 9" id="9"/>
          <p:cNvSpPr/>
          <p:nvPr/>
        </p:nvSpPr>
        <p:spPr>
          <a:xfrm>
            <a:off x="3276664" y="5323288"/>
            <a:ext cx="670563" cy="1741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947227" y="4058882"/>
            <a:ext cx="3013571" cy="2563633"/>
            <a:chOff x="0" y="0"/>
            <a:chExt cx="3674656" cy="3126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74618" cy="3125978"/>
            </a:xfrm>
            <a:custGeom>
              <a:avLst/>
              <a:gdLst/>
              <a:ahLst/>
              <a:cxnLst/>
              <a:rect r="r" b="b" t="t" l="l"/>
              <a:pathLst>
                <a:path h="3125978" w="3674618">
                  <a:moveTo>
                    <a:pt x="0" y="520954"/>
                  </a:moveTo>
                  <a:cubicBezTo>
                    <a:pt x="0" y="233299"/>
                    <a:pt x="233299" y="0"/>
                    <a:pt x="520954" y="0"/>
                  </a:cubicBezTo>
                  <a:lnTo>
                    <a:pt x="3153664" y="0"/>
                  </a:lnTo>
                  <a:cubicBezTo>
                    <a:pt x="3441446" y="0"/>
                    <a:pt x="3674618" y="233299"/>
                    <a:pt x="3674618" y="520954"/>
                  </a:cubicBezTo>
                  <a:lnTo>
                    <a:pt x="3674618" y="2605024"/>
                  </a:lnTo>
                  <a:cubicBezTo>
                    <a:pt x="3674618" y="2892806"/>
                    <a:pt x="3441319" y="3125978"/>
                    <a:pt x="3153664" y="3125978"/>
                  </a:cubicBezTo>
                  <a:lnTo>
                    <a:pt x="520954" y="3125978"/>
                  </a:lnTo>
                  <a:cubicBezTo>
                    <a:pt x="233299" y="3125978"/>
                    <a:pt x="0" y="2892806"/>
                    <a:pt x="0" y="2605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4154490" y="4327307"/>
            <a:ext cx="2599045" cy="70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挾輈以走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47227" y="5085280"/>
            <a:ext cx="3013567" cy="140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潁考叔搶車而走</a:t>
            </a:r>
          </a:p>
        </p:txBody>
      </p:sp>
      <p:sp>
        <p:nvSpPr>
          <p:cNvPr name="AutoShape 14" id="14"/>
          <p:cNvSpPr/>
          <p:nvPr/>
        </p:nvSpPr>
        <p:spPr>
          <a:xfrm>
            <a:off x="6965911" y="5323285"/>
            <a:ext cx="671157" cy="17414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637069" y="4058882"/>
            <a:ext cx="3013571" cy="2563633"/>
            <a:chOff x="0" y="0"/>
            <a:chExt cx="3674656" cy="31260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74618" cy="3125978"/>
            </a:xfrm>
            <a:custGeom>
              <a:avLst/>
              <a:gdLst/>
              <a:ahLst/>
              <a:cxnLst/>
              <a:rect r="r" b="b" t="t" l="l"/>
              <a:pathLst>
                <a:path h="3125978" w="3674618">
                  <a:moveTo>
                    <a:pt x="0" y="520954"/>
                  </a:moveTo>
                  <a:cubicBezTo>
                    <a:pt x="0" y="233299"/>
                    <a:pt x="233299" y="0"/>
                    <a:pt x="520954" y="0"/>
                  </a:cubicBezTo>
                  <a:lnTo>
                    <a:pt x="3153664" y="0"/>
                  </a:lnTo>
                  <a:cubicBezTo>
                    <a:pt x="3441446" y="0"/>
                    <a:pt x="3674618" y="233299"/>
                    <a:pt x="3674618" y="520954"/>
                  </a:cubicBezTo>
                  <a:lnTo>
                    <a:pt x="3674618" y="2605024"/>
                  </a:lnTo>
                  <a:cubicBezTo>
                    <a:pt x="3674618" y="2892806"/>
                    <a:pt x="3441319" y="3125978"/>
                    <a:pt x="3153664" y="3125978"/>
                  </a:cubicBezTo>
                  <a:lnTo>
                    <a:pt x="520954" y="3125978"/>
                  </a:lnTo>
                  <a:cubicBezTo>
                    <a:pt x="233299" y="3125978"/>
                    <a:pt x="0" y="2892806"/>
                    <a:pt x="0" y="2605024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844332" y="4327307"/>
            <a:ext cx="2811422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拔棘以逐之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7073" y="5085284"/>
            <a:ext cx="3012969" cy="140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子都持兵追趕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655753" y="5323288"/>
            <a:ext cx="670563" cy="1741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326317" y="4058882"/>
            <a:ext cx="3013571" cy="2563633"/>
            <a:chOff x="0" y="0"/>
            <a:chExt cx="3674656" cy="31260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4618" cy="3125978"/>
            </a:xfrm>
            <a:custGeom>
              <a:avLst/>
              <a:gdLst/>
              <a:ahLst/>
              <a:cxnLst/>
              <a:rect r="r" b="b" t="t" l="l"/>
              <a:pathLst>
                <a:path h="3125978" w="3674618">
                  <a:moveTo>
                    <a:pt x="0" y="520954"/>
                  </a:moveTo>
                  <a:cubicBezTo>
                    <a:pt x="0" y="233299"/>
                    <a:pt x="233299" y="0"/>
                    <a:pt x="520954" y="0"/>
                  </a:cubicBezTo>
                  <a:lnTo>
                    <a:pt x="3153664" y="0"/>
                  </a:lnTo>
                  <a:cubicBezTo>
                    <a:pt x="3441446" y="0"/>
                    <a:pt x="3674618" y="233299"/>
                    <a:pt x="3674618" y="520954"/>
                  </a:cubicBezTo>
                  <a:lnTo>
                    <a:pt x="3674618" y="2605024"/>
                  </a:lnTo>
                  <a:cubicBezTo>
                    <a:pt x="3674618" y="2892806"/>
                    <a:pt x="3441319" y="3125978"/>
                    <a:pt x="3153664" y="3125978"/>
                  </a:cubicBezTo>
                  <a:lnTo>
                    <a:pt x="520954" y="3125978"/>
                  </a:lnTo>
                  <a:cubicBezTo>
                    <a:pt x="233299" y="3125978"/>
                    <a:pt x="0" y="2892806"/>
                    <a:pt x="0" y="2605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533580" y="4527211"/>
            <a:ext cx="2599045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弗及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63690" y="5396976"/>
            <a:ext cx="2538824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追不上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4345012" y="5323285"/>
            <a:ext cx="670553" cy="17414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5015565" y="4058882"/>
            <a:ext cx="3013571" cy="2563633"/>
            <a:chOff x="0" y="0"/>
            <a:chExt cx="3674656" cy="3126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74618" cy="3125978"/>
            </a:xfrm>
            <a:custGeom>
              <a:avLst/>
              <a:gdLst/>
              <a:ahLst/>
              <a:cxnLst/>
              <a:rect r="r" b="b" t="t" l="l"/>
              <a:pathLst>
                <a:path h="3125978" w="3674618">
                  <a:moveTo>
                    <a:pt x="0" y="520954"/>
                  </a:moveTo>
                  <a:cubicBezTo>
                    <a:pt x="0" y="233299"/>
                    <a:pt x="233299" y="0"/>
                    <a:pt x="520954" y="0"/>
                  </a:cubicBezTo>
                  <a:lnTo>
                    <a:pt x="3153664" y="0"/>
                  </a:lnTo>
                  <a:cubicBezTo>
                    <a:pt x="3441446" y="0"/>
                    <a:pt x="3674618" y="233299"/>
                    <a:pt x="3674618" y="520954"/>
                  </a:cubicBezTo>
                  <a:lnTo>
                    <a:pt x="3674618" y="2605024"/>
                  </a:lnTo>
                  <a:cubicBezTo>
                    <a:pt x="3674618" y="2892806"/>
                    <a:pt x="3441319" y="3125978"/>
                    <a:pt x="3153664" y="3125978"/>
                  </a:cubicBezTo>
                  <a:lnTo>
                    <a:pt x="520954" y="3125978"/>
                  </a:lnTo>
                  <a:cubicBezTo>
                    <a:pt x="233299" y="3125978"/>
                    <a:pt x="0" y="2892806"/>
                    <a:pt x="0" y="2605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5222828" y="4527211"/>
            <a:ext cx="2599045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子都怒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52949" y="5396976"/>
            <a:ext cx="2538824" cy="702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1"/>
              </a:lnSpc>
            </a:pPr>
            <a:r>
              <a:rPr lang="en-US" sz="4373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情緒定格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380" y="1579979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子都怒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06257" y="3359117"/>
            <a:ext cx="7562848" cy="4532608"/>
            <a:chOff x="0" y="0"/>
            <a:chExt cx="8429536" cy="50520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29498" cy="5051964"/>
            </a:xfrm>
            <a:custGeom>
              <a:avLst/>
              <a:gdLst/>
              <a:ahLst/>
              <a:cxnLst/>
              <a:rect r="r" b="b" t="t" l="l"/>
              <a:pathLst>
                <a:path h="5051964" w="8429498">
                  <a:moveTo>
                    <a:pt x="0" y="841914"/>
                  </a:moveTo>
                  <a:cubicBezTo>
                    <a:pt x="0" y="376962"/>
                    <a:pt x="199136" y="0"/>
                    <a:pt x="444754" y="0"/>
                  </a:cubicBezTo>
                  <a:lnTo>
                    <a:pt x="7984744" y="0"/>
                  </a:lnTo>
                  <a:cubicBezTo>
                    <a:pt x="8230362" y="0"/>
                    <a:pt x="8429498" y="376962"/>
                    <a:pt x="8429498" y="841914"/>
                  </a:cubicBezTo>
                  <a:lnTo>
                    <a:pt x="8429498" y="4210050"/>
                  </a:lnTo>
                  <a:cubicBezTo>
                    <a:pt x="8429498" y="4675001"/>
                    <a:pt x="8230362" y="5051964"/>
                    <a:pt x="7984744" y="5051964"/>
                  </a:cubicBezTo>
                  <a:lnTo>
                    <a:pt x="444754" y="5051964"/>
                  </a:lnTo>
                  <a:cubicBezTo>
                    <a:pt x="199136" y="5051964"/>
                    <a:pt x="0" y="4675002"/>
                    <a:pt x="0" y="4210050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733645" y="4106287"/>
            <a:ext cx="7022294" cy="76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9"/>
              </a:lnSpc>
            </a:pPr>
            <a:r>
              <a:rPr lang="en-US" sz="4784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及大逵，弗及，子都怒。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397" y="6399307"/>
            <a:ext cx="6076407" cy="76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29"/>
              </a:lnSpc>
            </a:pPr>
            <a:r>
              <a:rPr lang="en-US" sz="4784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60739" y="4413841"/>
            <a:ext cx="2110839" cy="2023566"/>
            <a:chOff x="0" y="0"/>
            <a:chExt cx="2211616" cy="2120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1578" cy="2120138"/>
            </a:xfrm>
            <a:custGeom>
              <a:avLst/>
              <a:gdLst/>
              <a:ahLst/>
              <a:cxnLst/>
              <a:rect r="r" b="b" t="t" l="l"/>
              <a:pathLst>
                <a:path h="2120138" w="221157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1858264" y="0"/>
                  </a:lnTo>
                  <a:cubicBezTo>
                    <a:pt x="2053463" y="0"/>
                    <a:pt x="2211578" y="158242"/>
                    <a:pt x="2211578" y="353314"/>
                  </a:cubicBezTo>
                  <a:lnTo>
                    <a:pt x="2211578" y="1766824"/>
                  </a:lnTo>
                  <a:cubicBezTo>
                    <a:pt x="2211578" y="1962023"/>
                    <a:pt x="2053336" y="2120138"/>
                    <a:pt x="185826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146531" y="4724681"/>
            <a:ext cx="1939256" cy="8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3"/>
              </a:lnSpc>
            </a:pPr>
            <a:r>
              <a:rPr lang="en-US" sz="509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追不上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94298" y="5431891"/>
            <a:ext cx="1698509" cy="8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3"/>
              </a:lnSpc>
            </a:pPr>
            <a:r>
              <a:rPr lang="en-US" sz="509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挫敗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179961" y="5398510"/>
            <a:ext cx="586252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766213" y="4386727"/>
            <a:ext cx="2110839" cy="2023566"/>
            <a:chOff x="0" y="0"/>
            <a:chExt cx="2211616" cy="2120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1578" cy="2120138"/>
            </a:xfrm>
            <a:custGeom>
              <a:avLst/>
              <a:gdLst/>
              <a:ahLst/>
              <a:cxnLst/>
              <a:rect r="r" b="b" t="t" l="l"/>
              <a:pathLst>
                <a:path h="2120138" w="221157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1858264" y="0"/>
                  </a:lnTo>
                  <a:cubicBezTo>
                    <a:pt x="2053463" y="0"/>
                    <a:pt x="2211578" y="158242"/>
                    <a:pt x="2211578" y="353314"/>
                  </a:cubicBezTo>
                  <a:lnTo>
                    <a:pt x="2211578" y="1766824"/>
                  </a:lnTo>
                  <a:cubicBezTo>
                    <a:pt x="2211578" y="1962023"/>
                    <a:pt x="2053336" y="2120138"/>
                    <a:pt x="185826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498379" y="4674344"/>
            <a:ext cx="646520" cy="8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3"/>
              </a:lnSpc>
            </a:pPr>
            <a:r>
              <a:rPr lang="en-US" sz="509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怒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72384" y="5464955"/>
            <a:ext cx="1698509" cy="8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3"/>
              </a:lnSpc>
            </a:pPr>
            <a:r>
              <a:rPr lang="en-US" sz="509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怨恨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2885435" y="5398510"/>
            <a:ext cx="629054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514489" y="4386727"/>
            <a:ext cx="2110839" cy="2023566"/>
            <a:chOff x="0" y="0"/>
            <a:chExt cx="2211616" cy="21201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1578" cy="2120138"/>
            </a:xfrm>
            <a:custGeom>
              <a:avLst/>
              <a:gdLst/>
              <a:ahLst/>
              <a:cxnLst/>
              <a:rect r="r" b="b" t="t" l="l"/>
              <a:pathLst>
                <a:path h="2120138" w="221157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1858264" y="0"/>
                  </a:lnTo>
                  <a:cubicBezTo>
                    <a:pt x="2053463" y="0"/>
                    <a:pt x="2211578" y="158242"/>
                    <a:pt x="2211578" y="353314"/>
                  </a:cubicBezTo>
                  <a:lnTo>
                    <a:pt x="2211578" y="1766824"/>
                  </a:lnTo>
                  <a:cubicBezTo>
                    <a:pt x="2211578" y="1962023"/>
                    <a:pt x="2053336" y="2120138"/>
                    <a:pt x="185826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277102" y="4718731"/>
            <a:ext cx="2641108" cy="65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3"/>
              </a:lnSpc>
            </a:pPr>
            <a:r>
              <a:rPr lang="en-US" sz="409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攻城再遇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48402" y="5498020"/>
            <a:ext cx="1698509" cy="74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9"/>
              </a:lnSpc>
            </a:pPr>
            <a:r>
              <a:rPr lang="en-US" sz="4690">
                <a:solidFill>
                  <a:srgbClr val="7A746B"/>
                </a:solidFill>
                <a:latin typeface="芫荽"/>
                <a:ea typeface="芫荽"/>
                <a:cs typeface="芫荽"/>
                <a:sym typeface="芫荽"/>
              </a:rPr>
              <a:t>機會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5633711" y="5371396"/>
            <a:ext cx="589299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6223010" y="4359613"/>
            <a:ext cx="2110839" cy="2023566"/>
            <a:chOff x="0" y="0"/>
            <a:chExt cx="2211616" cy="21201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1578" cy="2120138"/>
            </a:xfrm>
            <a:custGeom>
              <a:avLst/>
              <a:gdLst/>
              <a:ahLst/>
              <a:cxnLst/>
              <a:rect r="r" b="b" t="t" l="l"/>
              <a:pathLst>
                <a:path h="2120138" w="221157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1858264" y="0"/>
                  </a:lnTo>
                  <a:cubicBezTo>
                    <a:pt x="2053463" y="0"/>
                    <a:pt x="2211578" y="158242"/>
                    <a:pt x="2211578" y="353314"/>
                  </a:cubicBezTo>
                  <a:lnTo>
                    <a:pt x="2211578" y="1766824"/>
                  </a:lnTo>
                  <a:cubicBezTo>
                    <a:pt x="2211578" y="1962023"/>
                    <a:pt x="2053336" y="2120138"/>
                    <a:pt x="185826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6699260" y="4640327"/>
            <a:ext cx="1292888" cy="8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3"/>
              </a:lnSpc>
            </a:pPr>
            <a:r>
              <a:rPr lang="en-US" sz="509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射之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73053" y="5387524"/>
            <a:ext cx="1698509" cy="8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3"/>
              </a:lnSpc>
            </a:pPr>
            <a:r>
              <a:rPr lang="en-US" sz="509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報復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A87E3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3649" b="true">
                <a:solidFill>
                  <a:srgbClr val="A87E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28076"/>
            <a:ext cx="1568141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9"/>
              </a:lnSpc>
            </a:pPr>
            <a:r>
              <a:rPr lang="en-US" sz="54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入許之後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3446698"/>
            <a:ext cx="15923352" cy="4336504"/>
            <a:chOff x="0" y="0"/>
            <a:chExt cx="21231136" cy="5782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5782094"/>
            </a:xfrm>
            <a:custGeom>
              <a:avLst/>
              <a:gdLst/>
              <a:ahLst/>
              <a:cxnLst/>
              <a:rect r="r" b="b" t="t" l="l"/>
              <a:pathLst>
                <a:path h="5782094" w="21231225">
                  <a:moveTo>
                    <a:pt x="0" y="963761"/>
                  </a:moveTo>
                  <a:cubicBezTo>
                    <a:pt x="0" y="43152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431526"/>
                    <a:pt x="21231225" y="963761"/>
                  </a:cubicBezTo>
                  <a:lnTo>
                    <a:pt x="21231225" y="4818350"/>
                  </a:lnTo>
                  <a:cubicBezTo>
                    <a:pt x="21231225" y="5350585"/>
                    <a:pt x="20868260" y="5782094"/>
                    <a:pt x="20420585" y="5782094"/>
                  </a:cubicBezTo>
                  <a:lnTo>
                    <a:pt x="810641" y="5782094"/>
                  </a:lnTo>
                  <a:cubicBezTo>
                    <a:pt x="362966" y="5781959"/>
                    <a:pt x="0" y="5350585"/>
                    <a:pt x="0" y="4818350"/>
                  </a:cubicBezTo>
                  <a:close/>
                </a:path>
              </a:pathLst>
            </a:custGeom>
            <a:solidFill>
              <a:srgbClr val="F3EBD8"/>
            </a:solidFill>
            <a:ln w="13335" cap="sq">
              <a:solidFill>
                <a:srgbClr val="F3EBD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36297" y="3997314"/>
            <a:ext cx="237689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87E3A"/>
                </a:solidFill>
                <a:latin typeface="芫荽"/>
                <a:ea typeface="芫荽"/>
                <a:cs typeface="芫荽"/>
                <a:sym typeface="芫荽"/>
              </a:rPr>
              <a:t>原文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08760" y="4864089"/>
            <a:ext cx="14949897" cy="2572512"/>
            <a:chOff x="0" y="0"/>
            <a:chExt cx="19933196" cy="34300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33200" cy="3430020"/>
            </a:xfrm>
            <a:custGeom>
              <a:avLst/>
              <a:gdLst/>
              <a:ahLst/>
              <a:cxnLst/>
              <a:rect r="r" b="b" t="t" l="l"/>
              <a:pathLst>
                <a:path h="3430020" w="19933200">
                  <a:moveTo>
                    <a:pt x="0" y="0"/>
                  </a:moveTo>
                  <a:lnTo>
                    <a:pt x="19933200" y="0"/>
                  </a:lnTo>
                  <a:lnTo>
                    <a:pt x="19933200" y="3430020"/>
                  </a:lnTo>
                  <a:lnTo>
                    <a:pt x="0" y="3430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24" r="0" b="-5454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933196" cy="3430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瑕叔盈又以蝥弧登，周麾而呼曰：「君登矣。」鄭師畢登。壬午，遂入許。許莊公奔衛。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齊侯以許讓公。公曰：「君謂許不共，故從君討之。許既伏其罪矣，雖君有命，寡人弗敢與聞。」乃與鄭人。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8095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三國聯軍，但敘事焦點幾乎全在鄭國人物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32194" y="1776679"/>
            <a:ext cx="1442473" cy="7956957"/>
            <a:chOff x="0" y="0"/>
            <a:chExt cx="1558074" cy="8594636"/>
          </a:xfrm>
        </p:grpSpPr>
        <p:sp>
          <p:nvSpPr>
            <p:cNvPr name="Freeform 6" id="6" descr="image(20261006-082726).png"/>
            <p:cNvSpPr/>
            <p:nvPr/>
          </p:nvSpPr>
          <p:spPr>
            <a:xfrm flipH="false" flipV="false" rot="0">
              <a:off x="0" y="0"/>
              <a:ext cx="1558036" cy="8594598"/>
            </a:xfrm>
            <a:custGeom>
              <a:avLst/>
              <a:gdLst/>
              <a:ahLst/>
              <a:cxnLst/>
              <a:rect r="r" b="b" t="t" l="l"/>
              <a:pathLst>
                <a:path h="8594598" w="1558036">
                  <a:moveTo>
                    <a:pt x="0" y="0"/>
                  </a:moveTo>
                  <a:lnTo>
                    <a:pt x="1558036" y="0"/>
                  </a:lnTo>
                  <a:lnTo>
                    <a:pt x="1558036" y="8594598"/>
                  </a:lnTo>
                  <a:lnTo>
                    <a:pt x="0" y="859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1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89228" y="2165142"/>
            <a:ext cx="10231212" cy="3510372"/>
            <a:chOff x="0" y="0"/>
            <a:chExt cx="13641616" cy="46804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641705" cy="4680585"/>
            </a:xfrm>
            <a:custGeom>
              <a:avLst/>
              <a:gdLst/>
              <a:ahLst/>
              <a:cxnLst/>
              <a:rect r="r" b="b" t="t" l="l"/>
              <a:pathLst>
                <a:path h="4680585" w="13641705">
                  <a:moveTo>
                    <a:pt x="0" y="780161"/>
                  </a:moveTo>
                  <a:cubicBezTo>
                    <a:pt x="0" y="349250"/>
                    <a:pt x="349250" y="0"/>
                    <a:pt x="780161" y="0"/>
                  </a:cubicBezTo>
                  <a:lnTo>
                    <a:pt x="12861544" y="0"/>
                  </a:lnTo>
                  <a:cubicBezTo>
                    <a:pt x="13292328" y="0"/>
                    <a:pt x="13641705" y="349250"/>
                    <a:pt x="13641705" y="780161"/>
                  </a:cubicBezTo>
                  <a:lnTo>
                    <a:pt x="13641705" y="3900424"/>
                  </a:lnTo>
                  <a:cubicBezTo>
                    <a:pt x="13641705" y="4331208"/>
                    <a:pt x="13292455" y="4680585"/>
                    <a:pt x="12861544" y="4680585"/>
                  </a:cubicBezTo>
                  <a:lnTo>
                    <a:pt x="780161" y="4680585"/>
                  </a:lnTo>
                  <a:cubicBezTo>
                    <a:pt x="349250" y="4680458"/>
                    <a:pt x="0" y="4331208"/>
                    <a:pt x="0" y="39004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821675" y="2696875"/>
            <a:ext cx="9166317" cy="246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秋七月，公會齊侯、鄭伯伐許。庚辰，傅於許。</a:t>
            </a:r>
          </a:p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潁考叔取鄭伯之旗蝥弧以先登，子都自下射之，顛。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08429" y="4825713"/>
            <a:ext cx="5079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289228" y="6087709"/>
            <a:ext cx="10231212" cy="3257464"/>
            <a:chOff x="0" y="0"/>
            <a:chExt cx="13641616" cy="43432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41578" cy="4343235"/>
            </a:xfrm>
            <a:custGeom>
              <a:avLst/>
              <a:gdLst/>
              <a:ahLst/>
              <a:cxnLst/>
              <a:rect r="r" b="b" t="t" l="l"/>
              <a:pathLst>
                <a:path h="4343235" w="13641578">
                  <a:moveTo>
                    <a:pt x="0" y="723830"/>
                  </a:moveTo>
                  <a:cubicBezTo>
                    <a:pt x="0" y="324126"/>
                    <a:pt x="162306" y="0"/>
                    <a:pt x="362458" y="0"/>
                  </a:cubicBezTo>
                  <a:lnTo>
                    <a:pt x="13279120" y="0"/>
                  </a:lnTo>
                  <a:cubicBezTo>
                    <a:pt x="13479272" y="0"/>
                    <a:pt x="13641578" y="324126"/>
                    <a:pt x="13641578" y="723830"/>
                  </a:cubicBezTo>
                  <a:lnTo>
                    <a:pt x="13641578" y="3619405"/>
                  </a:lnTo>
                  <a:cubicBezTo>
                    <a:pt x="13641578" y="4019109"/>
                    <a:pt x="13479272" y="4343235"/>
                    <a:pt x="13279120" y="4343235"/>
                  </a:cubicBezTo>
                  <a:lnTo>
                    <a:pt x="362458" y="4343235"/>
                  </a:lnTo>
                  <a:cubicBezTo>
                    <a:pt x="162306" y="4343235"/>
                    <a:pt x="0" y="4019109"/>
                    <a:pt x="0" y="3619405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470840" y="6613989"/>
            <a:ext cx="2497865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康凱淋（2026）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96937" y="6438822"/>
            <a:ext cx="7422475" cy="255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《春秋》只說魯、齊、鄭「入許」；《左傳》卻用潁考叔、子都、瑕叔盈與鄭莊公的言行，逐步把鄭國塑造成軍事主導者。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2291" y="1561603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從「魯—鄭謀」到「魯—齊—鄭伐」：齊國何時進場？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902414" y="3805732"/>
            <a:ext cx="4950552" cy="3441792"/>
            <a:chOff x="0" y="0"/>
            <a:chExt cx="6600736" cy="4589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0825" cy="4589145"/>
            </a:xfrm>
            <a:custGeom>
              <a:avLst/>
              <a:gdLst/>
              <a:ahLst/>
              <a:cxnLst/>
              <a:rect r="r" b="b" t="t" l="l"/>
              <a:pathLst>
                <a:path h="4589145" w="6600825">
                  <a:moveTo>
                    <a:pt x="0" y="764921"/>
                  </a:moveTo>
                  <a:cubicBezTo>
                    <a:pt x="0" y="342392"/>
                    <a:pt x="342392" y="0"/>
                    <a:pt x="764921" y="0"/>
                  </a:cubicBezTo>
                  <a:lnTo>
                    <a:pt x="5835904" y="0"/>
                  </a:lnTo>
                  <a:cubicBezTo>
                    <a:pt x="6258306" y="0"/>
                    <a:pt x="6600825" y="342392"/>
                    <a:pt x="6600825" y="764921"/>
                  </a:cubicBezTo>
                  <a:lnTo>
                    <a:pt x="6600825" y="3824224"/>
                  </a:lnTo>
                  <a:cubicBezTo>
                    <a:pt x="6600825" y="4246626"/>
                    <a:pt x="6258433" y="4589145"/>
                    <a:pt x="5835904" y="4589145"/>
                  </a:cubicBezTo>
                  <a:lnTo>
                    <a:pt x="764921" y="4589145"/>
                  </a:lnTo>
                  <a:cubicBezTo>
                    <a:pt x="342392" y="4589018"/>
                    <a:pt x="0" y="4246626"/>
                    <a:pt x="0" y="38242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123670" y="4240300"/>
            <a:ext cx="5080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7701" y="5366155"/>
            <a:ext cx="4159977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魯隱公＋鄭莊公</a:t>
            </a:r>
          </a:p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會於郲、謀伐許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84433" y="4515573"/>
            <a:ext cx="2923847" cy="125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20"/>
              </a:lnSpc>
            </a:pPr>
            <a:r>
              <a:rPr lang="en-US" sz="787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→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9113" y="5809496"/>
            <a:ext cx="2788377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外交／軍事動員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5034" y="3805732"/>
            <a:ext cx="4950552" cy="3441792"/>
            <a:chOff x="0" y="0"/>
            <a:chExt cx="6600736" cy="4589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0825" cy="4589145"/>
            </a:xfrm>
            <a:custGeom>
              <a:avLst/>
              <a:gdLst/>
              <a:ahLst/>
              <a:cxnLst/>
              <a:rect r="r" b="b" t="t" l="l"/>
              <a:pathLst>
                <a:path h="4589145" w="6600825">
                  <a:moveTo>
                    <a:pt x="0" y="764921"/>
                  </a:moveTo>
                  <a:cubicBezTo>
                    <a:pt x="0" y="342392"/>
                    <a:pt x="342392" y="0"/>
                    <a:pt x="764921" y="0"/>
                  </a:cubicBezTo>
                  <a:lnTo>
                    <a:pt x="5835904" y="0"/>
                  </a:lnTo>
                  <a:cubicBezTo>
                    <a:pt x="6258306" y="0"/>
                    <a:pt x="6600825" y="342392"/>
                    <a:pt x="6600825" y="764921"/>
                  </a:cubicBezTo>
                  <a:lnTo>
                    <a:pt x="6600825" y="3824224"/>
                  </a:lnTo>
                  <a:cubicBezTo>
                    <a:pt x="6600825" y="4246626"/>
                    <a:pt x="6258433" y="4589145"/>
                    <a:pt x="5835904" y="4589145"/>
                  </a:cubicBezTo>
                  <a:lnTo>
                    <a:pt x="764921" y="4589145"/>
                  </a:lnTo>
                  <a:cubicBezTo>
                    <a:pt x="342392" y="4589018"/>
                    <a:pt x="0" y="4246626"/>
                    <a:pt x="0" y="38242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148370" y="4240300"/>
            <a:ext cx="152388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秋七月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25609" y="5366155"/>
            <a:ext cx="4159977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魯＋齊＋鄭</a:t>
            </a:r>
          </a:p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正式伐許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049622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戰爭推進到貼近城下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62062" y="3730943"/>
            <a:ext cx="6459312" cy="2389995"/>
            <a:chOff x="0" y="0"/>
            <a:chExt cx="8612416" cy="31866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12378" cy="3186615"/>
            </a:xfrm>
            <a:custGeom>
              <a:avLst/>
              <a:gdLst/>
              <a:ahLst/>
              <a:cxnLst/>
              <a:rect r="r" b="b" t="t" l="l"/>
              <a:pathLst>
                <a:path h="3186615" w="8612378">
                  <a:moveTo>
                    <a:pt x="0" y="531052"/>
                  </a:moveTo>
                  <a:cubicBezTo>
                    <a:pt x="0" y="237775"/>
                    <a:pt x="199136" y="0"/>
                    <a:pt x="444754" y="0"/>
                  </a:cubicBezTo>
                  <a:lnTo>
                    <a:pt x="8167624" y="0"/>
                  </a:lnTo>
                  <a:cubicBezTo>
                    <a:pt x="8413242" y="0"/>
                    <a:pt x="8612378" y="237775"/>
                    <a:pt x="8612378" y="531052"/>
                  </a:cubicBezTo>
                  <a:lnTo>
                    <a:pt x="8612378" y="2655563"/>
                  </a:lnTo>
                  <a:cubicBezTo>
                    <a:pt x="8612378" y="2948840"/>
                    <a:pt x="8413242" y="3186615"/>
                    <a:pt x="8167624" y="3186615"/>
                  </a:cubicBezTo>
                  <a:lnTo>
                    <a:pt x="444754" y="3186615"/>
                  </a:lnTo>
                  <a:cubicBezTo>
                    <a:pt x="199136" y="3186615"/>
                    <a:pt x="0" y="2948840"/>
                    <a:pt x="0" y="265556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94510" y="4234091"/>
            <a:ext cx="539441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庚辰，傅於許。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9363" y="5262791"/>
            <a:ext cx="5079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28672" y="2256472"/>
            <a:ext cx="8379552" cy="5546419"/>
            <a:chOff x="0" y="0"/>
            <a:chExt cx="11172736" cy="73952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72825" cy="7395314"/>
            </a:xfrm>
            <a:custGeom>
              <a:avLst/>
              <a:gdLst/>
              <a:ahLst/>
              <a:cxnLst/>
              <a:rect r="r" b="b" t="t" l="l"/>
              <a:pathLst>
                <a:path h="7395314" w="11172825">
                  <a:moveTo>
                    <a:pt x="0" y="1232625"/>
                  </a:moveTo>
                  <a:cubicBezTo>
                    <a:pt x="0" y="551786"/>
                    <a:pt x="492506" y="0"/>
                    <a:pt x="1100201" y="0"/>
                  </a:cubicBezTo>
                  <a:lnTo>
                    <a:pt x="10072624" y="0"/>
                  </a:lnTo>
                  <a:cubicBezTo>
                    <a:pt x="10680192" y="0"/>
                    <a:pt x="11172825" y="551786"/>
                    <a:pt x="11172825" y="1232625"/>
                  </a:cubicBezTo>
                  <a:lnTo>
                    <a:pt x="11172825" y="6162700"/>
                  </a:lnTo>
                  <a:cubicBezTo>
                    <a:pt x="11172825" y="6843397"/>
                    <a:pt x="10680319" y="7395314"/>
                    <a:pt x="10072624" y="7395314"/>
                  </a:cubicBezTo>
                  <a:lnTo>
                    <a:pt x="1100201" y="7395314"/>
                  </a:lnTo>
                  <a:cubicBezTo>
                    <a:pt x="492506" y="7395183"/>
                    <a:pt x="0" y="6843397"/>
                    <a:pt x="0" y="6162700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824707" y="2759621"/>
            <a:ext cx="558748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從「謀」到「傅」的距離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66860" y="3623996"/>
            <a:ext cx="6857863" cy="32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「謀」：戰前政治決策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「授兵」：軍事動員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「伐」：聯軍行動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「傅於許」：軍隊已逼近城下，攻城即將發生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77340" y="5623560"/>
            <a:ext cx="5828757" cy="1439640"/>
            <a:chOff x="0" y="0"/>
            <a:chExt cx="7771676" cy="1919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71680" cy="1919524"/>
            </a:xfrm>
            <a:custGeom>
              <a:avLst/>
              <a:gdLst/>
              <a:ahLst/>
              <a:cxnLst/>
              <a:rect r="r" b="b" t="t" l="l"/>
              <a:pathLst>
                <a:path h="1919524" w="7771680">
                  <a:moveTo>
                    <a:pt x="0" y="0"/>
                  </a:moveTo>
                  <a:lnTo>
                    <a:pt x="7771680" y="0"/>
                  </a:lnTo>
                  <a:lnTo>
                    <a:pt x="7771680" y="1919524"/>
                  </a:lnTo>
                  <a:lnTo>
                    <a:pt x="0" y="19195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90" r="0" b="-288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771676" cy="1948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66890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為什麼潁考叔拿的是「鄭伯之旗」？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0565" y="4457047"/>
            <a:ext cx="7076532" cy="2596312"/>
            <a:chOff x="0" y="0"/>
            <a:chExt cx="9435376" cy="3461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35338" cy="3461703"/>
            </a:xfrm>
            <a:custGeom>
              <a:avLst/>
              <a:gdLst/>
              <a:ahLst/>
              <a:cxnLst/>
              <a:rect r="r" b="b" t="t" l="l"/>
              <a:pathLst>
                <a:path h="3461703" w="9435338">
                  <a:moveTo>
                    <a:pt x="0" y="576899"/>
                  </a:moveTo>
                  <a:cubicBezTo>
                    <a:pt x="0" y="258387"/>
                    <a:pt x="212852" y="0"/>
                    <a:pt x="475234" y="0"/>
                  </a:cubicBezTo>
                  <a:lnTo>
                    <a:pt x="8960104" y="0"/>
                  </a:lnTo>
                  <a:cubicBezTo>
                    <a:pt x="9222613" y="0"/>
                    <a:pt x="9435338" y="258387"/>
                    <a:pt x="9435338" y="576899"/>
                  </a:cubicBezTo>
                  <a:lnTo>
                    <a:pt x="9435338" y="2884804"/>
                  </a:lnTo>
                  <a:cubicBezTo>
                    <a:pt x="9435338" y="3203471"/>
                    <a:pt x="9222486" y="3461703"/>
                    <a:pt x="8960104" y="3461703"/>
                  </a:cubicBezTo>
                  <a:lnTo>
                    <a:pt x="475234" y="3461703"/>
                  </a:lnTo>
                  <a:cubicBezTo>
                    <a:pt x="212852" y="3461703"/>
                    <a:pt x="0" y="3203471"/>
                    <a:pt x="0" y="288480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03012" y="4880186"/>
            <a:ext cx="6011637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潁考叔取鄭伯之旗蝥弧以先登。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35085" y="6126056"/>
            <a:ext cx="5079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17235" y="2822539"/>
            <a:ext cx="7899492" cy="5087712"/>
            <a:chOff x="0" y="0"/>
            <a:chExt cx="10532656" cy="6783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32745" cy="6783705"/>
            </a:xfrm>
            <a:custGeom>
              <a:avLst/>
              <a:gdLst/>
              <a:ahLst/>
              <a:cxnLst/>
              <a:rect r="r" b="b" t="t" l="l"/>
              <a:pathLst>
                <a:path h="6783705" w="10532745">
                  <a:moveTo>
                    <a:pt x="0" y="1130681"/>
                  </a:moveTo>
                  <a:cubicBezTo>
                    <a:pt x="0" y="506222"/>
                    <a:pt x="506222" y="0"/>
                    <a:pt x="1130681" y="0"/>
                  </a:cubicBezTo>
                  <a:lnTo>
                    <a:pt x="9402064" y="0"/>
                  </a:lnTo>
                  <a:cubicBezTo>
                    <a:pt x="10026523" y="0"/>
                    <a:pt x="10532745" y="506222"/>
                    <a:pt x="10532745" y="1130681"/>
                  </a:cubicBezTo>
                  <a:lnTo>
                    <a:pt x="10532745" y="5653024"/>
                  </a:lnTo>
                  <a:cubicBezTo>
                    <a:pt x="10532745" y="6277483"/>
                    <a:pt x="10026523" y="6783705"/>
                    <a:pt x="9402064" y="6783705"/>
                  </a:cubicBezTo>
                  <a:lnTo>
                    <a:pt x="1130681" y="6783705"/>
                  </a:lnTo>
                  <a:cubicBezTo>
                    <a:pt x="506222" y="6783578"/>
                    <a:pt x="0" y="6277483"/>
                    <a:pt x="0" y="5653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72247" y="4124624"/>
            <a:ext cx="1015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蝥弧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13851" y="4124624"/>
            <a:ext cx="5080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57135" y="4124624"/>
            <a:ext cx="3658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鄭伯權威的象徵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13350" y="5649011"/>
            <a:ext cx="152388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旗登城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62935" y="5649011"/>
            <a:ext cx="71655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→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47262" y="5503121"/>
            <a:ext cx="3268437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象徵鄭國權力登上許城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85842" y="6436409"/>
            <a:ext cx="6445977" cy="1233900"/>
            <a:chOff x="0" y="0"/>
            <a:chExt cx="8594636" cy="164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94640" cy="1645204"/>
            </a:xfrm>
            <a:custGeom>
              <a:avLst/>
              <a:gdLst/>
              <a:ahLst/>
              <a:cxnLst/>
              <a:rect r="r" b="b" t="t" l="l"/>
              <a:pathLst>
                <a:path h="1645204" w="8594640">
                  <a:moveTo>
                    <a:pt x="0" y="0"/>
                  </a:moveTo>
                  <a:lnTo>
                    <a:pt x="8594640" y="0"/>
                  </a:lnTo>
                  <a:lnTo>
                    <a:pt x="8594640" y="1645204"/>
                  </a:lnTo>
                  <a:lnTo>
                    <a:pt x="0" y="16452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791" r="0" b="-5179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594636" cy="167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212760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潁考叔倒下後，為什麼鄭軍沒有停？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3770" y="3719655"/>
            <a:ext cx="8901646" cy="3187588"/>
            <a:chOff x="0" y="0"/>
            <a:chExt cx="11081296" cy="39680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81258" cy="3968053"/>
            </a:xfrm>
            <a:custGeom>
              <a:avLst/>
              <a:gdLst/>
              <a:ahLst/>
              <a:cxnLst/>
              <a:rect r="r" b="b" t="t" l="l"/>
              <a:pathLst>
                <a:path h="3968053" w="11081258">
                  <a:moveTo>
                    <a:pt x="0" y="661291"/>
                  </a:moveTo>
                  <a:cubicBezTo>
                    <a:pt x="0" y="296073"/>
                    <a:pt x="246888" y="0"/>
                    <a:pt x="551434" y="0"/>
                  </a:cubicBezTo>
                  <a:lnTo>
                    <a:pt x="10529824" y="0"/>
                  </a:lnTo>
                  <a:cubicBezTo>
                    <a:pt x="10834370" y="0"/>
                    <a:pt x="11081258" y="296073"/>
                    <a:pt x="11081258" y="661291"/>
                  </a:cubicBezTo>
                  <a:lnTo>
                    <a:pt x="11081258" y="3306761"/>
                  </a:lnTo>
                  <a:cubicBezTo>
                    <a:pt x="11081258" y="3671979"/>
                    <a:pt x="10834370" y="3968053"/>
                    <a:pt x="10529824" y="3968053"/>
                  </a:cubicBezTo>
                  <a:lnTo>
                    <a:pt x="551434" y="3968053"/>
                  </a:lnTo>
                  <a:cubicBezTo>
                    <a:pt x="246888" y="3968053"/>
                    <a:pt x="0" y="3671979"/>
                    <a:pt x="0" y="330676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64059" y="4260594"/>
            <a:ext cx="7761067" cy="136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8"/>
              </a:lnSpc>
            </a:pPr>
            <a:r>
              <a:rPr lang="en-US" sz="4284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瑕叔盈又以蝥弧登，周麾而呼曰：「君登矣！」鄭師畢登。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84550" y="5876584"/>
            <a:ext cx="5440576" cy="67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98"/>
              </a:lnSpc>
            </a:pPr>
            <a:r>
              <a:rPr lang="en-US" sz="4284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95312" y="2606458"/>
            <a:ext cx="3098773" cy="1996962"/>
            <a:chOff x="0" y="0"/>
            <a:chExt cx="3857536" cy="2485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57498" cy="2485898"/>
            </a:xfrm>
            <a:custGeom>
              <a:avLst/>
              <a:gdLst/>
              <a:ahLst/>
              <a:cxnLst/>
              <a:rect r="r" b="b" t="t" l="l"/>
              <a:pathLst>
                <a:path h="2485898" w="3857498">
                  <a:moveTo>
                    <a:pt x="0" y="414274"/>
                  </a:moveTo>
                  <a:cubicBezTo>
                    <a:pt x="0" y="185547"/>
                    <a:pt x="185547" y="0"/>
                    <a:pt x="414274" y="0"/>
                  </a:cubicBezTo>
                  <a:lnTo>
                    <a:pt x="3443224" y="0"/>
                  </a:lnTo>
                  <a:cubicBezTo>
                    <a:pt x="3672078" y="0"/>
                    <a:pt x="3857498" y="185547"/>
                    <a:pt x="3857498" y="414274"/>
                  </a:cubicBezTo>
                  <a:lnTo>
                    <a:pt x="3857498" y="2071624"/>
                  </a:lnTo>
                  <a:cubicBezTo>
                    <a:pt x="3857498" y="2300478"/>
                    <a:pt x="3671951" y="2485898"/>
                    <a:pt x="3443224" y="2485898"/>
                  </a:cubicBezTo>
                  <a:lnTo>
                    <a:pt x="414274" y="2485898"/>
                  </a:lnTo>
                  <a:cubicBezTo>
                    <a:pt x="185547" y="2485898"/>
                    <a:pt x="0" y="2300478"/>
                    <a:pt x="0" y="20716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727824" y="2947014"/>
            <a:ext cx="2633747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潁考叔倒下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7328" y="3681555"/>
            <a:ext cx="2575331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個人行動中斷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094562" y="2606458"/>
            <a:ext cx="3098773" cy="1996962"/>
            <a:chOff x="0" y="0"/>
            <a:chExt cx="3857536" cy="24859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57498" cy="2485898"/>
            </a:xfrm>
            <a:custGeom>
              <a:avLst/>
              <a:gdLst/>
              <a:ahLst/>
              <a:cxnLst/>
              <a:rect r="r" b="b" t="t" l="l"/>
              <a:pathLst>
                <a:path h="2485898" w="3857498">
                  <a:moveTo>
                    <a:pt x="0" y="414274"/>
                  </a:moveTo>
                  <a:cubicBezTo>
                    <a:pt x="0" y="185547"/>
                    <a:pt x="185547" y="0"/>
                    <a:pt x="414274" y="0"/>
                  </a:cubicBezTo>
                  <a:lnTo>
                    <a:pt x="3443224" y="0"/>
                  </a:lnTo>
                  <a:cubicBezTo>
                    <a:pt x="3672078" y="0"/>
                    <a:pt x="3857498" y="185547"/>
                    <a:pt x="3857498" y="414274"/>
                  </a:cubicBezTo>
                  <a:lnTo>
                    <a:pt x="3857498" y="2071624"/>
                  </a:lnTo>
                  <a:cubicBezTo>
                    <a:pt x="3857498" y="2300478"/>
                    <a:pt x="3671951" y="2485898"/>
                    <a:pt x="3443224" y="2485898"/>
                  </a:cubicBezTo>
                  <a:lnTo>
                    <a:pt x="414274" y="2485898"/>
                  </a:lnTo>
                  <a:cubicBezTo>
                    <a:pt x="185547" y="2485898"/>
                    <a:pt x="0" y="2300478"/>
                    <a:pt x="0" y="20716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327075" y="2947014"/>
            <a:ext cx="2633747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瑕叔盈接旗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56579" y="3681555"/>
            <a:ext cx="2575331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國君象徵延續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95312" y="5544622"/>
            <a:ext cx="3098773" cy="1996962"/>
            <a:chOff x="0" y="0"/>
            <a:chExt cx="3857536" cy="24859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57498" cy="2485898"/>
            </a:xfrm>
            <a:custGeom>
              <a:avLst/>
              <a:gdLst/>
              <a:ahLst/>
              <a:cxnLst/>
              <a:rect r="r" b="b" t="t" l="l"/>
              <a:pathLst>
                <a:path h="2485898" w="3857498">
                  <a:moveTo>
                    <a:pt x="0" y="414274"/>
                  </a:moveTo>
                  <a:cubicBezTo>
                    <a:pt x="0" y="185547"/>
                    <a:pt x="185547" y="0"/>
                    <a:pt x="414274" y="0"/>
                  </a:cubicBezTo>
                  <a:lnTo>
                    <a:pt x="3443224" y="0"/>
                  </a:lnTo>
                  <a:cubicBezTo>
                    <a:pt x="3672078" y="0"/>
                    <a:pt x="3857498" y="185547"/>
                    <a:pt x="3857498" y="414274"/>
                  </a:cubicBezTo>
                  <a:lnTo>
                    <a:pt x="3857498" y="2071624"/>
                  </a:lnTo>
                  <a:cubicBezTo>
                    <a:pt x="3857498" y="2300478"/>
                    <a:pt x="3671951" y="2485898"/>
                    <a:pt x="3443224" y="2485898"/>
                  </a:cubicBezTo>
                  <a:lnTo>
                    <a:pt x="414274" y="2485898"/>
                  </a:lnTo>
                  <a:cubicBezTo>
                    <a:pt x="185547" y="2485898"/>
                    <a:pt x="0" y="2300478"/>
                    <a:pt x="0" y="20716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727824" y="5885177"/>
            <a:ext cx="2633747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「君登矣」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33100" y="6619718"/>
            <a:ext cx="3060954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把符號轉成號令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094562" y="5544622"/>
            <a:ext cx="3098773" cy="1996962"/>
            <a:chOff x="0" y="0"/>
            <a:chExt cx="3857536" cy="24859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57498" cy="2485898"/>
            </a:xfrm>
            <a:custGeom>
              <a:avLst/>
              <a:gdLst/>
              <a:ahLst/>
              <a:cxnLst/>
              <a:rect r="r" b="b" t="t" l="l"/>
              <a:pathLst>
                <a:path h="2485898" w="3857498">
                  <a:moveTo>
                    <a:pt x="0" y="414274"/>
                  </a:moveTo>
                  <a:cubicBezTo>
                    <a:pt x="0" y="185547"/>
                    <a:pt x="185547" y="0"/>
                    <a:pt x="414274" y="0"/>
                  </a:cubicBezTo>
                  <a:lnTo>
                    <a:pt x="3443224" y="0"/>
                  </a:lnTo>
                  <a:cubicBezTo>
                    <a:pt x="3672078" y="0"/>
                    <a:pt x="3857498" y="185547"/>
                    <a:pt x="3857498" y="414274"/>
                  </a:cubicBezTo>
                  <a:lnTo>
                    <a:pt x="3857498" y="2071624"/>
                  </a:lnTo>
                  <a:cubicBezTo>
                    <a:pt x="3857498" y="2300478"/>
                    <a:pt x="3671951" y="2485898"/>
                    <a:pt x="3443224" y="2485898"/>
                  </a:cubicBezTo>
                  <a:lnTo>
                    <a:pt x="414274" y="2485898"/>
                  </a:lnTo>
                  <a:cubicBezTo>
                    <a:pt x="185547" y="2485898"/>
                    <a:pt x="0" y="2300478"/>
                    <a:pt x="0" y="20716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4327075" y="5885177"/>
            <a:ext cx="2633747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鄭師畢登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6579" y="6619718"/>
            <a:ext cx="2575331" cy="53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sz="3284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集體行動恢復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3594054" y="3604939"/>
            <a:ext cx="500508" cy="0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2044698" y="4603389"/>
            <a:ext cx="0" cy="941232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3594054" y="6543102"/>
            <a:ext cx="500508" cy="0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541054" y="6477172"/>
            <a:ext cx="8005914" cy="1174687"/>
            <a:chOff x="0" y="0"/>
            <a:chExt cx="9966236" cy="1462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66240" cy="1462324"/>
            </a:xfrm>
            <a:custGeom>
              <a:avLst/>
              <a:gdLst/>
              <a:ahLst/>
              <a:cxnLst/>
              <a:rect r="r" b="b" t="t" l="l"/>
              <a:pathLst>
                <a:path h="1462324" w="9966240">
                  <a:moveTo>
                    <a:pt x="0" y="0"/>
                  </a:moveTo>
                  <a:lnTo>
                    <a:pt x="9966240" y="0"/>
                  </a:lnTo>
                  <a:lnTo>
                    <a:pt x="9966240" y="1462324"/>
                  </a:lnTo>
                  <a:lnTo>
                    <a:pt x="0" y="1462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797" r="0" b="-8279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966236" cy="1490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801947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「君登矣」其實不是真的：為什麼一句假話有效？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0904" y="3081345"/>
            <a:ext cx="4813392" cy="4744812"/>
            <a:chOff x="0" y="0"/>
            <a:chExt cx="6417856" cy="6326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17945" cy="6326505"/>
            </a:xfrm>
            <a:custGeom>
              <a:avLst/>
              <a:gdLst/>
              <a:ahLst/>
              <a:cxnLst/>
              <a:rect r="r" b="b" t="t" l="l"/>
              <a:pathLst>
                <a:path h="6326505" w="6417945">
                  <a:moveTo>
                    <a:pt x="0" y="1054481"/>
                  </a:moveTo>
                  <a:cubicBezTo>
                    <a:pt x="0" y="472059"/>
                    <a:pt x="472059" y="0"/>
                    <a:pt x="1054481" y="0"/>
                  </a:cubicBezTo>
                  <a:lnTo>
                    <a:pt x="5363464" y="0"/>
                  </a:lnTo>
                  <a:cubicBezTo>
                    <a:pt x="5945759" y="0"/>
                    <a:pt x="6417945" y="472059"/>
                    <a:pt x="6417945" y="1054481"/>
                  </a:cubicBezTo>
                  <a:lnTo>
                    <a:pt x="6417945" y="5272024"/>
                  </a:lnTo>
                  <a:cubicBezTo>
                    <a:pt x="6417945" y="5854319"/>
                    <a:pt x="5945886" y="6326505"/>
                    <a:pt x="5363464" y="6326505"/>
                  </a:cubicBezTo>
                  <a:lnTo>
                    <a:pt x="1054481" y="6326505"/>
                  </a:lnTo>
                  <a:cubicBezTo>
                    <a:pt x="472059" y="6326378"/>
                    <a:pt x="0" y="5854319"/>
                    <a:pt x="0" y="5272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644557" y="3920490"/>
            <a:ext cx="203180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字面事實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3369" y="5114925"/>
            <a:ext cx="3474177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鄭莊公本人</a:t>
            </a:r>
          </a:p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並未登上城牆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37304" y="3081345"/>
            <a:ext cx="4813392" cy="4744812"/>
            <a:chOff x="0" y="0"/>
            <a:chExt cx="6417856" cy="63264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17945" cy="6326505"/>
            </a:xfrm>
            <a:custGeom>
              <a:avLst/>
              <a:gdLst/>
              <a:ahLst/>
              <a:cxnLst/>
              <a:rect r="r" b="b" t="t" l="l"/>
              <a:pathLst>
                <a:path h="6326505" w="6417945">
                  <a:moveTo>
                    <a:pt x="0" y="1054481"/>
                  </a:moveTo>
                  <a:cubicBezTo>
                    <a:pt x="0" y="472059"/>
                    <a:pt x="472059" y="0"/>
                    <a:pt x="1054481" y="0"/>
                  </a:cubicBezTo>
                  <a:lnTo>
                    <a:pt x="5363464" y="0"/>
                  </a:lnTo>
                  <a:cubicBezTo>
                    <a:pt x="5945759" y="0"/>
                    <a:pt x="6417945" y="472059"/>
                    <a:pt x="6417945" y="1054481"/>
                  </a:cubicBezTo>
                  <a:lnTo>
                    <a:pt x="6417945" y="5272024"/>
                  </a:lnTo>
                  <a:cubicBezTo>
                    <a:pt x="6417945" y="5854319"/>
                    <a:pt x="5945886" y="6326505"/>
                    <a:pt x="5363464" y="6326505"/>
                  </a:cubicBezTo>
                  <a:lnTo>
                    <a:pt x="1054481" y="6326505"/>
                  </a:lnTo>
                  <a:cubicBezTo>
                    <a:pt x="472059" y="6326378"/>
                    <a:pt x="0" y="5854319"/>
                    <a:pt x="0" y="5272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128099" y="3888341"/>
            <a:ext cx="203180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政治象徵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04054" y="5114925"/>
            <a:ext cx="3955454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「蝥弧」＝君旗</a:t>
            </a:r>
          </a:p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旗到＝君權到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23704" y="3081345"/>
            <a:ext cx="4813392" cy="4744812"/>
            <a:chOff x="0" y="0"/>
            <a:chExt cx="6417856" cy="63264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17945" cy="6326505"/>
            </a:xfrm>
            <a:custGeom>
              <a:avLst/>
              <a:gdLst/>
              <a:ahLst/>
              <a:cxnLst/>
              <a:rect r="r" b="b" t="t" l="l"/>
              <a:pathLst>
                <a:path h="6326505" w="6417945">
                  <a:moveTo>
                    <a:pt x="0" y="1054481"/>
                  </a:moveTo>
                  <a:cubicBezTo>
                    <a:pt x="0" y="472059"/>
                    <a:pt x="472059" y="0"/>
                    <a:pt x="1054481" y="0"/>
                  </a:cubicBezTo>
                  <a:lnTo>
                    <a:pt x="5363464" y="0"/>
                  </a:lnTo>
                  <a:cubicBezTo>
                    <a:pt x="5945759" y="0"/>
                    <a:pt x="6417945" y="472059"/>
                    <a:pt x="6417945" y="1054481"/>
                  </a:cubicBezTo>
                  <a:lnTo>
                    <a:pt x="6417945" y="5272024"/>
                  </a:lnTo>
                  <a:cubicBezTo>
                    <a:pt x="6417945" y="5854319"/>
                    <a:pt x="5945886" y="6326505"/>
                    <a:pt x="5363464" y="6326505"/>
                  </a:cubicBezTo>
                  <a:lnTo>
                    <a:pt x="1054481" y="6326505"/>
                  </a:lnTo>
                  <a:cubicBezTo>
                    <a:pt x="472059" y="6326378"/>
                    <a:pt x="0" y="5854319"/>
                    <a:pt x="0" y="5272024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617621" y="3888341"/>
            <a:ext cx="203180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實際效果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9979" y="5114925"/>
            <a:ext cx="3474177" cy="122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「鄭師畢登」</a:t>
            </a:r>
          </a:p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全軍跟進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064296" y="5453751"/>
            <a:ext cx="673008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1550696" y="5453751"/>
            <a:ext cx="673008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2284" y="1097089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「壬午，遂入許」：為什麼寫「入」，不是「滅」？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87159" y="3696653"/>
            <a:ext cx="7145112" cy="2829992"/>
            <a:chOff x="0" y="0"/>
            <a:chExt cx="9526816" cy="3773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6777" cy="3773272"/>
            </a:xfrm>
            <a:custGeom>
              <a:avLst/>
              <a:gdLst/>
              <a:ahLst/>
              <a:cxnLst/>
              <a:rect r="r" b="b" t="t" l="l"/>
              <a:pathLst>
                <a:path h="3773272" w="9526777">
                  <a:moveTo>
                    <a:pt x="0" y="628823"/>
                  </a:moveTo>
                  <a:cubicBezTo>
                    <a:pt x="0" y="281643"/>
                    <a:pt x="212852" y="0"/>
                    <a:pt x="475234" y="0"/>
                  </a:cubicBezTo>
                  <a:lnTo>
                    <a:pt x="9051544" y="0"/>
                  </a:lnTo>
                  <a:cubicBezTo>
                    <a:pt x="9314052" y="0"/>
                    <a:pt x="9526777" y="281643"/>
                    <a:pt x="9526777" y="628823"/>
                  </a:cubicBezTo>
                  <a:lnTo>
                    <a:pt x="9526777" y="3144449"/>
                  </a:lnTo>
                  <a:cubicBezTo>
                    <a:pt x="9526777" y="3491797"/>
                    <a:pt x="9313925" y="3773272"/>
                    <a:pt x="9051544" y="3773272"/>
                  </a:cubicBezTo>
                  <a:lnTo>
                    <a:pt x="475234" y="3773272"/>
                  </a:lnTo>
                  <a:cubicBezTo>
                    <a:pt x="212852" y="3773272"/>
                    <a:pt x="0" y="3491797"/>
                    <a:pt x="0" y="314444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919606" y="4199801"/>
            <a:ext cx="6080217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壬午，遂入許。許莊公奔衛。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0259" y="5365661"/>
            <a:ext cx="5079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45893" y="2119312"/>
            <a:ext cx="7693752" cy="7601045"/>
            <a:chOff x="0" y="0"/>
            <a:chExt cx="10258336" cy="10134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58425" cy="10134816"/>
            </a:xfrm>
            <a:custGeom>
              <a:avLst/>
              <a:gdLst/>
              <a:ahLst/>
              <a:cxnLst/>
              <a:rect r="r" b="b" t="t" l="l"/>
              <a:pathLst>
                <a:path h="10134816" w="10258425">
                  <a:moveTo>
                    <a:pt x="0" y="1689234"/>
                  </a:moveTo>
                  <a:cubicBezTo>
                    <a:pt x="0" y="756262"/>
                    <a:pt x="526669" y="0"/>
                    <a:pt x="1176401" y="0"/>
                  </a:cubicBezTo>
                  <a:lnTo>
                    <a:pt x="9082024" y="0"/>
                  </a:lnTo>
                  <a:cubicBezTo>
                    <a:pt x="9731756" y="0"/>
                    <a:pt x="10258425" y="756262"/>
                    <a:pt x="10258425" y="1689234"/>
                  </a:cubicBezTo>
                  <a:lnTo>
                    <a:pt x="10258425" y="8445621"/>
                  </a:lnTo>
                  <a:cubicBezTo>
                    <a:pt x="10258425" y="9378593"/>
                    <a:pt x="9731756" y="10134816"/>
                    <a:pt x="9082024" y="10134816"/>
                  </a:cubicBezTo>
                  <a:lnTo>
                    <a:pt x="1176401" y="10134816"/>
                  </a:lnTo>
                  <a:cubicBezTo>
                    <a:pt x="526669" y="10134672"/>
                    <a:pt x="0" y="9378411"/>
                    <a:pt x="0" y="8445621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860967" y="2650007"/>
            <a:ext cx="406360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「入」的閱讀重點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78340" y="3555416"/>
            <a:ext cx="6628857" cy="590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《春秋》經文也寫「公及齊侯、鄭伯入許」。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「入」屬戰爭書法之一，與「侵、伐、圍、滅」並列，但不是同義詞。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許莊公出奔後，許國宗室與社稷仍成為後文處置問題，顯示政治共同體並未在此句徹底消失。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14500" y="5623560"/>
            <a:ext cx="6308817" cy="1096740"/>
            <a:chOff x="0" y="0"/>
            <a:chExt cx="8411756" cy="1462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11760" cy="1462324"/>
            </a:xfrm>
            <a:custGeom>
              <a:avLst/>
              <a:gdLst/>
              <a:ahLst/>
              <a:cxnLst/>
              <a:rect r="r" b="b" t="t" l="l"/>
              <a:pathLst>
                <a:path h="1462324" w="8411760">
                  <a:moveTo>
                    <a:pt x="0" y="0"/>
                  </a:moveTo>
                  <a:lnTo>
                    <a:pt x="8411760" y="0"/>
                  </a:lnTo>
                  <a:lnTo>
                    <a:pt x="8411760" y="1462324"/>
                  </a:lnTo>
                  <a:lnTo>
                    <a:pt x="0" y="1462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84" r="0" b="-6208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411756" cy="1490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3526" y="2298155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「齊侯以許讓公」：先出現的是戰果分配問題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1460" y="4121680"/>
            <a:ext cx="6601440" cy="2718956"/>
            <a:chOff x="0" y="0"/>
            <a:chExt cx="8063776" cy="33212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63738" cy="3321202"/>
            </a:xfrm>
            <a:custGeom>
              <a:avLst/>
              <a:gdLst/>
              <a:ahLst/>
              <a:cxnLst/>
              <a:rect r="r" b="b" t="t" l="l"/>
              <a:pathLst>
                <a:path h="3321202" w="8063738">
                  <a:moveTo>
                    <a:pt x="0" y="553477"/>
                  </a:moveTo>
                  <a:cubicBezTo>
                    <a:pt x="0" y="247894"/>
                    <a:pt x="185547" y="0"/>
                    <a:pt x="414274" y="0"/>
                  </a:cubicBezTo>
                  <a:lnTo>
                    <a:pt x="7649464" y="0"/>
                  </a:lnTo>
                  <a:cubicBezTo>
                    <a:pt x="7878318" y="0"/>
                    <a:pt x="8063738" y="247894"/>
                    <a:pt x="8063738" y="553477"/>
                  </a:cubicBezTo>
                  <a:lnTo>
                    <a:pt x="8063738" y="2767725"/>
                  </a:lnTo>
                  <a:cubicBezTo>
                    <a:pt x="8063738" y="3073478"/>
                    <a:pt x="7878191" y="3321202"/>
                    <a:pt x="7649464" y="3321202"/>
                  </a:cubicBezTo>
                  <a:lnTo>
                    <a:pt x="414274" y="3321202"/>
                  </a:lnTo>
                  <a:cubicBezTo>
                    <a:pt x="185547" y="3321202"/>
                    <a:pt x="0" y="3073478"/>
                    <a:pt x="0" y="276772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32647" y="4663977"/>
            <a:ext cx="5439066" cy="7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1"/>
              </a:lnSpc>
            </a:pPr>
            <a:r>
              <a:rPr lang="en-US" sz="4366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齊侯以許讓公。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7175" y="5637127"/>
            <a:ext cx="5544538" cy="7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01"/>
              </a:lnSpc>
            </a:pPr>
            <a:r>
              <a:rPr lang="en-US" sz="4366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62055" y="4346690"/>
            <a:ext cx="2783698" cy="1960263"/>
            <a:chOff x="0" y="0"/>
            <a:chExt cx="3400336" cy="23944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00298" cy="2394458"/>
            </a:xfrm>
            <a:custGeom>
              <a:avLst/>
              <a:gdLst/>
              <a:ahLst/>
              <a:cxnLst/>
              <a:rect r="r" b="b" t="t" l="l"/>
              <a:pathLst>
                <a:path h="2394458" w="3400298">
                  <a:moveTo>
                    <a:pt x="0" y="399034"/>
                  </a:moveTo>
                  <a:cubicBezTo>
                    <a:pt x="0" y="178689"/>
                    <a:pt x="178689" y="0"/>
                    <a:pt x="399034" y="0"/>
                  </a:cubicBezTo>
                  <a:lnTo>
                    <a:pt x="3001264" y="0"/>
                  </a:lnTo>
                  <a:cubicBezTo>
                    <a:pt x="3221736" y="0"/>
                    <a:pt x="3400298" y="178689"/>
                    <a:pt x="3400298" y="399034"/>
                  </a:cubicBezTo>
                  <a:lnTo>
                    <a:pt x="3400298" y="1995424"/>
                  </a:lnTo>
                  <a:cubicBezTo>
                    <a:pt x="3400298" y="2215896"/>
                    <a:pt x="3221609" y="2394458"/>
                    <a:pt x="3001264" y="2394458"/>
                  </a:cubicBezTo>
                  <a:lnTo>
                    <a:pt x="399034" y="2394458"/>
                  </a:lnTo>
                  <a:cubicBezTo>
                    <a:pt x="178689" y="2394458"/>
                    <a:pt x="0" y="2215769"/>
                    <a:pt x="0" y="19954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713730" y="4778864"/>
            <a:ext cx="880348" cy="55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66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齊侯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68954" y="5452583"/>
            <a:ext cx="2369901" cy="55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66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提出讓許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80367" y="4346690"/>
            <a:ext cx="2783698" cy="1960263"/>
            <a:chOff x="0" y="0"/>
            <a:chExt cx="3400336" cy="2394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00298" cy="2394458"/>
            </a:xfrm>
            <a:custGeom>
              <a:avLst/>
              <a:gdLst/>
              <a:ahLst/>
              <a:cxnLst/>
              <a:rect r="r" b="b" t="t" l="l"/>
              <a:pathLst>
                <a:path h="2394458" w="3400298">
                  <a:moveTo>
                    <a:pt x="0" y="399034"/>
                  </a:moveTo>
                  <a:cubicBezTo>
                    <a:pt x="0" y="178689"/>
                    <a:pt x="178689" y="0"/>
                    <a:pt x="399034" y="0"/>
                  </a:cubicBezTo>
                  <a:lnTo>
                    <a:pt x="3001264" y="0"/>
                  </a:lnTo>
                  <a:cubicBezTo>
                    <a:pt x="3221736" y="0"/>
                    <a:pt x="3400298" y="178689"/>
                    <a:pt x="3400298" y="399034"/>
                  </a:cubicBezTo>
                  <a:lnTo>
                    <a:pt x="3400298" y="1995424"/>
                  </a:lnTo>
                  <a:cubicBezTo>
                    <a:pt x="3400298" y="2215896"/>
                    <a:pt x="3221609" y="2394458"/>
                    <a:pt x="3001264" y="2394458"/>
                  </a:cubicBezTo>
                  <a:lnTo>
                    <a:pt x="399034" y="2394458"/>
                  </a:lnTo>
                  <a:cubicBezTo>
                    <a:pt x="178689" y="2394458"/>
                    <a:pt x="0" y="2215769"/>
                    <a:pt x="0" y="1995424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012014" y="4778864"/>
            <a:ext cx="1320403" cy="55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66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魯隱公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87265" y="5452583"/>
            <a:ext cx="2369901" cy="55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66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成為被讓者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798679" y="4346690"/>
            <a:ext cx="2783698" cy="1960263"/>
            <a:chOff x="0" y="0"/>
            <a:chExt cx="3400336" cy="23944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00298" cy="2394458"/>
            </a:xfrm>
            <a:custGeom>
              <a:avLst/>
              <a:gdLst/>
              <a:ahLst/>
              <a:cxnLst/>
              <a:rect r="r" b="b" t="t" l="l"/>
              <a:pathLst>
                <a:path h="2394458" w="3400298">
                  <a:moveTo>
                    <a:pt x="0" y="399034"/>
                  </a:moveTo>
                  <a:cubicBezTo>
                    <a:pt x="0" y="178689"/>
                    <a:pt x="178689" y="0"/>
                    <a:pt x="399034" y="0"/>
                  </a:cubicBezTo>
                  <a:lnTo>
                    <a:pt x="3001264" y="0"/>
                  </a:lnTo>
                  <a:cubicBezTo>
                    <a:pt x="3221736" y="0"/>
                    <a:pt x="3400298" y="178689"/>
                    <a:pt x="3400298" y="399034"/>
                  </a:cubicBezTo>
                  <a:lnTo>
                    <a:pt x="3400298" y="1995424"/>
                  </a:lnTo>
                  <a:cubicBezTo>
                    <a:pt x="3400298" y="2215896"/>
                    <a:pt x="3221609" y="2394458"/>
                    <a:pt x="3001264" y="2394458"/>
                  </a:cubicBezTo>
                  <a:lnTo>
                    <a:pt x="399034" y="2394458"/>
                  </a:lnTo>
                  <a:cubicBezTo>
                    <a:pt x="178689" y="2394458"/>
                    <a:pt x="0" y="2215769"/>
                    <a:pt x="0" y="19954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5750353" y="4778864"/>
            <a:ext cx="880348" cy="55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66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鄭人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97490" y="5452583"/>
            <a:ext cx="2784887" cy="55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466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最後取得處置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545722" y="5326821"/>
            <a:ext cx="734645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4064033" y="5326821"/>
            <a:ext cx="734645" cy="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435132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「不共」與「討」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2606707"/>
            <a:ext cx="7213692" cy="6344869"/>
            <a:chOff x="0" y="0"/>
            <a:chExt cx="9618256" cy="8459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18218" cy="8459712"/>
            </a:xfrm>
            <a:custGeom>
              <a:avLst/>
              <a:gdLst/>
              <a:ahLst/>
              <a:cxnLst/>
              <a:rect r="r" b="b" t="t" l="l"/>
              <a:pathLst>
                <a:path h="8459712" w="9618218">
                  <a:moveTo>
                    <a:pt x="0" y="1409826"/>
                  </a:moveTo>
                  <a:cubicBezTo>
                    <a:pt x="0" y="631445"/>
                    <a:pt x="212852" y="0"/>
                    <a:pt x="475234" y="0"/>
                  </a:cubicBezTo>
                  <a:lnTo>
                    <a:pt x="9142984" y="0"/>
                  </a:lnTo>
                  <a:cubicBezTo>
                    <a:pt x="9405493" y="0"/>
                    <a:pt x="9618218" y="631445"/>
                    <a:pt x="9618218" y="1409826"/>
                  </a:cubicBezTo>
                  <a:lnTo>
                    <a:pt x="9618218" y="7049885"/>
                  </a:lnTo>
                  <a:cubicBezTo>
                    <a:pt x="9618218" y="7828643"/>
                    <a:pt x="9405365" y="8459712"/>
                    <a:pt x="9142984" y="8459712"/>
                  </a:cubicBezTo>
                  <a:lnTo>
                    <a:pt x="475234" y="8459712"/>
                  </a:lnTo>
                  <a:cubicBezTo>
                    <a:pt x="212852" y="8459712"/>
                    <a:pt x="0" y="7828643"/>
                    <a:pt x="0" y="704988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92568" y="5479104"/>
            <a:ext cx="62859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君謂許不共，故從君討之。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0883" y="6536379"/>
            <a:ext cx="482584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87592" y="2606707"/>
            <a:ext cx="8036652" cy="6344869"/>
            <a:chOff x="0" y="0"/>
            <a:chExt cx="10715536" cy="84598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15625" cy="8459914"/>
            </a:xfrm>
            <a:custGeom>
              <a:avLst/>
              <a:gdLst/>
              <a:ahLst/>
              <a:cxnLst/>
              <a:rect r="r" b="b" t="t" l="l"/>
              <a:pathLst>
                <a:path h="8459914" w="10715625">
                  <a:moveTo>
                    <a:pt x="0" y="1410062"/>
                  </a:moveTo>
                  <a:cubicBezTo>
                    <a:pt x="0" y="631212"/>
                    <a:pt x="540258" y="0"/>
                    <a:pt x="1206881" y="0"/>
                  </a:cubicBezTo>
                  <a:lnTo>
                    <a:pt x="9508744" y="0"/>
                  </a:lnTo>
                  <a:cubicBezTo>
                    <a:pt x="10175239" y="0"/>
                    <a:pt x="10715625" y="631212"/>
                    <a:pt x="10715625" y="1410062"/>
                  </a:cubicBezTo>
                  <a:lnTo>
                    <a:pt x="10715625" y="7049867"/>
                  </a:lnTo>
                  <a:cubicBezTo>
                    <a:pt x="10715625" y="7828568"/>
                    <a:pt x="10175367" y="8459914"/>
                    <a:pt x="9508744" y="8459914"/>
                  </a:cubicBezTo>
                  <a:lnTo>
                    <a:pt x="1206881" y="8459914"/>
                  </a:lnTo>
                  <a:cubicBezTo>
                    <a:pt x="540258" y="8459781"/>
                    <a:pt x="0" y="7828568"/>
                    <a:pt x="0" y="7049867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420039" y="3124934"/>
            <a:ext cx="20318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文本層面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0039" y="3834127"/>
            <a:ext cx="7034717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「不共」傳統多解為不供職貢／未盡諸侯義務。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「討」不只是「攻」：語義上預設對方「有罪」，我方是在執行懲罰。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因此魯隱公後面才能說「許既伏其罪矣」：既然罪已受罰，討伐目的即告完成。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42770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魯隱公為什麼拒絕？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98331" y="3544369"/>
            <a:ext cx="9819732" cy="3513444"/>
            <a:chOff x="0" y="0"/>
            <a:chExt cx="13092976" cy="4684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92937" cy="4684547"/>
            </a:xfrm>
            <a:custGeom>
              <a:avLst/>
              <a:gdLst/>
              <a:ahLst/>
              <a:cxnLst/>
              <a:rect r="r" b="b" t="t" l="l"/>
              <a:pathLst>
                <a:path h="4684547" w="13092937">
                  <a:moveTo>
                    <a:pt x="0" y="780708"/>
                  </a:moveTo>
                  <a:cubicBezTo>
                    <a:pt x="0" y="349526"/>
                    <a:pt x="294640" y="0"/>
                    <a:pt x="658114" y="0"/>
                  </a:cubicBezTo>
                  <a:lnTo>
                    <a:pt x="12434824" y="0"/>
                  </a:lnTo>
                  <a:cubicBezTo>
                    <a:pt x="12798298" y="0"/>
                    <a:pt x="13092937" y="349526"/>
                    <a:pt x="13092937" y="780708"/>
                  </a:cubicBezTo>
                  <a:lnTo>
                    <a:pt x="13092937" y="3903839"/>
                  </a:lnTo>
                  <a:cubicBezTo>
                    <a:pt x="13092937" y="4335021"/>
                    <a:pt x="12798298" y="4684547"/>
                    <a:pt x="12434824" y="4684547"/>
                  </a:cubicBezTo>
                  <a:lnTo>
                    <a:pt x="658114" y="4684547"/>
                  </a:lnTo>
                  <a:cubicBezTo>
                    <a:pt x="294640" y="4684547"/>
                    <a:pt x="0" y="4335021"/>
                    <a:pt x="0" y="39038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28615" y="4120508"/>
            <a:ext cx="8959164" cy="130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7"/>
              </a:lnSpc>
            </a:pPr>
            <a:r>
              <a:rPr lang="en-US" sz="409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君謂許不共，故從君討之。許既伏其罪矣，雖君有命，寡人弗敢與聞。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37853" y="6036337"/>
            <a:ext cx="304776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魯隱公對齊侯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85670" y="2762408"/>
            <a:ext cx="7009472" cy="5419199"/>
            <a:chOff x="0" y="0"/>
            <a:chExt cx="7801324" cy="6031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01413" cy="6031488"/>
            </a:xfrm>
            <a:custGeom>
              <a:avLst/>
              <a:gdLst/>
              <a:ahLst/>
              <a:cxnLst/>
              <a:rect r="r" b="b" t="t" l="l"/>
              <a:pathLst>
                <a:path h="6031488" w="7801413">
                  <a:moveTo>
                    <a:pt x="0" y="942617"/>
                  </a:moveTo>
                  <a:cubicBezTo>
                    <a:pt x="0" y="422052"/>
                    <a:pt x="582207" y="0"/>
                    <a:pt x="1300310" y="0"/>
                  </a:cubicBezTo>
                  <a:lnTo>
                    <a:pt x="6501116" y="0"/>
                  </a:lnTo>
                  <a:cubicBezTo>
                    <a:pt x="7219219" y="0"/>
                    <a:pt x="7801413" y="422052"/>
                    <a:pt x="7801413" y="942617"/>
                  </a:cubicBezTo>
                  <a:lnTo>
                    <a:pt x="7801413" y="5088856"/>
                  </a:lnTo>
                  <a:cubicBezTo>
                    <a:pt x="7801413" y="5609422"/>
                    <a:pt x="7219219" y="6031488"/>
                    <a:pt x="6501116" y="6031488"/>
                  </a:cubicBezTo>
                  <a:lnTo>
                    <a:pt x="1300310" y="6031488"/>
                  </a:lnTo>
                  <a:cubicBezTo>
                    <a:pt x="582207" y="6031369"/>
                    <a:pt x="0" y="5609422"/>
                    <a:pt x="0" y="5088856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461111" y="3882047"/>
            <a:ext cx="630012" cy="479355"/>
            <a:chOff x="0" y="0"/>
            <a:chExt cx="840016" cy="639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0105" cy="639191"/>
            </a:xfrm>
            <a:custGeom>
              <a:avLst/>
              <a:gdLst/>
              <a:ahLst/>
              <a:cxnLst/>
              <a:rect r="r" b="b" t="t" l="l"/>
              <a:pathLst>
                <a:path h="639191" w="84010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733552" y="0"/>
                  </a:lnTo>
                  <a:cubicBezTo>
                    <a:pt x="792353" y="0"/>
                    <a:pt x="840105" y="47752"/>
                    <a:pt x="840105" y="106553"/>
                  </a:cubicBezTo>
                  <a:lnTo>
                    <a:pt x="840105" y="532638"/>
                  </a:lnTo>
                  <a:cubicBezTo>
                    <a:pt x="840105" y="591439"/>
                    <a:pt x="792353" y="639191"/>
                    <a:pt x="733552" y="639191"/>
                  </a:cubicBezTo>
                  <a:lnTo>
                    <a:pt x="106553" y="639191"/>
                  </a:lnTo>
                  <a:cubicBezTo>
                    <a:pt x="47752" y="639191"/>
                    <a:pt x="0" y="591439"/>
                    <a:pt x="0" y="532638"/>
                  </a:cubicBezTo>
                  <a:close/>
                </a:path>
              </a:pathLst>
            </a:custGeom>
            <a:solidFill>
              <a:srgbClr val="F7E8B9"/>
            </a:solidFill>
            <a:ln w="13335" cap="sq">
              <a:solidFill>
                <a:srgbClr val="F7E8B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541035" y="3959685"/>
            <a:ext cx="4701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36458" y="3932681"/>
            <a:ext cx="253984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許「不共」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19713" y="3917380"/>
            <a:ext cx="1015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有罪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61111" y="5061413"/>
            <a:ext cx="630012" cy="479355"/>
            <a:chOff x="0" y="0"/>
            <a:chExt cx="840016" cy="639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0105" cy="639191"/>
            </a:xfrm>
            <a:custGeom>
              <a:avLst/>
              <a:gdLst/>
              <a:ahLst/>
              <a:cxnLst/>
              <a:rect r="r" b="b" t="t" l="l"/>
              <a:pathLst>
                <a:path h="639191" w="84010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733552" y="0"/>
                  </a:lnTo>
                  <a:cubicBezTo>
                    <a:pt x="792353" y="0"/>
                    <a:pt x="840105" y="47752"/>
                    <a:pt x="840105" y="106553"/>
                  </a:cubicBezTo>
                  <a:lnTo>
                    <a:pt x="840105" y="532638"/>
                  </a:lnTo>
                  <a:cubicBezTo>
                    <a:pt x="840105" y="591439"/>
                    <a:pt x="792353" y="639191"/>
                    <a:pt x="733552" y="639191"/>
                  </a:cubicBezTo>
                  <a:lnTo>
                    <a:pt x="106553" y="639191"/>
                  </a:lnTo>
                  <a:cubicBezTo>
                    <a:pt x="47752" y="639191"/>
                    <a:pt x="0" y="591439"/>
                    <a:pt x="0" y="532638"/>
                  </a:cubicBezTo>
                  <a:close/>
                </a:path>
              </a:pathLst>
            </a:custGeom>
            <a:solidFill>
              <a:srgbClr val="F7E8B9"/>
            </a:solidFill>
            <a:ln w="13335" cap="sq">
              <a:solidFill>
                <a:srgbClr val="F7E8B9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541035" y="5139585"/>
            <a:ext cx="4701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36458" y="5112038"/>
            <a:ext cx="304776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「從君討之」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65753" y="5091608"/>
            <a:ext cx="203180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參戰理由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61111" y="6241313"/>
            <a:ext cx="630012" cy="479355"/>
            <a:chOff x="0" y="0"/>
            <a:chExt cx="840016" cy="639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0105" cy="639191"/>
            </a:xfrm>
            <a:custGeom>
              <a:avLst/>
              <a:gdLst/>
              <a:ahLst/>
              <a:cxnLst/>
              <a:rect r="r" b="b" t="t" l="l"/>
              <a:pathLst>
                <a:path h="639191" w="840105">
                  <a:moveTo>
                    <a:pt x="0" y="106553"/>
                  </a:moveTo>
                  <a:cubicBezTo>
                    <a:pt x="0" y="47752"/>
                    <a:pt x="47752" y="0"/>
                    <a:pt x="106553" y="0"/>
                  </a:cubicBezTo>
                  <a:lnTo>
                    <a:pt x="733552" y="0"/>
                  </a:lnTo>
                  <a:cubicBezTo>
                    <a:pt x="792353" y="0"/>
                    <a:pt x="840105" y="47752"/>
                    <a:pt x="840105" y="106553"/>
                  </a:cubicBezTo>
                  <a:lnTo>
                    <a:pt x="840105" y="532638"/>
                  </a:lnTo>
                  <a:cubicBezTo>
                    <a:pt x="840105" y="591439"/>
                    <a:pt x="792353" y="639191"/>
                    <a:pt x="733552" y="639191"/>
                  </a:cubicBezTo>
                  <a:lnTo>
                    <a:pt x="106553" y="639191"/>
                  </a:lnTo>
                  <a:cubicBezTo>
                    <a:pt x="47752" y="639191"/>
                    <a:pt x="0" y="591439"/>
                    <a:pt x="0" y="532638"/>
                  </a:cubicBezTo>
                  <a:close/>
                </a:path>
              </a:pathLst>
            </a:custGeom>
            <a:solidFill>
              <a:srgbClr val="F7E8B9"/>
            </a:solidFill>
            <a:ln w="13335" cap="sq">
              <a:solidFill>
                <a:srgbClr val="F7E8B9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541035" y="6318942"/>
            <a:ext cx="4701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36458" y="6291405"/>
            <a:ext cx="304776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「既伏其罪」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65753" y="6361495"/>
            <a:ext cx="2539841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目的已達成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0998" y="1364693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「乃與鄭人」：最後為什麼還是鄭國取得主導？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4142418"/>
            <a:ext cx="5629685" cy="2346796"/>
            <a:chOff x="0" y="0"/>
            <a:chExt cx="7506246" cy="31290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6206" cy="3129013"/>
            </a:xfrm>
            <a:custGeom>
              <a:avLst/>
              <a:gdLst/>
              <a:ahLst/>
              <a:cxnLst/>
              <a:rect r="r" b="b" t="t" l="l"/>
              <a:pathLst>
                <a:path h="3129013" w="7506206">
                  <a:moveTo>
                    <a:pt x="0" y="521449"/>
                  </a:moveTo>
                  <a:cubicBezTo>
                    <a:pt x="0" y="233549"/>
                    <a:pt x="194809" y="0"/>
                    <a:pt x="434953" y="0"/>
                  </a:cubicBezTo>
                  <a:lnTo>
                    <a:pt x="7071253" y="0"/>
                  </a:lnTo>
                  <a:cubicBezTo>
                    <a:pt x="7311531" y="0"/>
                    <a:pt x="7506206" y="233549"/>
                    <a:pt x="7506206" y="521449"/>
                  </a:cubicBezTo>
                  <a:lnTo>
                    <a:pt x="7506206" y="2607564"/>
                  </a:lnTo>
                  <a:cubicBezTo>
                    <a:pt x="7506206" y="2895624"/>
                    <a:pt x="7311397" y="3129013"/>
                    <a:pt x="7071253" y="3129013"/>
                  </a:cubicBezTo>
                  <a:lnTo>
                    <a:pt x="434953" y="3129013"/>
                  </a:lnTo>
                  <a:cubicBezTo>
                    <a:pt x="194809" y="3129013"/>
                    <a:pt x="0" y="2895624"/>
                    <a:pt x="0" y="260756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828800" y="4645566"/>
            <a:ext cx="429713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乃與鄭人。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6373" y="5537106"/>
            <a:ext cx="507956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320048" y="2859069"/>
            <a:ext cx="9408252" cy="6399231"/>
            <a:chOff x="0" y="0"/>
            <a:chExt cx="12544336" cy="85323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44425" cy="8532397"/>
            </a:xfrm>
            <a:custGeom>
              <a:avLst/>
              <a:gdLst/>
              <a:ahLst/>
              <a:cxnLst/>
              <a:rect r="r" b="b" t="t" l="l"/>
              <a:pathLst>
                <a:path h="8532397" w="12544425">
                  <a:moveTo>
                    <a:pt x="0" y="1422144"/>
                  </a:moveTo>
                  <a:cubicBezTo>
                    <a:pt x="0" y="636620"/>
                    <a:pt x="540258" y="0"/>
                    <a:pt x="1206881" y="0"/>
                  </a:cubicBezTo>
                  <a:lnTo>
                    <a:pt x="11337544" y="0"/>
                  </a:lnTo>
                  <a:cubicBezTo>
                    <a:pt x="12004039" y="0"/>
                    <a:pt x="12544425" y="636620"/>
                    <a:pt x="12544425" y="1422144"/>
                  </a:cubicBezTo>
                  <a:lnTo>
                    <a:pt x="12544425" y="7110269"/>
                  </a:lnTo>
                  <a:cubicBezTo>
                    <a:pt x="12544425" y="7895643"/>
                    <a:pt x="12004167" y="8532397"/>
                    <a:pt x="11337544" y="8532397"/>
                  </a:cubicBezTo>
                  <a:lnTo>
                    <a:pt x="1206881" y="8532397"/>
                  </a:lnTo>
                  <a:cubicBezTo>
                    <a:pt x="540258" y="8532263"/>
                    <a:pt x="0" y="7895643"/>
                    <a:pt x="0" y="7110269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880032" y="3389764"/>
            <a:ext cx="82747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康凱淋（2026）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21076" y="4226593"/>
            <a:ext cx="8484150" cy="458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《春秋》經文把魯、齊、鄭並列，沒有直接說誰主導。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《左傳》卻把攻城關鍵人物、旗幟、全軍行動、戰後長篇辭令都集中在鄭。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因此後世李廉、顧懋樊才會形成「首謀在鄭」的判斷。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511559"/>
            <a:ext cx="16367217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地緣政治：為什麼三國之中，鄭最在意許？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27773" y="2050733"/>
            <a:ext cx="5636352" cy="7577738"/>
            <a:chOff x="0" y="0"/>
            <a:chExt cx="7515136" cy="10103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15225" cy="10103739"/>
            </a:xfrm>
            <a:custGeom>
              <a:avLst/>
              <a:gdLst/>
              <a:ahLst/>
              <a:cxnLst/>
              <a:rect r="r" b="b" t="t" l="l"/>
              <a:pathLst>
                <a:path h="10103739" w="7515225">
                  <a:moveTo>
                    <a:pt x="0" y="1605889"/>
                  </a:moveTo>
                  <a:cubicBezTo>
                    <a:pt x="0" y="719011"/>
                    <a:pt x="560832" y="0"/>
                    <a:pt x="1252601" y="0"/>
                  </a:cubicBezTo>
                  <a:lnTo>
                    <a:pt x="6262624" y="0"/>
                  </a:lnTo>
                  <a:cubicBezTo>
                    <a:pt x="6954393" y="0"/>
                    <a:pt x="7515225" y="719011"/>
                    <a:pt x="7515225" y="1605889"/>
                  </a:cubicBezTo>
                  <a:lnTo>
                    <a:pt x="7515225" y="8497875"/>
                  </a:lnTo>
                  <a:cubicBezTo>
                    <a:pt x="7515225" y="9384754"/>
                    <a:pt x="6954393" y="10103739"/>
                    <a:pt x="6262624" y="10103739"/>
                  </a:cubicBezTo>
                  <a:lnTo>
                    <a:pt x="1252601" y="10103739"/>
                  </a:lnTo>
                  <a:cubicBezTo>
                    <a:pt x="560832" y="10103601"/>
                    <a:pt x="0" y="9384754"/>
                    <a:pt x="0" y="8497875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3030048" y="2623499"/>
            <a:ext cx="20318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空間關係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1263" y="3524936"/>
            <a:ext cx="4667574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鄭國核心約在今河南新鄭一帶。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許國約在今河南許昌一帶。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兩國接近，長期衝突成本低、影響直接。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3060" y="7736357"/>
            <a:ext cx="4845777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《左傳事緯》：</a:t>
            </a:r>
          </a:p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「鄭許壤地相接，在所必爭。」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399973" y="2050733"/>
            <a:ext cx="9545412" cy="7577738"/>
            <a:chOff x="0" y="0"/>
            <a:chExt cx="12727216" cy="10103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27305" cy="10103739"/>
            </a:xfrm>
            <a:custGeom>
              <a:avLst/>
              <a:gdLst/>
              <a:ahLst/>
              <a:cxnLst/>
              <a:rect r="r" b="b" t="t" l="l"/>
              <a:pathLst>
                <a:path h="10103739" w="12727305">
                  <a:moveTo>
                    <a:pt x="0" y="1684042"/>
                  </a:moveTo>
                  <a:cubicBezTo>
                    <a:pt x="0" y="754017"/>
                    <a:pt x="588137" y="0"/>
                    <a:pt x="1313561" y="0"/>
                  </a:cubicBezTo>
                  <a:lnTo>
                    <a:pt x="11413744" y="0"/>
                  </a:lnTo>
                  <a:cubicBezTo>
                    <a:pt x="12139168" y="0"/>
                    <a:pt x="12727305" y="754017"/>
                    <a:pt x="12727305" y="1684042"/>
                  </a:cubicBezTo>
                  <a:lnTo>
                    <a:pt x="12727305" y="8419722"/>
                  </a:lnTo>
                  <a:cubicBezTo>
                    <a:pt x="12727305" y="9349747"/>
                    <a:pt x="12139168" y="10103739"/>
                    <a:pt x="11413744" y="10103739"/>
                  </a:cubicBezTo>
                  <a:lnTo>
                    <a:pt x="1313561" y="10103739"/>
                  </a:lnTo>
                  <a:cubicBezTo>
                    <a:pt x="588137" y="10103601"/>
                    <a:pt x="0" y="9349747"/>
                    <a:pt x="0" y="8419722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156778" y="2623499"/>
            <a:ext cx="20318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政治含義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52942" y="4039442"/>
            <a:ext cx="8439474" cy="360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對鄭：邊境安全、交通與戰略縱深，屬直接核心利益。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對魯、齊：距離較遠，長期直接統治成本與收益結構不同。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後文鄭莊公自己說「亦聊以固吾圉也」，直接承認有鞏固邊境的考量。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083" y="1158394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「禮／義」與「利益」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291994"/>
            <a:ext cx="7625172" cy="972912"/>
            <a:chOff x="0" y="0"/>
            <a:chExt cx="10166896" cy="12972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6858" cy="1297178"/>
            </a:xfrm>
            <a:custGeom>
              <a:avLst/>
              <a:gdLst/>
              <a:ahLst/>
              <a:cxnLst/>
              <a:rect r="r" b="b" t="t" l="l"/>
              <a:pathLst>
                <a:path h="1297178" w="10166858">
                  <a:moveTo>
                    <a:pt x="0" y="216154"/>
                  </a:moveTo>
                  <a:cubicBezTo>
                    <a:pt x="0" y="96774"/>
                    <a:pt x="96774" y="0"/>
                    <a:pt x="216154" y="0"/>
                  </a:cubicBezTo>
                  <a:lnTo>
                    <a:pt x="9950704" y="0"/>
                  </a:lnTo>
                  <a:cubicBezTo>
                    <a:pt x="10070085" y="0"/>
                    <a:pt x="10166858" y="96774"/>
                    <a:pt x="10166858" y="216154"/>
                  </a:cubicBezTo>
                  <a:lnTo>
                    <a:pt x="10166858" y="1081024"/>
                  </a:lnTo>
                  <a:cubicBezTo>
                    <a:pt x="10166858" y="1200404"/>
                    <a:pt x="10070085" y="1297178"/>
                    <a:pt x="9950704" y="1297178"/>
                  </a:cubicBezTo>
                  <a:lnTo>
                    <a:pt x="216154" y="1297178"/>
                  </a:lnTo>
                  <a:cubicBezTo>
                    <a:pt x="96774" y="1297178"/>
                    <a:pt x="0" y="1200404"/>
                    <a:pt x="0" y="1081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3317405" y="3590440"/>
            <a:ext cx="304776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禮與公共秩序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26880" y="3291994"/>
            <a:ext cx="7625172" cy="972912"/>
            <a:chOff x="0" y="0"/>
            <a:chExt cx="10166896" cy="1297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6858" cy="1297178"/>
            </a:xfrm>
            <a:custGeom>
              <a:avLst/>
              <a:gdLst/>
              <a:ahLst/>
              <a:cxnLst/>
              <a:rect r="r" b="b" t="t" l="l"/>
              <a:pathLst>
                <a:path h="1297178" w="10166858">
                  <a:moveTo>
                    <a:pt x="0" y="216154"/>
                  </a:moveTo>
                  <a:cubicBezTo>
                    <a:pt x="0" y="96774"/>
                    <a:pt x="96774" y="0"/>
                    <a:pt x="216154" y="0"/>
                  </a:cubicBezTo>
                  <a:lnTo>
                    <a:pt x="9950704" y="0"/>
                  </a:lnTo>
                  <a:cubicBezTo>
                    <a:pt x="10070085" y="0"/>
                    <a:pt x="10166858" y="96774"/>
                    <a:pt x="10166858" y="216154"/>
                  </a:cubicBezTo>
                  <a:lnTo>
                    <a:pt x="10166858" y="1081024"/>
                  </a:lnTo>
                  <a:cubicBezTo>
                    <a:pt x="10166858" y="1200404"/>
                    <a:pt x="10070085" y="1297178"/>
                    <a:pt x="9950704" y="1297178"/>
                  </a:cubicBezTo>
                  <a:lnTo>
                    <a:pt x="216154" y="1297178"/>
                  </a:lnTo>
                  <a:cubicBezTo>
                    <a:pt x="96774" y="1297178"/>
                    <a:pt x="0" y="1200404"/>
                    <a:pt x="0" y="1081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361625" y="3590440"/>
            <a:ext cx="355568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私欲與現實利益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7280" y="4457854"/>
            <a:ext cx="7488012" cy="863298"/>
            <a:chOff x="0" y="0"/>
            <a:chExt cx="9984016" cy="1151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26880" y="4457854"/>
            <a:ext cx="7488012" cy="863298"/>
            <a:chOff x="0" y="0"/>
            <a:chExt cx="9984016" cy="1151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55408" y="4674223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授兵於大宮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5008" y="4674223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子都因私怨殺同袍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7280" y="5582670"/>
            <a:ext cx="7488012" cy="863298"/>
            <a:chOff x="0" y="0"/>
            <a:chExt cx="9984016" cy="1151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26880" y="5582670"/>
            <a:ext cx="7488012" cy="863298"/>
            <a:chOff x="0" y="0"/>
            <a:chExt cx="9984016" cy="1151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55408" y="5799040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諸侯以「討罪」出兵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85008" y="5799040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三國實際攻破弱國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7280" y="6707497"/>
            <a:ext cx="7488012" cy="863298"/>
            <a:chOff x="0" y="0"/>
            <a:chExt cx="9984016" cy="1151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26880" y="6707497"/>
            <a:ext cx="7488012" cy="863298"/>
            <a:chOff x="0" y="0"/>
            <a:chExt cx="9984016" cy="1151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55408" y="6923324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魯隱公拒絕許國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85008" y="6923324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戰後仍須處理勢力分配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7280" y="7831770"/>
            <a:ext cx="7488012" cy="863298"/>
            <a:chOff x="0" y="0"/>
            <a:chExt cx="9984016" cy="1151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326880" y="7831770"/>
            <a:ext cx="7488012" cy="863298"/>
            <a:chOff x="0" y="0"/>
            <a:chExt cx="9984016" cy="1151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84105" cy="1151128"/>
            </a:xfrm>
            <a:custGeom>
              <a:avLst/>
              <a:gdLst/>
              <a:ahLst/>
              <a:cxnLst/>
              <a:rect r="r" b="b" t="t" l="l"/>
              <a:pathLst>
                <a:path h="1151128" w="9984105">
                  <a:moveTo>
                    <a:pt x="0" y="191897"/>
                  </a:moveTo>
                  <a:cubicBezTo>
                    <a:pt x="0" y="85852"/>
                    <a:pt x="85852" y="0"/>
                    <a:pt x="191897" y="0"/>
                  </a:cubicBezTo>
                  <a:lnTo>
                    <a:pt x="9792208" y="0"/>
                  </a:lnTo>
                  <a:cubicBezTo>
                    <a:pt x="9898126" y="0"/>
                    <a:pt x="9984105" y="85852"/>
                    <a:pt x="9984105" y="191897"/>
                  </a:cubicBezTo>
                  <a:lnTo>
                    <a:pt x="9984105" y="959231"/>
                  </a:lnTo>
                  <a:cubicBezTo>
                    <a:pt x="9984105" y="1065149"/>
                    <a:pt x="9898252" y="1151128"/>
                    <a:pt x="9792208" y="1151128"/>
                  </a:cubicBezTo>
                  <a:lnTo>
                    <a:pt x="191897" y="1151128"/>
                  </a:lnTo>
                  <a:cubicBezTo>
                    <a:pt x="85852" y="1151001"/>
                    <a:pt x="0" y="1065149"/>
                    <a:pt x="0" y="95923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355408" y="8048140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君旗象徵國家秩序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85008" y="8048140"/>
            <a:ext cx="697175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個人爭強鬥勝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511559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同一事件，兩套完全不同的讀法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119312"/>
            <a:ext cx="7625172" cy="5910672"/>
            <a:chOff x="0" y="0"/>
            <a:chExt cx="10166896" cy="7880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6985" cy="7880985"/>
            </a:xfrm>
            <a:custGeom>
              <a:avLst/>
              <a:gdLst/>
              <a:ahLst/>
              <a:cxnLst/>
              <a:rect r="r" b="b" t="t" l="l"/>
              <a:pathLst>
                <a:path h="7880985" w="10166985">
                  <a:moveTo>
                    <a:pt x="0" y="1313561"/>
                  </a:moveTo>
                  <a:cubicBezTo>
                    <a:pt x="0" y="588137"/>
                    <a:pt x="588137" y="0"/>
                    <a:pt x="1313561" y="0"/>
                  </a:cubicBezTo>
                  <a:lnTo>
                    <a:pt x="8853424" y="0"/>
                  </a:lnTo>
                  <a:cubicBezTo>
                    <a:pt x="9578848" y="0"/>
                    <a:pt x="10166985" y="588137"/>
                    <a:pt x="10166985" y="1313561"/>
                  </a:cubicBezTo>
                  <a:lnTo>
                    <a:pt x="10166985" y="6567424"/>
                  </a:lnTo>
                  <a:cubicBezTo>
                    <a:pt x="10166985" y="7292848"/>
                    <a:pt x="9578848" y="7880985"/>
                    <a:pt x="8853424" y="7880985"/>
                  </a:cubicBezTo>
                  <a:lnTo>
                    <a:pt x="1313561" y="7880985"/>
                  </a:lnTo>
                  <a:cubicBezTo>
                    <a:pt x="588137" y="7880858"/>
                    <a:pt x="0" y="7292848"/>
                    <a:pt x="0" y="65674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3314488" y="2669057"/>
            <a:ext cx="331458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《左傳》的內在邏輯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7380" y="3629177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許有罪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84719" y="4068194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647A73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97380" y="4397054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可以「討」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84719" y="4836071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647A73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97380" y="5165474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許服罪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84719" y="5603958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647A73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7380" y="5933351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不必徹底滅國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84719" y="6372377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647A73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97380" y="6701238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鄭莊公「有禮」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57372" y="2119312"/>
            <a:ext cx="7625172" cy="5910672"/>
            <a:chOff x="0" y="0"/>
            <a:chExt cx="10166896" cy="7880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6985" cy="7880985"/>
            </a:xfrm>
            <a:custGeom>
              <a:avLst/>
              <a:gdLst/>
              <a:ahLst/>
              <a:cxnLst/>
              <a:rect r="r" b="b" t="t" l="l"/>
              <a:pathLst>
                <a:path h="7880985" w="10166985">
                  <a:moveTo>
                    <a:pt x="0" y="1313561"/>
                  </a:moveTo>
                  <a:cubicBezTo>
                    <a:pt x="0" y="588137"/>
                    <a:pt x="588137" y="0"/>
                    <a:pt x="1313561" y="0"/>
                  </a:cubicBezTo>
                  <a:lnTo>
                    <a:pt x="8853424" y="0"/>
                  </a:lnTo>
                  <a:cubicBezTo>
                    <a:pt x="9578848" y="0"/>
                    <a:pt x="10166985" y="588137"/>
                    <a:pt x="10166985" y="1313561"/>
                  </a:cubicBezTo>
                  <a:lnTo>
                    <a:pt x="10166985" y="6567424"/>
                  </a:lnTo>
                  <a:cubicBezTo>
                    <a:pt x="10166985" y="7292848"/>
                    <a:pt x="9578848" y="7880985"/>
                    <a:pt x="8853424" y="7880985"/>
                  </a:cubicBezTo>
                  <a:lnTo>
                    <a:pt x="1313561" y="7880985"/>
                  </a:lnTo>
                  <a:cubicBezTo>
                    <a:pt x="588137" y="7880858"/>
                    <a:pt x="0" y="7292848"/>
                    <a:pt x="0" y="65674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796858" y="2669057"/>
            <a:ext cx="294620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後世批判者的邏輯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95560" y="3629177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許之罪是否成立？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82899" y="4068194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95560" y="4397054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鄭莊公並非天子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82899" y="4836071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95560" y="5165474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無王命而擅討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82899" y="5603958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95560" y="5933351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戰後仍控制許地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82899" y="6372377"/>
            <a:ext cx="36837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↓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95560" y="6701238"/>
            <a:ext cx="6080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「有禮」可能是政治包裝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5950" y="8272146"/>
            <a:ext cx="8088414" cy="98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芫荽"/>
                <a:ea typeface="芫荽"/>
                <a:cs typeface="芫荽"/>
                <a:sym typeface="芫荽"/>
              </a:rPr>
              <a:t>許無刑而伐之，服而舍之，度德而處之，量力而行之，相時而動，無累後人，可謂知禮矣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482984"/>
            <a:ext cx="16367217" cy="69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但後世有人不相信這套「討罪—讓許—有禮」敘事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119312"/>
            <a:ext cx="5224872" cy="7138988"/>
            <a:chOff x="0" y="0"/>
            <a:chExt cx="6966496" cy="9518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66585" cy="9518738"/>
            </a:xfrm>
            <a:custGeom>
              <a:avLst/>
              <a:gdLst/>
              <a:ahLst/>
              <a:cxnLst/>
              <a:rect r="r" b="b" t="t" l="l"/>
              <a:pathLst>
                <a:path h="9518738" w="6966585">
                  <a:moveTo>
                    <a:pt x="0" y="1418929"/>
                  </a:moveTo>
                  <a:cubicBezTo>
                    <a:pt x="0" y="635205"/>
                    <a:pt x="519811" y="0"/>
                    <a:pt x="1161161" y="0"/>
                  </a:cubicBezTo>
                  <a:lnTo>
                    <a:pt x="5805424" y="0"/>
                  </a:lnTo>
                  <a:cubicBezTo>
                    <a:pt x="6446647" y="0"/>
                    <a:pt x="6966585" y="635205"/>
                    <a:pt x="6966585" y="1418929"/>
                  </a:cubicBezTo>
                  <a:lnTo>
                    <a:pt x="6966585" y="8099830"/>
                  </a:lnTo>
                  <a:cubicBezTo>
                    <a:pt x="6966585" y="8883398"/>
                    <a:pt x="6446774" y="9518738"/>
                    <a:pt x="5805424" y="9518738"/>
                  </a:cubicBezTo>
                  <a:lnTo>
                    <a:pt x="1161161" y="9518738"/>
                  </a:lnTo>
                  <a:cubicBezTo>
                    <a:pt x="519811" y="9518603"/>
                    <a:pt x="0" y="8883398"/>
                    <a:pt x="0" y="8099830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993787" y="2650007"/>
            <a:ext cx="355568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《左傳》的閱讀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0220" y="3665039"/>
            <a:ext cx="4022817" cy="52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許有罪，所以伐之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許服罪，所以不必無限追擊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鄭莊公後來不完全滅許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篇末稱「有禮／知禮」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49476" y="2119312"/>
            <a:ext cx="5224872" cy="7138988"/>
            <a:chOff x="0" y="0"/>
            <a:chExt cx="6966496" cy="9518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66585" cy="9518738"/>
            </a:xfrm>
            <a:custGeom>
              <a:avLst/>
              <a:gdLst/>
              <a:ahLst/>
              <a:cxnLst/>
              <a:rect r="r" b="b" t="t" l="l"/>
              <a:pathLst>
                <a:path h="9518738" w="6966585">
                  <a:moveTo>
                    <a:pt x="0" y="1418929"/>
                  </a:moveTo>
                  <a:cubicBezTo>
                    <a:pt x="0" y="635205"/>
                    <a:pt x="519811" y="0"/>
                    <a:pt x="1161161" y="0"/>
                  </a:cubicBezTo>
                  <a:lnTo>
                    <a:pt x="5805424" y="0"/>
                  </a:lnTo>
                  <a:cubicBezTo>
                    <a:pt x="6446647" y="0"/>
                    <a:pt x="6966585" y="635205"/>
                    <a:pt x="6966585" y="1418929"/>
                  </a:cubicBezTo>
                  <a:lnTo>
                    <a:pt x="6966585" y="8099830"/>
                  </a:lnTo>
                  <a:cubicBezTo>
                    <a:pt x="6966585" y="8883398"/>
                    <a:pt x="6446774" y="9518738"/>
                    <a:pt x="5805424" y="9518738"/>
                  </a:cubicBezTo>
                  <a:lnTo>
                    <a:pt x="1161161" y="9518738"/>
                  </a:lnTo>
                  <a:cubicBezTo>
                    <a:pt x="519811" y="9518603"/>
                    <a:pt x="0" y="8883398"/>
                    <a:pt x="0" y="8099830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146011" y="2650007"/>
            <a:ext cx="2031802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經學批判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11624" y="3665039"/>
            <a:ext cx="4870274" cy="52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趙匡：諸侯無王命而入人之國，已屬越權。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劉敞等：質疑《左傳》為鄭莊公建立的正當性。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重點：誰有資格「討」另一諸侯？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53789" y="2119312"/>
            <a:ext cx="5224872" cy="7138988"/>
            <a:chOff x="0" y="0"/>
            <a:chExt cx="6966496" cy="9518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66585" cy="9518738"/>
            </a:xfrm>
            <a:custGeom>
              <a:avLst/>
              <a:gdLst/>
              <a:ahLst/>
              <a:cxnLst/>
              <a:rect r="r" b="b" t="t" l="l"/>
              <a:pathLst>
                <a:path h="9518738" w="6966585">
                  <a:moveTo>
                    <a:pt x="0" y="1418929"/>
                  </a:moveTo>
                  <a:cubicBezTo>
                    <a:pt x="0" y="635205"/>
                    <a:pt x="519811" y="0"/>
                    <a:pt x="1161161" y="0"/>
                  </a:cubicBezTo>
                  <a:lnTo>
                    <a:pt x="5805424" y="0"/>
                  </a:lnTo>
                  <a:cubicBezTo>
                    <a:pt x="6446647" y="0"/>
                    <a:pt x="6966585" y="635205"/>
                    <a:pt x="6966585" y="1418929"/>
                  </a:cubicBezTo>
                  <a:lnTo>
                    <a:pt x="6966585" y="8099830"/>
                  </a:lnTo>
                  <a:cubicBezTo>
                    <a:pt x="6966585" y="8883398"/>
                    <a:pt x="6446774" y="9518738"/>
                    <a:pt x="5805424" y="9518738"/>
                  </a:cubicBezTo>
                  <a:lnTo>
                    <a:pt x="1161161" y="9518738"/>
                  </a:lnTo>
                  <a:cubicBezTo>
                    <a:pt x="519811" y="9518603"/>
                    <a:pt x="0" y="8883398"/>
                    <a:pt x="0" y="8099830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280404" y="2650007"/>
            <a:ext cx="457164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古文評點的權謀讀法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60878" y="3665039"/>
            <a:ext cx="4610695" cy="52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《古文觀止》評鄭莊「眈眈虎視」許地。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徐廷垣更質問：若真不利許地，何不返許君復位？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因此「讓」也可被讀成政治表演。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9193" y="715180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康凱淋（2026）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119312"/>
            <a:ext cx="7625172" cy="5362032"/>
            <a:chOff x="0" y="0"/>
            <a:chExt cx="10166896" cy="71493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6985" cy="7149465"/>
            </a:xfrm>
            <a:custGeom>
              <a:avLst/>
              <a:gdLst/>
              <a:ahLst/>
              <a:cxnLst/>
              <a:rect r="r" b="b" t="t" l="l"/>
              <a:pathLst>
                <a:path h="7149465" w="10166985">
                  <a:moveTo>
                    <a:pt x="0" y="1191641"/>
                  </a:moveTo>
                  <a:cubicBezTo>
                    <a:pt x="0" y="533527"/>
                    <a:pt x="533527" y="0"/>
                    <a:pt x="1191641" y="0"/>
                  </a:cubicBezTo>
                  <a:lnTo>
                    <a:pt x="8975344" y="0"/>
                  </a:lnTo>
                  <a:cubicBezTo>
                    <a:pt x="9633458" y="0"/>
                    <a:pt x="10166985" y="533527"/>
                    <a:pt x="10166985" y="1191641"/>
                  </a:cubicBezTo>
                  <a:lnTo>
                    <a:pt x="10166985" y="5957824"/>
                  </a:lnTo>
                  <a:cubicBezTo>
                    <a:pt x="10166985" y="6615938"/>
                    <a:pt x="9633458" y="7149465"/>
                    <a:pt x="8975344" y="7149465"/>
                  </a:cubicBezTo>
                  <a:lnTo>
                    <a:pt x="1191641" y="7149465"/>
                  </a:lnTo>
                  <a:cubicBezTo>
                    <a:pt x="533527" y="7149338"/>
                    <a:pt x="0" y="6615938"/>
                    <a:pt x="0" y="5957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91640" y="2691041"/>
            <a:ext cx="65602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敘事解經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4540" y="3665039"/>
            <a:ext cx="5737317" cy="32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謀伐許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授兵、爭車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潁考叔先登、子都射之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瑕叔盈接旗、鄭師畢登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讓許、乃與鄭人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57372" y="2119312"/>
            <a:ext cx="7625172" cy="6209997"/>
            <a:chOff x="0" y="0"/>
            <a:chExt cx="10166896" cy="82799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6985" cy="8280085"/>
            </a:xfrm>
            <a:custGeom>
              <a:avLst/>
              <a:gdLst/>
              <a:ahLst/>
              <a:cxnLst/>
              <a:rect r="r" b="b" t="t" l="l"/>
              <a:pathLst>
                <a:path h="8280085" w="10166985">
                  <a:moveTo>
                    <a:pt x="0" y="1380090"/>
                  </a:moveTo>
                  <a:cubicBezTo>
                    <a:pt x="0" y="617900"/>
                    <a:pt x="533527" y="0"/>
                    <a:pt x="1191641" y="0"/>
                  </a:cubicBezTo>
                  <a:lnTo>
                    <a:pt x="8975344" y="0"/>
                  </a:lnTo>
                  <a:cubicBezTo>
                    <a:pt x="9633458" y="0"/>
                    <a:pt x="10166985" y="617900"/>
                    <a:pt x="10166985" y="1380090"/>
                  </a:cubicBezTo>
                  <a:lnTo>
                    <a:pt x="10166985" y="6900008"/>
                  </a:lnTo>
                  <a:cubicBezTo>
                    <a:pt x="10166985" y="7662198"/>
                    <a:pt x="9633458" y="8280085"/>
                    <a:pt x="8975344" y="8280085"/>
                  </a:cubicBezTo>
                  <a:lnTo>
                    <a:pt x="1191641" y="8280085"/>
                  </a:lnTo>
                  <a:cubicBezTo>
                    <a:pt x="533527" y="8279952"/>
                    <a:pt x="0" y="7662198"/>
                    <a:pt x="0" y="6900008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89820" y="2691041"/>
            <a:ext cx="65602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論說經義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32720" y="3665039"/>
            <a:ext cx="5737317" cy="393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篇末「君子曰」評鄭莊公有禮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「禮」被界定為經國家、定社稷、利後嗣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後世評點再以篇章取捨與前後照應重新解釋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6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6854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2807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四位國君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BE5E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08760" y="4896715"/>
            <a:ext cx="14949897" cy="2125440"/>
            <a:chOff x="0" y="0"/>
            <a:chExt cx="19933196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33200" cy="2833924"/>
            </a:xfrm>
            <a:custGeom>
              <a:avLst/>
              <a:gdLst/>
              <a:ahLst/>
              <a:cxnLst/>
              <a:rect r="r" b="b" t="t" l="l"/>
              <a:pathLst>
                <a:path h="2833924" w="19933200">
                  <a:moveTo>
                    <a:pt x="0" y="0"/>
                  </a:moveTo>
                  <a:lnTo>
                    <a:pt x="19933200" y="0"/>
                  </a:lnTo>
                  <a:lnTo>
                    <a:pt x="19933200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53" r="0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933196" cy="2843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關鍵人物：鄭莊公｜魯隱公｜齊侯｜許莊公</a:t>
              </a:r>
            </a:p>
            <a:p>
              <a:pPr algn="l">
                <a:lnSpc>
                  <a:spcPts val="4800"/>
                </a:lnSpc>
              </a:pP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6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68547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182807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四位國君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BE5E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08760" y="4896715"/>
            <a:ext cx="14949897" cy="2125440"/>
            <a:chOff x="0" y="0"/>
            <a:chExt cx="19933196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33200" cy="2833924"/>
            </a:xfrm>
            <a:custGeom>
              <a:avLst/>
              <a:gdLst/>
              <a:ahLst/>
              <a:cxnLst/>
              <a:rect r="r" b="b" t="t" l="l"/>
              <a:pathLst>
                <a:path h="2833924" w="19933200">
                  <a:moveTo>
                    <a:pt x="0" y="0"/>
                  </a:moveTo>
                  <a:lnTo>
                    <a:pt x="19933200" y="0"/>
                  </a:lnTo>
                  <a:lnTo>
                    <a:pt x="19933200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053" r="0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933196" cy="2843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關鍵人物：鄭莊公｜魯隱公｜齊侯｜許莊公</a:t>
              </a:r>
            </a:p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關鍵互動：謀伐 → 合兵 → 入許 → 奔衛 → 讓許 → 拒許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89851"/>
            <a:ext cx="1636721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關係圖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24922" y="2504280"/>
            <a:ext cx="3239849" cy="1396692"/>
            <a:chOff x="0" y="0"/>
            <a:chExt cx="3857536" cy="1662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57498" cy="1662811"/>
            </a:xfrm>
            <a:custGeom>
              <a:avLst/>
              <a:gdLst/>
              <a:ahLst/>
              <a:cxnLst/>
              <a:rect r="r" b="b" t="t" l="l"/>
              <a:pathLst>
                <a:path h="1662811" w="3857498">
                  <a:moveTo>
                    <a:pt x="0" y="277114"/>
                  </a:moveTo>
                  <a:cubicBezTo>
                    <a:pt x="0" y="124079"/>
                    <a:pt x="124079" y="0"/>
                    <a:pt x="277114" y="0"/>
                  </a:cubicBezTo>
                  <a:lnTo>
                    <a:pt x="3580384" y="0"/>
                  </a:lnTo>
                  <a:cubicBezTo>
                    <a:pt x="3733419" y="0"/>
                    <a:pt x="3857498" y="124079"/>
                    <a:pt x="3857498" y="277114"/>
                  </a:cubicBezTo>
                  <a:lnTo>
                    <a:pt x="3857498" y="1385697"/>
                  </a:lnTo>
                  <a:cubicBezTo>
                    <a:pt x="3857498" y="1538732"/>
                    <a:pt x="3733419" y="1662811"/>
                    <a:pt x="3580384" y="1662811"/>
                  </a:cubicBezTo>
                  <a:lnTo>
                    <a:pt x="277114" y="1662811"/>
                  </a:lnTo>
                  <a:cubicBezTo>
                    <a:pt x="124079" y="1662938"/>
                    <a:pt x="0" y="1538859"/>
                    <a:pt x="0" y="1385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68547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682638" y="2624622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28946" y="3202626"/>
            <a:ext cx="20318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伐許主導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91994" y="4533051"/>
            <a:ext cx="4063603" cy="1469659"/>
            <a:chOff x="0" y="0"/>
            <a:chExt cx="3857536" cy="13951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57498" cy="1394994"/>
            </a:xfrm>
            <a:custGeom>
              <a:avLst/>
              <a:gdLst/>
              <a:ahLst/>
              <a:cxnLst/>
              <a:rect r="r" b="b" t="t" l="l"/>
              <a:pathLst>
                <a:path h="1394994" w="3857498">
                  <a:moveTo>
                    <a:pt x="0" y="232481"/>
                  </a:moveTo>
                  <a:cubicBezTo>
                    <a:pt x="0" y="104094"/>
                    <a:pt x="124079" y="0"/>
                    <a:pt x="277114" y="0"/>
                  </a:cubicBezTo>
                  <a:lnTo>
                    <a:pt x="3580384" y="0"/>
                  </a:lnTo>
                  <a:cubicBezTo>
                    <a:pt x="3733419" y="0"/>
                    <a:pt x="3857498" y="104094"/>
                    <a:pt x="3857498" y="232481"/>
                  </a:cubicBezTo>
                  <a:lnTo>
                    <a:pt x="3857498" y="1162512"/>
                  </a:lnTo>
                  <a:cubicBezTo>
                    <a:pt x="3857498" y="1290899"/>
                    <a:pt x="3733419" y="1394994"/>
                    <a:pt x="3580384" y="1394994"/>
                  </a:cubicBezTo>
                  <a:lnTo>
                    <a:pt x="277114" y="1394994"/>
                  </a:lnTo>
                  <a:cubicBezTo>
                    <a:pt x="124079" y="1395100"/>
                    <a:pt x="0" y="1291006"/>
                    <a:pt x="0" y="116261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647A73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761855" y="4647387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魯隱公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1994" y="5247825"/>
            <a:ext cx="406360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共同謀伐／後拒許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633602" y="4647387"/>
            <a:ext cx="3143887" cy="1355323"/>
            <a:chOff x="0" y="0"/>
            <a:chExt cx="3857536" cy="1662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57498" cy="1662811"/>
            </a:xfrm>
            <a:custGeom>
              <a:avLst/>
              <a:gdLst/>
              <a:ahLst/>
              <a:cxnLst/>
              <a:rect r="r" b="b" t="t" l="l"/>
              <a:pathLst>
                <a:path h="1662811" w="3857498">
                  <a:moveTo>
                    <a:pt x="0" y="277114"/>
                  </a:moveTo>
                  <a:cubicBezTo>
                    <a:pt x="0" y="124079"/>
                    <a:pt x="124079" y="0"/>
                    <a:pt x="277114" y="0"/>
                  </a:cubicBezTo>
                  <a:lnTo>
                    <a:pt x="3580384" y="0"/>
                  </a:lnTo>
                  <a:cubicBezTo>
                    <a:pt x="3733419" y="0"/>
                    <a:pt x="3857498" y="124079"/>
                    <a:pt x="3857498" y="277114"/>
                  </a:cubicBezTo>
                  <a:lnTo>
                    <a:pt x="3857498" y="1385697"/>
                  </a:lnTo>
                  <a:cubicBezTo>
                    <a:pt x="3857498" y="1538732"/>
                    <a:pt x="3733419" y="1662811"/>
                    <a:pt x="3580384" y="1662811"/>
                  </a:cubicBezTo>
                  <a:lnTo>
                    <a:pt x="277114" y="1662811"/>
                  </a:lnTo>
                  <a:cubicBezTo>
                    <a:pt x="124079" y="1662938"/>
                    <a:pt x="0" y="1538859"/>
                    <a:pt x="0" y="1385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4F6979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858269" y="4618390"/>
            <a:ext cx="10159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齊侯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82370" y="5247825"/>
            <a:ext cx="253984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聯軍／讓許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187628" y="7492763"/>
            <a:ext cx="2627902" cy="1329773"/>
            <a:chOff x="0" y="0"/>
            <a:chExt cx="3286379" cy="16629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86346" cy="1662811"/>
            </a:xfrm>
            <a:custGeom>
              <a:avLst/>
              <a:gdLst/>
              <a:ahLst/>
              <a:cxnLst/>
              <a:rect r="r" b="b" t="t" l="l"/>
              <a:pathLst>
                <a:path h="1662811" w="3286346">
                  <a:moveTo>
                    <a:pt x="0" y="277114"/>
                  </a:moveTo>
                  <a:cubicBezTo>
                    <a:pt x="0" y="124079"/>
                    <a:pt x="105708" y="0"/>
                    <a:pt x="236084" y="0"/>
                  </a:cubicBezTo>
                  <a:lnTo>
                    <a:pt x="3050262" y="0"/>
                  </a:lnTo>
                  <a:cubicBezTo>
                    <a:pt x="3180639" y="0"/>
                    <a:pt x="3286346" y="124079"/>
                    <a:pt x="3286346" y="277114"/>
                  </a:cubicBezTo>
                  <a:lnTo>
                    <a:pt x="3286346" y="1385697"/>
                  </a:lnTo>
                  <a:cubicBezTo>
                    <a:pt x="3286346" y="1538732"/>
                    <a:pt x="3180639" y="1662811"/>
                    <a:pt x="3050262" y="1662811"/>
                  </a:cubicBezTo>
                  <a:lnTo>
                    <a:pt x="236084" y="1662811"/>
                  </a:lnTo>
                  <a:cubicBezTo>
                    <a:pt x="105708" y="1662938"/>
                    <a:pt x="0" y="1538859"/>
                    <a:pt x="0" y="1385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A14D3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738347" y="7567779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許莊公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84386" y="8168217"/>
            <a:ext cx="20318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戰敗奔衛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4545003" y="3202626"/>
            <a:ext cx="3279919" cy="1509844"/>
          </a:xfrm>
          <a:prstGeom prst="line">
            <a:avLst/>
          </a:prstGeom>
          <a:ln cap="rnd" w="19050">
            <a:solidFill>
              <a:srgbClr val="647A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5552832" y="4357159"/>
            <a:ext cx="232485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盟友／會商</a:t>
            </a:r>
          </a:p>
        </p:txBody>
      </p:sp>
      <p:sp>
        <p:nvSpPr>
          <p:cNvPr name="AutoShape 23" id="23"/>
          <p:cNvSpPr/>
          <p:nvPr/>
        </p:nvSpPr>
        <p:spPr>
          <a:xfrm flipH="true" flipV="true">
            <a:off x="11064739" y="3202626"/>
            <a:ext cx="3405238" cy="1818048"/>
          </a:xfrm>
          <a:prstGeom prst="line">
            <a:avLst/>
          </a:prstGeom>
          <a:ln cap="rnd" w="19050">
            <a:solidFill>
              <a:srgbClr val="4F69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1973128" y="4492940"/>
            <a:ext cx="151363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聯軍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444846" y="3900833"/>
            <a:ext cx="56733" cy="3591930"/>
          </a:xfrm>
          <a:prstGeom prst="line">
            <a:avLst/>
          </a:prstGeom>
          <a:ln cap="rnd" w="19050">
            <a:solidFill>
              <a:srgbClr val="A14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9960300" y="5377485"/>
            <a:ext cx="11080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攻許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6217" y="2798012"/>
            <a:ext cx="8379552" cy="6814738"/>
            <a:chOff x="0" y="0"/>
            <a:chExt cx="11172736" cy="9086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72698" cy="9086196"/>
            </a:xfrm>
            <a:custGeom>
              <a:avLst/>
              <a:gdLst/>
              <a:ahLst/>
              <a:cxnLst/>
              <a:rect r="r" b="b" t="t" l="l"/>
              <a:pathLst>
                <a:path h="9086196" w="11172698">
                  <a:moveTo>
                    <a:pt x="0" y="1514231"/>
                  </a:moveTo>
                  <a:cubicBezTo>
                    <a:pt x="0" y="678207"/>
                    <a:pt x="212852" y="0"/>
                    <a:pt x="475234" y="0"/>
                  </a:cubicBezTo>
                  <a:lnTo>
                    <a:pt x="10697464" y="0"/>
                  </a:lnTo>
                  <a:cubicBezTo>
                    <a:pt x="10959973" y="0"/>
                    <a:pt x="11172698" y="678207"/>
                    <a:pt x="11172698" y="1514231"/>
                  </a:cubicBezTo>
                  <a:lnTo>
                    <a:pt x="11172698" y="7571965"/>
                  </a:lnTo>
                  <a:cubicBezTo>
                    <a:pt x="11172698" y="8408394"/>
                    <a:pt x="10959846" y="9086196"/>
                    <a:pt x="10697464" y="9086196"/>
                  </a:cubicBezTo>
                  <a:lnTo>
                    <a:pt x="475234" y="9086196"/>
                  </a:lnTo>
                  <a:cubicBezTo>
                    <a:pt x="212852" y="9086196"/>
                    <a:pt x="0" y="8408394"/>
                    <a:pt x="0" y="7571965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784" y="5143500"/>
            <a:ext cx="7680417" cy="1972437"/>
            <a:chOff x="0" y="0"/>
            <a:chExt cx="10240556" cy="2629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0560" cy="2629915"/>
            </a:xfrm>
            <a:custGeom>
              <a:avLst/>
              <a:gdLst/>
              <a:ahLst/>
              <a:cxnLst/>
              <a:rect r="r" b="b" t="t" l="l"/>
              <a:pathLst>
                <a:path h="2629915" w="10240560">
                  <a:moveTo>
                    <a:pt x="0" y="0"/>
                  </a:moveTo>
                  <a:lnTo>
                    <a:pt x="10240560" y="0"/>
                  </a:lnTo>
                  <a:lnTo>
                    <a:pt x="10240560" y="2629915"/>
                  </a:lnTo>
                  <a:lnTo>
                    <a:pt x="0" y="26299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76" r="0" b="-1166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24055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鄭國將領在攻</a:t>
              </a: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城時扮演關鍵角色，鄭莊公又主導戰後許國的安置，顯示鄭國在此役的重要地位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4969" y="2740136"/>
            <a:ext cx="6870792" cy="6872614"/>
            <a:chOff x="0" y="0"/>
            <a:chExt cx="9161056" cy="9163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1145" cy="9163575"/>
            </a:xfrm>
            <a:custGeom>
              <a:avLst/>
              <a:gdLst/>
              <a:ahLst/>
              <a:cxnLst/>
              <a:rect r="r" b="b" t="t" l="l"/>
              <a:pathLst>
                <a:path h="9163575" w="9161145">
                  <a:moveTo>
                    <a:pt x="0" y="1527342"/>
                  </a:moveTo>
                  <a:cubicBezTo>
                    <a:pt x="0" y="683731"/>
                    <a:pt x="567563" y="0"/>
                    <a:pt x="1267841" y="0"/>
                  </a:cubicBezTo>
                  <a:lnTo>
                    <a:pt x="7893304" y="0"/>
                  </a:lnTo>
                  <a:cubicBezTo>
                    <a:pt x="8593455" y="0"/>
                    <a:pt x="9161145" y="683731"/>
                    <a:pt x="9161145" y="1527342"/>
                  </a:cubicBezTo>
                  <a:lnTo>
                    <a:pt x="9161145" y="7636251"/>
                  </a:lnTo>
                  <a:cubicBezTo>
                    <a:pt x="9161145" y="8479709"/>
                    <a:pt x="8593582" y="9163575"/>
                    <a:pt x="7893304" y="9163575"/>
                  </a:cubicBezTo>
                  <a:lnTo>
                    <a:pt x="1267841" y="9163575"/>
                  </a:lnTo>
                  <a:cubicBezTo>
                    <a:pt x="567563" y="9163440"/>
                    <a:pt x="0" y="8479709"/>
                    <a:pt x="0" y="763625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67717" y="5764324"/>
            <a:ext cx="7611837" cy="1782540"/>
            <a:chOff x="0" y="0"/>
            <a:chExt cx="10149116" cy="2376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9120" cy="2376724"/>
            </a:xfrm>
            <a:custGeom>
              <a:avLst/>
              <a:gdLst/>
              <a:ahLst/>
              <a:cxnLst/>
              <a:rect r="r" b="b" t="t" l="l"/>
              <a:pathLst>
                <a:path h="2376724" w="10149120">
                  <a:moveTo>
                    <a:pt x="0" y="0"/>
                  </a:moveTo>
                  <a:lnTo>
                    <a:pt x="10149120" y="0"/>
                  </a:lnTo>
                  <a:lnTo>
                    <a:pt x="1014912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05" r="0" b="-332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149116" cy="2386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6217" y="2798012"/>
            <a:ext cx="8379552" cy="6814738"/>
            <a:chOff x="0" y="0"/>
            <a:chExt cx="11172736" cy="9086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72698" cy="9086196"/>
            </a:xfrm>
            <a:custGeom>
              <a:avLst/>
              <a:gdLst/>
              <a:ahLst/>
              <a:cxnLst/>
              <a:rect r="r" b="b" t="t" l="l"/>
              <a:pathLst>
                <a:path h="9086196" w="11172698">
                  <a:moveTo>
                    <a:pt x="0" y="1514231"/>
                  </a:moveTo>
                  <a:cubicBezTo>
                    <a:pt x="0" y="678207"/>
                    <a:pt x="212852" y="0"/>
                    <a:pt x="475234" y="0"/>
                  </a:cubicBezTo>
                  <a:lnTo>
                    <a:pt x="10697464" y="0"/>
                  </a:lnTo>
                  <a:cubicBezTo>
                    <a:pt x="10959973" y="0"/>
                    <a:pt x="11172698" y="678207"/>
                    <a:pt x="11172698" y="1514231"/>
                  </a:cubicBezTo>
                  <a:lnTo>
                    <a:pt x="11172698" y="7571965"/>
                  </a:lnTo>
                  <a:cubicBezTo>
                    <a:pt x="11172698" y="8408394"/>
                    <a:pt x="10959846" y="9086196"/>
                    <a:pt x="10697464" y="9086196"/>
                  </a:cubicBezTo>
                  <a:lnTo>
                    <a:pt x="475234" y="9086196"/>
                  </a:lnTo>
                  <a:cubicBezTo>
                    <a:pt x="212852" y="9086196"/>
                    <a:pt x="0" y="8408394"/>
                    <a:pt x="0" y="7571965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784" y="5143500"/>
            <a:ext cx="7680417" cy="1972437"/>
            <a:chOff x="0" y="0"/>
            <a:chExt cx="10240556" cy="2629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0560" cy="2629915"/>
            </a:xfrm>
            <a:custGeom>
              <a:avLst/>
              <a:gdLst/>
              <a:ahLst/>
              <a:cxnLst/>
              <a:rect r="r" b="b" t="t" l="l"/>
              <a:pathLst>
                <a:path h="2629915" w="10240560">
                  <a:moveTo>
                    <a:pt x="0" y="0"/>
                  </a:moveTo>
                  <a:lnTo>
                    <a:pt x="10240560" y="0"/>
                  </a:lnTo>
                  <a:lnTo>
                    <a:pt x="10240560" y="2629915"/>
                  </a:lnTo>
                  <a:lnTo>
                    <a:pt x="0" y="26299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76" r="0" b="-1166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24055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鄭國將領在攻</a:t>
              </a: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城時扮演關鍵角色，鄭莊公又主導戰後許國的安置，顯示鄭國在此役的重要地位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4969" y="2740136"/>
            <a:ext cx="6870792" cy="6872614"/>
            <a:chOff x="0" y="0"/>
            <a:chExt cx="9161056" cy="9163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1145" cy="9163575"/>
            </a:xfrm>
            <a:custGeom>
              <a:avLst/>
              <a:gdLst/>
              <a:ahLst/>
              <a:cxnLst/>
              <a:rect r="r" b="b" t="t" l="l"/>
              <a:pathLst>
                <a:path h="9163575" w="9161145">
                  <a:moveTo>
                    <a:pt x="0" y="1527342"/>
                  </a:moveTo>
                  <a:cubicBezTo>
                    <a:pt x="0" y="683731"/>
                    <a:pt x="567563" y="0"/>
                    <a:pt x="1267841" y="0"/>
                  </a:cubicBezTo>
                  <a:lnTo>
                    <a:pt x="7893304" y="0"/>
                  </a:lnTo>
                  <a:cubicBezTo>
                    <a:pt x="8593455" y="0"/>
                    <a:pt x="9161145" y="683731"/>
                    <a:pt x="9161145" y="1527342"/>
                  </a:cubicBezTo>
                  <a:lnTo>
                    <a:pt x="9161145" y="7636251"/>
                  </a:lnTo>
                  <a:cubicBezTo>
                    <a:pt x="9161145" y="8479709"/>
                    <a:pt x="8593582" y="9163575"/>
                    <a:pt x="7893304" y="9163575"/>
                  </a:cubicBezTo>
                  <a:lnTo>
                    <a:pt x="1267841" y="9163575"/>
                  </a:lnTo>
                  <a:cubicBezTo>
                    <a:pt x="567563" y="9163440"/>
                    <a:pt x="0" y="8479709"/>
                    <a:pt x="0" y="763625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497417" y="3299406"/>
            <a:ext cx="57373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鄭莊公的兩個面向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2351" y="4212076"/>
            <a:ext cx="6397742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《左傳》：量力度德、審時度勢，戰後處置能「利後嗣」，所以「有禮」。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67717" y="5764324"/>
            <a:ext cx="7611837" cy="1782540"/>
            <a:chOff x="0" y="0"/>
            <a:chExt cx="10149116" cy="2376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49120" cy="2376724"/>
            </a:xfrm>
            <a:custGeom>
              <a:avLst/>
              <a:gdLst/>
              <a:ahLst/>
              <a:cxnLst/>
              <a:rect r="r" b="b" t="t" l="l"/>
              <a:pathLst>
                <a:path h="2376724" w="10149120">
                  <a:moveTo>
                    <a:pt x="0" y="0"/>
                  </a:moveTo>
                  <a:lnTo>
                    <a:pt x="10149120" y="0"/>
                  </a:lnTo>
                  <a:lnTo>
                    <a:pt x="1014912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05" r="0" b="-332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149116" cy="2386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6217" y="2798012"/>
            <a:ext cx="8379552" cy="6814738"/>
            <a:chOff x="0" y="0"/>
            <a:chExt cx="11172736" cy="9086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72698" cy="9086196"/>
            </a:xfrm>
            <a:custGeom>
              <a:avLst/>
              <a:gdLst/>
              <a:ahLst/>
              <a:cxnLst/>
              <a:rect r="r" b="b" t="t" l="l"/>
              <a:pathLst>
                <a:path h="9086196" w="11172698">
                  <a:moveTo>
                    <a:pt x="0" y="1514231"/>
                  </a:moveTo>
                  <a:cubicBezTo>
                    <a:pt x="0" y="678207"/>
                    <a:pt x="212852" y="0"/>
                    <a:pt x="475234" y="0"/>
                  </a:cubicBezTo>
                  <a:lnTo>
                    <a:pt x="10697464" y="0"/>
                  </a:lnTo>
                  <a:cubicBezTo>
                    <a:pt x="10959973" y="0"/>
                    <a:pt x="11172698" y="678207"/>
                    <a:pt x="11172698" y="1514231"/>
                  </a:cubicBezTo>
                  <a:lnTo>
                    <a:pt x="11172698" y="7571965"/>
                  </a:lnTo>
                  <a:cubicBezTo>
                    <a:pt x="11172698" y="8408394"/>
                    <a:pt x="10959846" y="9086196"/>
                    <a:pt x="10697464" y="9086196"/>
                  </a:cubicBezTo>
                  <a:lnTo>
                    <a:pt x="475234" y="9086196"/>
                  </a:lnTo>
                  <a:cubicBezTo>
                    <a:pt x="212852" y="9086196"/>
                    <a:pt x="0" y="8408394"/>
                    <a:pt x="0" y="7571965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784" y="5143500"/>
            <a:ext cx="7680417" cy="1972437"/>
            <a:chOff x="0" y="0"/>
            <a:chExt cx="10240556" cy="2629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0560" cy="2629915"/>
            </a:xfrm>
            <a:custGeom>
              <a:avLst/>
              <a:gdLst/>
              <a:ahLst/>
              <a:cxnLst/>
              <a:rect r="r" b="b" t="t" l="l"/>
              <a:pathLst>
                <a:path h="2629915" w="10240560">
                  <a:moveTo>
                    <a:pt x="0" y="0"/>
                  </a:moveTo>
                  <a:lnTo>
                    <a:pt x="10240560" y="0"/>
                  </a:lnTo>
                  <a:lnTo>
                    <a:pt x="10240560" y="2629915"/>
                  </a:lnTo>
                  <a:lnTo>
                    <a:pt x="0" y="26299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76" r="0" b="-1166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24055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鄭國將領在攻</a:t>
              </a: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城時扮演關鍵角色，鄭莊公又主導戰後許國的安置，顯示鄭國在此役的重要地位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4969" y="2740136"/>
            <a:ext cx="6870792" cy="6872614"/>
            <a:chOff x="0" y="0"/>
            <a:chExt cx="9161056" cy="9163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1145" cy="9163575"/>
            </a:xfrm>
            <a:custGeom>
              <a:avLst/>
              <a:gdLst/>
              <a:ahLst/>
              <a:cxnLst/>
              <a:rect r="r" b="b" t="t" l="l"/>
              <a:pathLst>
                <a:path h="9163575" w="9161145">
                  <a:moveTo>
                    <a:pt x="0" y="1527342"/>
                  </a:moveTo>
                  <a:cubicBezTo>
                    <a:pt x="0" y="683731"/>
                    <a:pt x="567563" y="0"/>
                    <a:pt x="1267841" y="0"/>
                  </a:cubicBezTo>
                  <a:lnTo>
                    <a:pt x="7893304" y="0"/>
                  </a:lnTo>
                  <a:cubicBezTo>
                    <a:pt x="8593455" y="0"/>
                    <a:pt x="9161145" y="683731"/>
                    <a:pt x="9161145" y="1527342"/>
                  </a:cubicBezTo>
                  <a:lnTo>
                    <a:pt x="9161145" y="7636251"/>
                  </a:lnTo>
                  <a:cubicBezTo>
                    <a:pt x="9161145" y="8479709"/>
                    <a:pt x="8593582" y="9163575"/>
                    <a:pt x="7893304" y="9163575"/>
                  </a:cubicBezTo>
                  <a:lnTo>
                    <a:pt x="1267841" y="9163575"/>
                  </a:lnTo>
                  <a:cubicBezTo>
                    <a:pt x="567563" y="9163440"/>
                    <a:pt x="0" y="8479709"/>
                    <a:pt x="0" y="763625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497417" y="3299406"/>
            <a:ext cx="57373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鄭莊公的兩個面向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2351" y="4212076"/>
            <a:ext cx="6397742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《左傳》：量力度德、審時度勢，戰後處置能「利後嗣」，所以「有禮」。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後世經學批判：無王命伐國、逐君、派人據守，是僭越王權。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67717" y="5764324"/>
            <a:ext cx="7611837" cy="1782540"/>
            <a:chOff x="0" y="0"/>
            <a:chExt cx="10149116" cy="2376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49120" cy="2376724"/>
            </a:xfrm>
            <a:custGeom>
              <a:avLst/>
              <a:gdLst/>
              <a:ahLst/>
              <a:cxnLst/>
              <a:rect r="r" b="b" t="t" l="l"/>
              <a:pathLst>
                <a:path h="2376724" w="10149120">
                  <a:moveTo>
                    <a:pt x="0" y="0"/>
                  </a:moveTo>
                  <a:lnTo>
                    <a:pt x="10149120" y="0"/>
                  </a:lnTo>
                  <a:lnTo>
                    <a:pt x="10149120" y="2376724"/>
                  </a:lnTo>
                  <a:lnTo>
                    <a:pt x="0" y="23767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05" r="0" b="-332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149116" cy="2386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6217" y="2798012"/>
            <a:ext cx="8379552" cy="6814738"/>
            <a:chOff x="0" y="0"/>
            <a:chExt cx="11172736" cy="9086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72698" cy="9086196"/>
            </a:xfrm>
            <a:custGeom>
              <a:avLst/>
              <a:gdLst/>
              <a:ahLst/>
              <a:cxnLst/>
              <a:rect r="r" b="b" t="t" l="l"/>
              <a:pathLst>
                <a:path h="9086196" w="11172698">
                  <a:moveTo>
                    <a:pt x="0" y="1514231"/>
                  </a:moveTo>
                  <a:cubicBezTo>
                    <a:pt x="0" y="678207"/>
                    <a:pt x="212852" y="0"/>
                    <a:pt x="475234" y="0"/>
                  </a:cubicBezTo>
                  <a:lnTo>
                    <a:pt x="10697464" y="0"/>
                  </a:lnTo>
                  <a:cubicBezTo>
                    <a:pt x="10959973" y="0"/>
                    <a:pt x="11172698" y="678207"/>
                    <a:pt x="11172698" y="1514231"/>
                  </a:cubicBezTo>
                  <a:lnTo>
                    <a:pt x="11172698" y="7571965"/>
                  </a:lnTo>
                  <a:cubicBezTo>
                    <a:pt x="11172698" y="8408394"/>
                    <a:pt x="10959846" y="9086196"/>
                    <a:pt x="10697464" y="9086196"/>
                  </a:cubicBezTo>
                  <a:lnTo>
                    <a:pt x="475234" y="9086196"/>
                  </a:lnTo>
                  <a:cubicBezTo>
                    <a:pt x="212852" y="9086196"/>
                    <a:pt x="0" y="8408394"/>
                    <a:pt x="0" y="7571965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784" y="5143500"/>
            <a:ext cx="7680417" cy="1972437"/>
            <a:chOff x="0" y="0"/>
            <a:chExt cx="10240556" cy="2629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0560" cy="2629915"/>
            </a:xfrm>
            <a:custGeom>
              <a:avLst/>
              <a:gdLst/>
              <a:ahLst/>
              <a:cxnLst/>
              <a:rect r="r" b="b" t="t" l="l"/>
              <a:pathLst>
                <a:path h="2629915" w="10240560">
                  <a:moveTo>
                    <a:pt x="0" y="0"/>
                  </a:moveTo>
                  <a:lnTo>
                    <a:pt x="10240560" y="0"/>
                  </a:lnTo>
                  <a:lnTo>
                    <a:pt x="10240560" y="2629915"/>
                  </a:lnTo>
                  <a:lnTo>
                    <a:pt x="0" y="26299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76" r="0" b="-1166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24055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鄭國將領在攻</a:t>
              </a: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城時扮演關鍵角色，鄭莊公又主導戰後許國的安置，顯示鄭國在此役的重要地位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4969" y="2740136"/>
            <a:ext cx="6870792" cy="6872614"/>
            <a:chOff x="0" y="0"/>
            <a:chExt cx="9161056" cy="9163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1145" cy="9163575"/>
            </a:xfrm>
            <a:custGeom>
              <a:avLst/>
              <a:gdLst/>
              <a:ahLst/>
              <a:cxnLst/>
              <a:rect r="r" b="b" t="t" l="l"/>
              <a:pathLst>
                <a:path h="9163575" w="9161145">
                  <a:moveTo>
                    <a:pt x="0" y="1527342"/>
                  </a:moveTo>
                  <a:cubicBezTo>
                    <a:pt x="0" y="683731"/>
                    <a:pt x="567563" y="0"/>
                    <a:pt x="1267841" y="0"/>
                  </a:cubicBezTo>
                  <a:lnTo>
                    <a:pt x="7893304" y="0"/>
                  </a:lnTo>
                  <a:cubicBezTo>
                    <a:pt x="8593455" y="0"/>
                    <a:pt x="9161145" y="683731"/>
                    <a:pt x="9161145" y="1527342"/>
                  </a:cubicBezTo>
                  <a:lnTo>
                    <a:pt x="9161145" y="7636251"/>
                  </a:lnTo>
                  <a:cubicBezTo>
                    <a:pt x="9161145" y="8479709"/>
                    <a:pt x="8593582" y="9163575"/>
                    <a:pt x="7893304" y="9163575"/>
                  </a:cubicBezTo>
                  <a:lnTo>
                    <a:pt x="1267841" y="9163575"/>
                  </a:lnTo>
                  <a:cubicBezTo>
                    <a:pt x="567563" y="9163440"/>
                    <a:pt x="0" y="8479709"/>
                    <a:pt x="0" y="763625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497417" y="3299406"/>
            <a:ext cx="57373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鄭莊公的兩個面向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2351" y="4212076"/>
            <a:ext cx="6397742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《左傳》：量力度德、審時度勢，戰後處置能「利後嗣」，所以「有禮」。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後世經學批判：無王命伐國、逐君、派人據守，是僭越王權。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明代徐廷垣等：鄭距許近，齊魯難據許；鄭莊公漂亮辭令可能掩飾擴張意圖。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6217" y="2798012"/>
            <a:ext cx="8379552" cy="6814738"/>
            <a:chOff x="0" y="0"/>
            <a:chExt cx="11172736" cy="90863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72698" cy="9086196"/>
            </a:xfrm>
            <a:custGeom>
              <a:avLst/>
              <a:gdLst/>
              <a:ahLst/>
              <a:cxnLst/>
              <a:rect r="r" b="b" t="t" l="l"/>
              <a:pathLst>
                <a:path h="9086196" w="11172698">
                  <a:moveTo>
                    <a:pt x="0" y="1514231"/>
                  </a:moveTo>
                  <a:cubicBezTo>
                    <a:pt x="0" y="678207"/>
                    <a:pt x="212852" y="0"/>
                    <a:pt x="475234" y="0"/>
                  </a:cubicBezTo>
                  <a:lnTo>
                    <a:pt x="10697464" y="0"/>
                  </a:lnTo>
                  <a:cubicBezTo>
                    <a:pt x="10959973" y="0"/>
                    <a:pt x="11172698" y="678207"/>
                    <a:pt x="11172698" y="1514231"/>
                  </a:cubicBezTo>
                  <a:lnTo>
                    <a:pt x="11172698" y="7571965"/>
                  </a:lnTo>
                  <a:cubicBezTo>
                    <a:pt x="11172698" y="8408394"/>
                    <a:pt x="10959846" y="9086196"/>
                    <a:pt x="10697464" y="9086196"/>
                  </a:cubicBezTo>
                  <a:lnTo>
                    <a:pt x="475234" y="9086196"/>
                  </a:lnTo>
                  <a:cubicBezTo>
                    <a:pt x="212852" y="9086196"/>
                    <a:pt x="0" y="8408394"/>
                    <a:pt x="0" y="7571965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5784" y="4319051"/>
            <a:ext cx="7680417" cy="3772662"/>
            <a:chOff x="0" y="0"/>
            <a:chExt cx="10240556" cy="5030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0560" cy="5030215"/>
            </a:xfrm>
            <a:custGeom>
              <a:avLst/>
              <a:gdLst/>
              <a:ahLst/>
              <a:cxnLst/>
              <a:rect r="r" b="b" t="t" l="l"/>
              <a:pathLst>
                <a:path h="5030215" w="10240560">
                  <a:moveTo>
                    <a:pt x="0" y="0"/>
                  </a:moveTo>
                  <a:lnTo>
                    <a:pt x="10240560" y="0"/>
                  </a:lnTo>
                  <a:lnTo>
                    <a:pt x="10240560" y="5030215"/>
                  </a:lnTo>
                  <a:lnTo>
                    <a:pt x="0" y="5030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52" r="0" b="416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240556" cy="5030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保留許國宗室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「</a:t>
              </a: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鄭伯使許大夫百里奉許叔以居許東偏。」</a:t>
              </a:r>
            </a:p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讓許叔留在</a:t>
              </a: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許國東部，維持許國原有的政治名分。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64969" y="2740136"/>
            <a:ext cx="6870792" cy="6872614"/>
            <a:chOff x="0" y="0"/>
            <a:chExt cx="9161056" cy="91634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61145" cy="9163575"/>
            </a:xfrm>
            <a:custGeom>
              <a:avLst/>
              <a:gdLst/>
              <a:ahLst/>
              <a:cxnLst/>
              <a:rect r="r" b="b" t="t" l="l"/>
              <a:pathLst>
                <a:path h="9163575" w="9161145">
                  <a:moveTo>
                    <a:pt x="0" y="1527342"/>
                  </a:moveTo>
                  <a:cubicBezTo>
                    <a:pt x="0" y="683731"/>
                    <a:pt x="567563" y="0"/>
                    <a:pt x="1267841" y="0"/>
                  </a:cubicBezTo>
                  <a:lnTo>
                    <a:pt x="7893304" y="0"/>
                  </a:lnTo>
                  <a:cubicBezTo>
                    <a:pt x="8593455" y="0"/>
                    <a:pt x="9161145" y="683731"/>
                    <a:pt x="9161145" y="1527342"/>
                  </a:cubicBezTo>
                  <a:lnTo>
                    <a:pt x="9161145" y="7636251"/>
                  </a:lnTo>
                  <a:cubicBezTo>
                    <a:pt x="9161145" y="8479709"/>
                    <a:pt x="8593582" y="9163575"/>
                    <a:pt x="7893304" y="9163575"/>
                  </a:cubicBezTo>
                  <a:lnTo>
                    <a:pt x="1267841" y="9163575"/>
                  </a:lnTo>
                  <a:cubicBezTo>
                    <a:pt x="567563" y="9163440"/>
                    <a:pt x="0" y="8479709"/>
                    <a:pt x="0" y="763625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201494" y="4676256"/>
            <a:ext cx="6397742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保留鄭國影響</a:t>
            </a: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力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「乃使公孫獲處許西偏。」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派鄭國大夫駐守許國西部，鞏固鄭國邊境。</a:t>
            </a:r>
          </a:p>
          <a:p>
            <a:pPr algn="l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魯隱公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647888"/>
            <a:ext cx="7007952" cy="6410498"/>
            <a:chOff x="0" y="0"/>
            <a:chExt cx="9343936" cy="8547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43898" cy="8547189"/>
            </a:xfrm>
            <a:custGeom>
              <a:avLst/>
              <a:gdLst/>
              <a:ahLst/>
              <a:cxnLst/>
              <a:rect r="r" b="b" t="t" l="l"/>
              <a:pathLst>
                <a:path h="8547189" w="9343898">
                  <a:moveTo>
                    <a:pt x="0" y="1424374"/>
                  </a:moveTo>
                  <a:cubicBezTo>
                    <a:pt x="0" y="637716"/>
                    <a:pt x="171831" y="0"/>
                    <a:pt x="383794" y="0"/>
                  </a:cubicBezTo>
                  <a:lnTo>
                    <a:pt x="8960104" y="0"/>
                  </a:lnTo>
                  <a:cubicBezTo>
                    <a:pt x="9172067" y="0"/>
                    <a:pt x="9343898" y="637716"/>
                    <a:pt x="9343898" y="1424374"/>
                  </a:cubicBezTo>
                  <a:lnTo>
                    <a:pt x="9343898" y="7122814"/>
                  </a:lnTo>
                  <a:cubicBezTo>
                    <a:pt x="9343898" y="7909472"/>
                    <a:pt x="9172067" y="8547189"/>
                    <a:pt x="8960104" y="8547189"/>
                  </a:cubicBezTo>
                  <a:lnTo>
                    <a:pt x="383794" y="8547189"/>
                  </a:lnTo>
                  <a:cubicBezTo>
                    <a:pt x="171831" y="8547189"/>
                    <a:pt x="0" y="7909472"/>
                    <a:pt x="0" y="7122814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8268" y="5352827"/>
            <a:ext cx="6308817" cy="1000620"/>
            <a:chOff x="0" y="0"/>
            <a:chExt cx="8411756" cy="1334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11760" cy="1334160"/>
            </a:xfrm>
            <a:custGeom>
              <a:avLst/>
              <a:gdLst/>
              <a:ahLst/>
              <a:cxnLst/>
              <a:rect r="r" b="b" t="t" l="l"/>
              <a:pathLst>
                <a:path h="1334160" w="8411760">
                  <a:moveTo>
                    <a:pt x="0" y="0"/>
                  </a:moveTo>
                  <a:lnTo>
                    <a:pt x="8411760" y="0"/>
                  </a:lnTo>
                  <a:lnTo>
                    <a:pt x="8411760" y="1334160"/>
                  </a:lnTo>
                  <a:lnTo>
                    <a:pt x="0" y="133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51" r="0" b="-728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411756" cy="1334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685478"/>
                  </a:solidFill>
                  <a:latin typeface="芫荽"/>
                  <a:ea typeface="芫荽"/>
                  <a:cs typeface="芫荽"/>
                  <a:sym typeface="芫荽"/>
                </a:rPr>
                <a:t>君謂許不共，故從君討之。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32656" y="2647888"/>
            <a:ext cx="8105232" cy="6410498"/>
            <a:chOff x="0" y="0"/>
            <a:chExt cx="10806976" cy="8547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07065" cy="8547419"/>
            </a:xfrm>
            <a:custGeom>
              <a:avLst/>
              <a:gdLst/>
              <a:ahLst/>
              <a:cxnLst/>
              <a:rect r="r" b="b" t="t" l="l"/>
              <a:pathLst>
                <a:path h="8547419" w="10807065">
                  <a:moveTo>
                    <a:pt x="0" y="1424648"/>
                  </a:moveTo>
                  <a:cubicBezTo>
                    <a:pt x="0" y="637741"/>
                    <a:pt x="540258" y="0"/>
                    <a:pt x="1206881" y="0"/>
                  </a:cubicBezTo>
                  <a:lnTo>
                    <a:pt x="9600184" y="0"/>
                  </a:lnTo>
                  <a:cubicBezTo>
                    <a:pt x="10266680" y="0"/>
                    <a:pt x="10807065" y="637741"/>
                    <a:pt x="10807065" y="1424648"/>
                  </a:cubicBezTo>
                  <a:lnTo>
                    <a:pt x="10807065" y="7122788"/>
                  </a:lnTo>
                  <a:cubicBezTo>
                    <a:pt x="10807065" y="7909544"/>
                    <a:pt x="10266807" y="8547419"/>
                    <a:pt x="9600184" y="8547419"/>
                  </a:cubicBezTo>
                  <a:lnTo>
                    <a:pt x="1206881" y="8547419"/>
                  </a:lnTo>
                  <a:cubicBezTo>
                    <a:pt x="540258" y="8547286"/>
                    <a:pt x="0" y="7909544"/>
                    <a:pt x="0" y="7122788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265103" y="3179612"/>
            <a:ext cx="304776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他的互動策略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46739" y="3907360"/>
            <a:ext cx="6871316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「故從君討之」：把自己定位成「從」齊／鄭之討，而不是主動為土地而戰。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「許既伏其罪矣」：以討罪目的已完成為理由拒絕許國。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這既維持名分，也避免聯盟內部因戰果分配而產生新的衝突。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482984"/>
            <a:ext cx="16367217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9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魯隱公拒絕許國：可以有三層答案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256472"/>
            <a:ext cx="5156292" cy="5293452"/>
            <a:chOff x="0" y="0"/>
            <a:chExt cx="6875056" cy="7057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75145" cy="7058025"/>
            </a:xfrm>
            <a:custGeom>
              <a:avLst/>
              <a:gdLst/>
              <a:ahLst/>
              <a:cxnLst/>
              <a:rect r="r" b="b" t="t" l="l"/>
              <a:pathLst>
                <a:path h="7058025" w="6875145">
                  <a:moveTo>
                    <a:pt x="0" y="1145921"/>
                  </a:moveTo>
                  <a:cubicBezTo>
                    <a:pt x="0" y="513080"/>
                    <a:pt x="513080" y="0"/>
                    <a:pt x="1145921" y="0"/>
                  </a:cubicBezTo>
                  <a:lnTo>
                    <a:pt x="5729224" y="0"/>
                  </a:lnTo>
                  <a:cubicBezTo>
                    <a:pt x="6362065" y="0"/>
                    <a:pt x="6875145" y="513080"/>
                    <a:pt x="6875145" y="1145921"/>
                  </a:cubicBezTo>
                  <a:lnTo>
                    <a:pt x="6875145" y="5912104"/>
                  </a:lnTo>
                  <a:cubicBezTo>
                    <a:pt x="6875145" y="6544945"/>
                    <a:pt x="6362065" y="7058025"/>
                    <a:pt x="5729224" y="7058025"/>
                  </a:cubicBezTo>
                  <a:lnTo>
                    <a:pt x="1145921" y="7058025"/>
                  </a:lnTo>
                  <a:cubicBezTo>
                    <a:pt x="513080" y="7057898"/>
                    <a:pt x="0" y="6544945"/>
                    <a:pt x="0" y="591210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85900" y="2759621"/>
            <a:ext cx="45028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文本理由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8266" y="3862616"/>
            <a:ext cx="4738145" cy="2399760"/>
            <a:chOff x="0" y="0"/>
            <a:chExt cx="6317526" cy="319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17530" cy="3199684"/>
            </a:xfrm>
            <a:custGeom>
              <a:avLst/>
              <a:gdLst/>
              <a:ahLst/>
              <a:cxnLst/>
              <a:rect r="r" b="b" t="t" l="l"/>
              <a:pathLst>
                <a:path h="3199684" w="6317530">
                  <a:moveTo>
                    <a:pt x="0" y="0"/>
                  </a:moveTo>
                  <a:lnTo>
                    <a:pt x="6317530" y="0"/>
                  </a:lnTo>
                  <a:lnTo>
                    <a:pt x="6317530" y="3199684"/>
                  </a:lnTo>
                  <a:lnTo>
                    <a:pt x="0" y="3199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95" t="0" r="-1057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17526" cy="3228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許已「伏其罪」；討伐目的完成。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482984"/>
            <a:ext cx="16367217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9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魯隱公拒絕許國：可以有三層答案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256472"/>
            <a:ext cx="5156292" cy="5293452"/>
            <a:chOff x="0" y="0"/>
            <a:chExt cx="6875056" cy="7057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75145" cy="7058025"/>
            </a:xfrm>
            <a:custGeom>
              <a:avLst/>
              <a:gdLst/>
              <a:ahLst/>
              <a:cxnLst/>
              <a:rect r="r" b="b" t="t" l="l"/>
              <a:pathLst>
                <a:path h="7058025" w="6875145">
                  <a:moveTo>
                    <a:pt x="0" y="1145921"/>
                  </a:moveTo>
                  <a:cubicBezTo>
                    <a:pt x="0" y="513080"/>
                    <a:pt x="513080" y="0"/>
                    <a:pt x="1145921" y="0"/>
                  </a:cubicBezTo>
                  <a:lnTo>
                    <a:pt x="5729224" y="0"/>
                  </a:lnTo>
                  <a:cubicBezTo>
                    <a:pt x="6362065" y="0"/>
                    <a:pt x="6875145" y="513080"/>
                    <a:pt x="6875145" y="1145921"/>
                  </a:cubicBezTo>
                  <a:lnTo>
                    <a:pt x="6875145" y="5912104"/>
                  </a:lnTo>
                  <a:cubicBezTo>
                    <a:pt x="6875145" y="6544945"/>
                    <a:pt x="6362065" y="7058025"/>
                    <a:pt x="5729224" y="7058025"/>
                  </a:cubicBezTo>
                  <a:lnTo>
                    <a:pt x="1145921" y="7058025"/>
                  </a:lnTo>
                  <a:cubicBezTo>
                    <a:pt x="513080" y="7057898"/>
                    <a:pt x="0" y="6544945"/>
                    <a:pt x="0" y="591210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85900" y="2759621"/>
            <a:ext cx="45028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文本理由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8266" y="3862616"/>
            <a:ext cx="4738145" cy="2399760"/>
            <a:chOff x="0" y="0"/>
            <a:chExt cx="6317526" cy="319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17530" cy="3199684"/>
            </a:xfrm>
            <a:custGeom>
              <a:avLst/>
              <a:gdLst/>
              <a:ahLst/>
              <a:cxnLst/>
              <a:rect r="r" b="b" t="t" l="l"/>
              <a:pathLst>
                <a:path h="3199684" w="6317530">
                  <a:moveTo>
                    <a:pt x="0" y="0"/>
                  </a:moveTo>
                  <a:lnTo>
                    <a:pt x="6317530" y="0"/>
                  </a:lnTo>
                  <a:lnTo>
                    <a:pt x="6317530" y="3199684"/>
                  </a:lnTo>
                  <a:lnTo>
                    <a:pt x="0" y="3199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95" t="0" r="-1057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17526" cy="3228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許已「伏其罪」；討伐目的完成。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1332" y="2256472"/>
            <a:ext cx="5156292" cy="5293452"/>
            <a:chOff x="0" y="0"/>
            <a:chExt cx="6875056" cy="70579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5145" cy="7058025"/>
            </a:xfrm>
            <a:custGeom>
              <a:avLst/>
              <a:gdLst/>
              <a:ahLst/>
              <a:cxnLst/>
              <a:rect r="r" b="b" t="t" l="l"/>
              <a:pathLst>
                <a:path h="7058025" w="6875145">
                  <a:moveTo>
                    <a:pt x="0" y="1145921"/>
                  </a:moveTo>
                  <a:cubicBezTo>
                    <a:pt x="0" y="513080"/>
                    <a:pt x="513080" y="0"/>
                    <a:pt x="1145921" y="0"/>
                  </a:cubicBezTo>
                  <a:lnTo>
                    <a:pt x="5729224" y="0"/>
                  </a:lnTo>
                  <a:cubicBezTo>
                    <a:pt x="6362065" y="0"/>
                    <a:pt x="6875145" y="513080"/>
                    <a:pt x="6875145" y="1145921"/>
                  </a:cubicBezTo>
                  <a:lnTo>
                    <a:pt x="6875145" y="5912104"/>
                  </a:lnTo>
                  <a:cubicBezTo>
                    <a:pt x="6875145" y="6544945"/>
                    <a:pt x="6362065" y="7058025"/>
                    <a:pt x="5729224" y="7058025"/>
                  </a:cubicBezTo>
                  <a:lnTo>
                    <a:pt x="1145921" y="7058025"/>
                  </a:lnTo>
                  <a:cubicBezTo>
                    <a:pt x="513080" y="7057898"/>
                    <a:pt x="0" y="6544945"/>
                    <a:pt x="0" y="5912104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178040" y="2759621"/>
            <a:ext cx="45028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名分理由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69480" y="3840480"/>
            <a:ext cx="4319997" cy="2694432"/>
            <a:chOff x="0" y="0"/>
            <a:chExt cx="5759996" cy="35925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60000" cy="3592580"/>
            </a:xfrm>
            <a:custGeom>
              <a:avLst/>
              <a:gdLst/>
              <a:ahLst/>
              <a:cxnLst/>
              <a:rect r="r" b="b" t="t" l="l"/>
              <a:pathLst>
                <a:path h="3592580" w="5760000">
                  <a:moveTo>
                    <a:pt x="0" y="0"/>
                  </a:moveTo>
                  <a:lnTo>
                    <a:pt x="5760000" y="0"/>
                  </a:lnTo>
                  <a:lnTo>
                    <a:pt x="5760000" y="3592580"/>
                  </a:lnTo>
                  <a:lnTo>
                    <a:pt x="0" y="3592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2" t="0" r="-21272" b="10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759996" cy="3621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若參戰名義是討罪，再直接取國，就容易從「義」滑向「利」。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482984"/>
            <a:ext cx="16367217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9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魯隱公拒絕許國：可以有三層答案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256472"/>
            <a:ext cx="5156292" cy="5293452"/>
            <a:chOff x="0" y="0"/>
            <a:chExt cx="6875056" cy="7057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75145" cy="7058025"/>
            </a:xfrm>
            <a:custGeom>
              <a:avLst/>
              <a:gdLst/>
              <a:ahLst/>
              <a:cxnLst/>
              <a:rect r="r" b="b" t="t" l="l"/>
              <a:pathLst>
                <a:path h="7058025" w="6875145">
                  <a:moveTo>
                    <a:pt x="0" y="1145921"/>
                  </a:moveTo>
                  <a:cubicBezTo>
                    <a:pt x="0" y="513080"/>
                    <a:pt x="513080" y="0"/>
                    <a:pt x="1145921" y="0"/>
                  </a:cubicBezTo>
                  <a:lnTo>
                    <a:pt x="5729224" y="0"/>
                  </a:lnTo>
                  <a:cubicBezTo>
                    <a:pt x="6362065" y="0"/>
                    <a:pt x="6875145" y="513080"/>
                    <a:pt x="6875145" y="1145921"/>
                  </a:cubicBezTo>
                  <a:lnTo>
                    <a:pt x="6875145" y="5912104"/>
                  </a:lnTo>
                  <a:cubicBezTo>
                    <a:pt x="6875145" y="6544945"/>
                    <a:pt x="6362065" y="7058025"/>
                    <a:pt x="5729224" y="7058025"/>
                  </a:cubicBezTo>
                  <a:lnTo>
                    <a:pt x="1145921" y="7058025"/>
                  </a:lnTo>
                  <a:cubicBezTo>
                    <a:pt x="513080" y="7057898"/>
                    <a:pt x="0" y="6544945"/>
                    <a:pt x="0" y="591210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85900" y="2759621"/>
            <a:ext cx="45028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文本理由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68266" y="3862616"/>
            <a:ext cx="4738145" cy="2399760"/>
            <a:chOff x="0" y="0"/>
            <a:chExt cx="6317526" cy="319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17530" cy="3199684"/>
            </a:xfrm>
            <a:custGeom>
              <a:avLst/>
              <a:gdLst/>
              <a:ahLst/>
              <a:cxnLst/>
              <a:rect r="r" b="b" t="t" l="l"/>
              <a:pathLst>
                <a:path h="3199684" w="6317530">
                  <a:moveTo>
                    <a:pt x="0" y="0"/>
                  </a:moveTo>
                  <a:lnTo>
                    <a:pt x="6317530" y="0"/>
                  </a:lnTo>
                  <a:lnTo>
                    <a:pt x="6317530" y="3199684"/>
                  </a:lnTo>
                  <a:lnTo>
                    <a:pt x="0" y="3199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95" t="0" r="-1057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17526" cy="3228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許已「伏其罪」；討伐目的完成。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1332" y="2256472"/>
            <a:ext cx="5156292" cy="5293452"/>
            <a:chOff x="0" y="0"/>
            <a:chExt cx="6875056" cy="70579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75145" cy="7058025"/>
            </a:xfrm>
            <a:custGeom>
              <a:avLst/>
              <a:gdLst/>
              <a:ahLst/>
              <a:cxnLst/>
              <a:rect r="r" b="b" t="t" l="l"/>
              <a:pathLst>
                <a:path h="7058025" w="6875145">
                  <a:moveTo>
                    <a:pt x="0" y="1145921"/>
                  </a:moveTo>
                  <a:cubicBezTo>
                    <a:pt x="0" y="513080"/>
                    <a:pt x="513080" y="0"/>
                    <a:pt x="1145921" y="0"/>
                  </a:cubicBezTo>
                  <a:lnTo>
                    <a:pt x="5729224" y="0"/>
                  </a:lnTo>
                  <a:cubicBezTo>
                    <a:pt x="6362065" y="0"/>
                    <a:pt x="6875145" y="513080"/>
                    <a:pt x="6875145" y="1145921"/>
                  </a:cubicBezTo>
                  <a:lnTo>
                    <a:pt x="6875145" y="5912104"/>
                  </a:lnTo>
                  <a:cubicBezTo>
                    <a:pt x="6875145" y="6544945"/>
                    <a:pt x="6362065" y="7058025"/>
                    <a:pt x="5729224" y="7058025"/>
                  </a:cubicBezTo>
                  <a:lnTo>
                    <a:pt x="1145921" y="7058025"/>
                  </a:lnTo>
                  <a:cubicBezTo>
                    <a:pt x="513080" y="7057898"/>
                    <a:pt x="0" y="6544945"/>
                    <a:pt x="0" y="5912104"/>
                  </a:cubicBezTo>
                  <a:close/>
                </a:path>
              </a:pathLst>
            </a:custGeom>
            <a:solidFill>
              <a:srgbClr val="EEE8DD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178040" y="2759621"/>
            <a:ext cx="45028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名分理由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69480" y="3840480"/>
            <a:ext cx="4319997" cy="2694432"/>
            <a:chOff x="0" y="0"/>
            <a:chExt cx="5759996" cy="35925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60000" cy="3592580"/>
            </a:xfrm>
            <a:custGeom>
              <a:avLst/>
              <a:gdLst/>
              <a:ahLst/>
              <a:cxnLst/>
              <a:rect r="r" b="b" t="t" l="l"/>
              <a:pathLst>
                <a:path h="3592580" w="5760000">
                  <a:moveTo>
                    <a:pt x="0" y="0"/>
                  </a:moveTo>
                  <a:lnTo>
                    <a:pt x="5760000" y="0"/>
                  </a:lnTo>
                  <a:lnTo>
                    <a:pt x="5760000" y="3592580"/>
                  </a:lnTo>
                  <a:lnTo>
                    <a:pt x="0" y="3592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2" t="0" r="-21272" b="10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759996" cy="3621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若參戰名義是討罪，再直接取國，就容易從「義」滑向「利」。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43472" y="2256472"/>
            <a:ext cx="5156292" cy="5293452"/>
            <a:chOff x="0" y="0"/>
            <a:chExt cx="6875056" cy="70579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5145" cy="7058025"/>
            </a:xfrm>
            <a:custGeom>
              <a:avLst/>
              <a:gdLst/>
              <a:ahLst/>
              <a:cxnLst/>
              <a:rect r="r" b="b" t="t" l="l"/>
              <a:pathLst>
                <a:path h="7058025" w="6875145">
                  <a:moveTo>
                    <a:pt x="0" y="1145921"/>
                  </a:moveTo>
                  <a:cubicBezTo>
                    <a:pt x="0" y="513080"/>
                    <a:pt x="513080" y="0"/>
                    <a:pt x="1145921" y="0"/>
                  </a:cubicBezTo>
                  <a:lnTo>
                    <a:pt x="5729224" y="0"/>
                  </a:lnTo>
                  <a:cubicBezTo>
                    <a:pt x="6362065" y="0"/>
                    <a:pt x="6875145" y="513080"/>
                    <a:pt x="6875145" y="1145921"/>
                  </a:cubicBezTo>
                  <a:lnTo>
                    <a:pt x="6875145" y="5912104"/>
                  </a:lnTo>
                  <a:cubicBezTo>
                    <a:pt x="6875145" y="6544945"/>
                    <a:pt x="6362065" y="7058025"/>
                    <a:pt x="5729224" y="7058025"/>
                  </a:cubicBezTo>
                  <a:lnTo>
                    <a:pt x="1145921" y="7058025"/>
                  </a:lnTo>
                  <a:cubicBezTo>
                    <a:pt x="513080" y="7057898"/>
                    <a:pt x="0" y="6544945"/>
                    <a:pt x="0" y="591210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870180" y="2759621"/>
            <a:ext cx="4502877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政治效果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961620" y="3840480"/>
            <a:ext cx="4319997" cy="2694432"/>
            <a:chOff x="0" y="0"/>
            <a:chExt cx="5759996" cy="35925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60000" cy="3592580"/>
            </a:xfrm>
            <a:custGeom>
              <a:avLst/>
              <a:gdLst/>
              <a:ahLst/>
              <a:cxnLst/>
              <a:rect r="r" b="b" t="t" l="l"/>
              <a:pathLst>
                <a:path h="3592580" w="5760000">
                  <a:moveTo>
                    <a:pt x="0" y="0"/>
                  </a:moveTo>
                  <a:lnTo>
                    <a:pt x="5760000" y="0"/>
                  </a:lnTo>
                  <a:lnTo>
                    <a:pt x="5760000" y="3592580"/>
                  </a:lnTo>
                  <a:lnTo>
                    <a:pt x="0" y="3592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2" t="0" r="-21272" b="109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759996" cy="3621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公開拒絕降低聯盟內部爭利，也讓後續「乃與鄭人」看起來不是魯強奪。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6352" y="2119312"/>
            <a:ext cx="7350852" cy="6648525"/>
            <a:chOff x="0" y="0"/>
            <a:chExt cx="9801136" cy="8864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01225" cy="8864790"/>
            </a:xfrm>
            <a:custGeom>
              <a:avLst/>
              <a:gdLst/>
              <a:ahLst/>
              <a:cxnLst/>
              <a:rect r="r" b="b" t="t" l="l"/>
              <a:pathLst>
                <a:path h="8864790" w="9801225">
                  <a:moveTo>
                    <a:pt x="0" y="1477546"/>
                  </a:moveTo>
                  <a:cubicBezTo>
                    <a:pt x="0" y="661421"/>
                    <a:pt x="540258" y="0"/>
                    <a:pt x="1206881" y="0"/>
                  </a:cubicBezTo>
                  <a:lnTo>
                    <a:pt x="8594344" y="0"/>
                  </a:lnTo>
                  <a:cubicBezTo>
                    <a:pt x="9260839" y="0"/>
                    <a:pt x="9801225" y="661421"/>
                    <a:pt x="9801225" y="1477546"/>
                  </a:cubicBezTo>
                  <a:lnTo>
                    <a:pt x="9801225" y="7387263"/>
                  </a:lnTo>
                  <a:cubicBezTo>
                    <a:pt x="9801225" y="8203233"/>
                    <a:pt x="9260967" y="8864790"/>
                    <a:pt x="8594344" y="8864790"/>
                  </a:cubicBezTo>
                  <a:lnTo>
                    <a:pt x="1206881" y="8864790"/>
                  </a:lnTo>
                  <a:cubicBezTo>
                    <a:pt x="540258" y="8864654"/>
                    <a:pt x="0" y="8203233"/>
                    <a:pt x="0" y="7387263"/>
                  </a:cubicBezTo>
                  <a:close/>
                </a:path>
              </a:pathLst>
            </a:custGeom>
            <a:solidFill>
              <a:srgbClr val="E5ECF0"/>
            </a:solidFill>
            <a:ln w="13335" cap="sq">
              <a:solidFill>
                <a:srgbClr val="E5EC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齊侯與許莊公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63798" y="2651036"/>
            <a:ext cx="10159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F6979"/>
                </a:solidFill>
                <a:latin typeface="芫荽"/>
                <a:ea typeface="芫荽"/>
                <a:cs typeface="芫荽"/>
                <a:sym typeface="芫荽"/>
              </a:rPr>
              <a:t>齊侯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9016" y="3515944"/>
            <a:ext cx="6235741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聯軍成員之一。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戰後「以許讓公」：先把許讓給魯隱公，表現外交上的禮讓。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政治效果：避免自己直接獨占戰果，也把「如何處理許」交回盟友協商。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6352" y="2119312"/>
            <a:ext cx="7350852" cy="6648525"/>
            <a:chOff x="0" y="0"/>
            <a:chExt cx="9801136" cy="8864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01225" cy="8864790"/>
            </a:xfrm>
            <a:custGeom>
              <a:avLst/>
              <a:gdLst/>
              <a:ahLst/>
              <a:cxnLst/>
              <a:rect r="r" b="b" t="t" l="l"/>
              <a:pathLst>
                <a:path h="8864790" w="9801225">
                  <a:moveTo>
                    <a:pt x="0" y="1477546"/>
                  </a:moveTo>
                  <a:cubicBezTo>
                    <a:pt x="0" y="661421"/>
                    <a:pt x="540258" y="0"/>
                    <a:pt x="1206881" y="0"/>
                  </a:cubicBezTo>
                  <a:lnTo>
                    <a:pt x="8594344" y="0"/>
                  </a:lnTo>
                  <a:cubicBezTo>
                    <a:pt x="9260839" y="0"/>
                    <a:pt x="9801225" y="661421"/>
                    <a:pt x="9801225" y="1477546"/>
                  </a:cubicBezTo>
                  <a:lnTo>
                    <a:pt x="9801225" y="7387263"/>
                  </a:lnTo>
                  <a:cubicBezTo>
                    <a:pt x="9801225" y="8203233"/>
                    <a:pt x="9260967" y="8864790"/>
                    <a:pt x="8594344" y="8864790"/>
                  </a:cubicBezTo>
                  <a:lnTo>
                    <a:pt x="1206881" y="8864790"/>
                  </a:lnTo>
                  <a:cubicBezTo>
                    <a:pt x="540258" y="8864654"/>
                    <a:pt x="0" y="8203233"/>
                    <a:pt x="0" y="7387263"/>
                  </a:cubicBezTo>
                  <a:close/>
                </a:path>
              </a:pathLst>
            </a:custGeom>
            <a:solidFill>
              <a:srgbClr val="E5ECF0"/>
            </a:solidFill>
            <a:ln w="13335" cap="sq">
              <a:solidFill>
                <a:srgbClr val="E5EC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25952" y="2119312"/>
            <a:ext cx="7350852" cy="6648525"/>
            <a:chOff x="0" y="0"/>
            <a:chExt cx="9801136" cy="8864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01225" cy="8864790"/>
            </a:xfrm>
            <a:custGeom>
              <a:avLst/>
              <a:gdLst/>
              <a:ahLst/>
              <a:cxnLst/>
              <a:rect r="r" b="b" t="t" l="l"/>
              <a:pathLst>
                <a:path h="8864790" w="9801225">
                  <a:moveTo>
                    <a:pt x="0" y="1477546"/>
                  </a:moveTo>
                  <a:cubicBezTo>
                    <a:pt x="0" y="661421"/>
                    <a:pt x="540258" y="0"/>
                    <a:pt x="1206881" y="0"/>
                  </a:cubicBezTo>
                  <a:lnTo>
                    <a:pt x="8594344" y="0"/>
                  </a:lnTo>
                  <a:cubicBezTo>
                    <a:pt x="9260839" y="0"/>
                    <a:pt x="9801225" y="661421"/>
                    <a:pt x="9801225" y="1477546"/>
                  </a:cubicBezTo>
                  <a:lnTo>
                    <a:pt x="9801225" y="7387263"/>
                  </a:lnTo>
                  <a:cubicBezTo>
                    <a:pt x="9801225" y="8203233"/>
                    <a:pt x="9260967" y="8864790"/>
                    <a:pt x="8594344" y="8864790"/>
                  </a:cubicBezTo>
                  <a:lnTo>
                    <a:pt x="1206881" y="8864790"/>
                  </a:lnTo>
                  <a:cubicBezTo>
                    <a:pt x="540258" y="8864654"/>
                    <a:pt x="0" y="8203233"/>
                    <a:pt x="0" y="7387263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齊侯與許莊公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3798" y="2651036"/>
            <a:ext cx="10159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F6979"/>
                </a:solidFill>
                <a:latin typeface="芫荽"/>
                <a:ea typeface="芫荽"/>
                <a:cs typeface="芫荽"/>
                <a:sym typeface="芫荽"/>
              </a:rPr>
              <a:t>齊侯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9016" y="3515944"/>
            <a:ext cx="6235741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聯軍成員之一。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戰後「以許讓公」：先把許讓給魯隱公，表現外交上的禮讓。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政治效果：避免自己直接獨占戰果，也把「如何處理許」交回盟友協商。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39438" y="2651036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許莊公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8616" y="3515944"/>
            <a:ext cx="6048356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許國國君；戰敗後「奔衛」。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沒有在本段被殺，也沒有立刻把許國政治名義抹除。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「奔衛」意味國君進入另一諸侯國的外交網絡，仍可能有復國與外援可能。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68547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6217" y="799376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結論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91000" y="2889080"/>
            <a:ext cx="3030312" cy="1000458"/>
            <a:chOff x="0" y="0"/>
            <a:chExt cx="4040416" cy="1333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0505" cy="1334008"/>
            </a:xfrm>
            <a:custGeom>
              <a:avLst/>
              <a:gdLst/>
              <a:ahLst/>
              <a:cxnLst/>
              <a:rect r="r" b="b" t="t" l="l"/>
              <a:pathLst>
                <a:path h="1334008" w="4040505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818128" y="0"/>
                  </a:lnTo>
                  <a:cubicBezTo>
                    <a:pt x="3940937" y="0"/>
                    <a:pt x="4040505" y="99568"/>
                    <a:pt x="4040505" y="222377"/>
                  </a:cubicBezTo>
                  <a:lnTo>
                    <a:pt x="4040505" y="1111631"/>
                  </a:lnTo>
                  <a:cubicBezTo>
                    <a:pt x="4040505" y="1234440"/>
                    <a:pt x="3940937" y="1334008"/>
                    <a:pt x="3818128" y="1334008"/>
                  </a:cubicBezTo>
                  <a:lnTo>
                    <a:pt x="222377" y="1334008"/>
                  </a:lnTo>
                  <a:cubicBezTo>
                    <a:pt x="99568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BE5E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544216" y="3146484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85478"/>
                </a:solidFill>
                <a:latin typeface="芫荽"/>
                <a:ea typeface="芫荽"/>
                <a:cs typeface="芫荽"/>
                <a:sym typeface="芫荽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09548" y="3050367"/>
            <a:ext cx="539441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要贏戰、又要處理戰後秩序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13168" y="3050367"/>
            <a:ext cx="498293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主導與節制的矛盾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91000" y="4260680"/>
            <a:ext cx="3030312" cy="1000458"/>
            <a:chOff x="0" y="0"/>
            <a:chExt cx="4040416" cy="1333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40505" cy="1334008"/>
            </a:xfrm>
            <a:custGeom>
              <a:avLst/>
              <a:gdLst/>
              <a:ahLst/>
              <a:cxnLst/>
              <a:rect r="r" b="b" t="t" l="l"/>
              <a:pathLst>
                <a:path h="1334008" w="4040505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818128" y="0"/>
                  </a:lnTo>
                  <a:cubicBezTo>
                    <a:pt x="3940937" y="0"/>
                    <a:pt x="4040505" y="99568"/>
                    <a:pt x="4040505" y="222377"/>
                  </a:cubicBezTo>
                  <a:lnTo>
                    <a:pt x="4040505" y="1111631"/>
                  </a:lnTo>
                  <a:cubicBezTo>
                    <a:pt x="4040505" y="1234440"/>
                    <a:pt x="3940937" y="1334008"/>
                    <a:pt x="3818128" y="1334008"/>
                  </a:cubicBezTo>
                  <a:lnTo>
                    <a:pt x="222377" y="1334008"/>
                  </a:lnTo>
                  <a:cubicBezTo>
                    <a:pt x="99568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BE5E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544216" y="4518084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85478"/>
                </a:solidFill>
                <a:latin typeface="芫荽"/>
                <a:ea typeface="芫荽"/>
                <a:cs typeface="芫荽"/>
                <a:sym typeface="芫荽"/>
              </a:rPr>
              <a:t>魯隱公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09548" y="4421967"/>
            <a:ext cx="53944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參戰但拒絕占有許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13168" y="4421967"/>
            <a:ext cx="498293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名分與盟友關係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91000" y="5632280"/>
            <a:ext cx="3030312" cy="1000458"/>
            <a:chOff x="0" y="0"/>
            <a:chExt cx="4040416" cy="1333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40505" cy="1334008"/>
            </a:xfrm>
            <a:custGeom>
              <a:avLst/>
              <a:gdLst/>
              <a:ahLst/>
              <a:cxnLst/>
              <a:rect r="r" b="b" t="t" l="l"/>
              <a:pathLst>
                <a:path h="1334008" w="4040505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818128" y="0"/>
                  </a:lnTo>
                  <a:cubicBezTo>
                    <a:pt x="3940937" y="0"/>
                    <a:pt x="4040505" y="99568"/>
                    <a:pt x="4040505" y="222377"/>
                  </a:cubicBezTo>
                  <a:lnTo>
                    <a:pt x="4040505" y="1111631"/>
                  </a:lnTo>
                  <a:cubicBezTo>
                    <a:pt x="4040505" y="1234440"/>
                    <a:pt x="3940937" y="1334008"/>
                    <a:pt x="3818128" y="1334008"/>
                  </a:cubicBezTo>
                  <a:lnTo>
                    <a:pt x="222377" y="1334008"/>
                  </a:lnTo>
                  <a:cubicBezTo>
                    <a:pt x="99568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BE5E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798176" y="5889684"/>
            <a:ext cx="101596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85478"/>
                </a:solidFill>
                <a:latin typeface="芫荽"/>
                <a:ea typeface="芫荽"/>
                <a:cs typeface="芫荽"/>
                <a:sym typeface="芫荽"/>
              </a:rPr>
              <a:t>齊侯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09548" y="5793567"/>
            <a:ext cx="53944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戰後先讓許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13168" y="5793567"/>
            <a:ext cx="498293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禮讓與聯盟協調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91000" y="7003880"/>
            <a:ext cx="3030312" cy="1000458"/>
            <a:chOff x="0" y="0"/>
            <a:chExt cx="4040416" cy="1333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40505" cy="1334008"/>
            </a:xfrm>
            <a:custGeom>
              <a:avLst/>
              <a:gdLst/>
              <a:ahLst/>
              <a:cxnLst/>
              <a:rect r="r" b="b" t="t" l="l"/>
              <a:pathLst>
                <a:path h="1334008" w="4040505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3818128" y="0"/>
                  </a:lnTo>
                  <a:cubicBezTo>
                    <a:pt x="3940937" y="0"/>
                    <a:pt x="4040505" y="99568"/>
                    <a:pt x="4040505" y="222377"/>
                  </a:cubicBezTo>
                  <a:lnTo>
                    <a:pt x="4040505" y="1111631"/>
                  </a:lnTo>
                  <a:cubicBezTo>
                    <a:pt x="4040505" y="1234440"/>
                    <a:pt x="3940937" y="1334008"/>
                    <a:pt x="3818128" y="1334008"/>
                  </a:cubicBezTo>
                  <a:lnTo>
                    <a:pt x="222377" y="1334008"/>
                  </a:lnTo>
                  <a:cubicBezTo>
                    <a:pt x="99568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EBE5EF"/>
            </a:solidFill>
            <a:ln w="13335" cap="sq">
              <a:solidFill>
                <a:srgbClr val="EBE5EF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2544216" y="7261284"/>
            <a:ext cx="152388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685478"/>
                </a:solidFill>
                <a:latin typeface="芫荽"/>
                <a:ea typeface="芫荽"/>
                <a:cs typeface="芫荽"/>
                <a:sym typeface="芫荽"/>
              </a:rPr>
              <a:t>許莊公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9548" y="7165167"/>
            <a:ext cx="53944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戰敗奔衛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13168" y="7165167"/>
            <a:ext cx="498293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保存自己與復國可能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關鍵互動：爭車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關鍵互動：爭車 → 怒 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關鍵互動：爭車 → 怒 → 先登 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關鍵互動：爭車 → 怒 → 先登 → 射殺 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關鍵互動：爭車 → 怒 → 先登 → 射殺 → 接旗 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005116"/>
            <a:ext cx="1416777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 b="true">
                <a:solidFill>
                  <a:srgbClr val="45787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31956"/>
            <a:ext cx="1568141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9"/>
              </a:lnSpc>
            </a:pPr>
            <a:r>
              <a:rPr lang="en-US" sz="6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鄭國三臣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8149" y="4135669"/>
            <a:ext cx="15923352" cy="3647532"/>
            <a:chOff x="0" y="0"/>
            <a:chExt cx="21231136" cy="4863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1225" cy="4863465"/>
            </a:xfrm>
            <a:custGeom>
              <a:avLst/>
              <a:gdLst/>
              <a:ahLst/>
              <a:cxnLst/>
              <a:rect r="r" b="b" t="t" l="l"/>
              <a:pathLst>
                <a:path h="4863465" w="21231225">
                  <a:moveTo>
                    <a:pt x="0" y="810641"/>
                  </a:moveTo>
                  <a:cubicBezTo>
                    <a:pt x="0" y="362966"/>
                    <a:pt x="362966" y="0"/>
                    <a:pt x="810641" y="0"/>
                  </a:cubicBezTo>
                  <a:lnTo>
                    <a:pt x="20420585" y="0"/>
                  </a:lnTo>
                  <a:cubicBezTo>
                    <a:pt x="20868260" y="0"/>
                    <a:pt x="21231225" y="362966"/>
                    <a:pt x="21231225" y="810641"/>
                  </a:cubicBezTo>
                  <a:lnTo>
                    <a:pt x="21231225" y="4052824"/>
                  </a:lnTo>
                  <a:cubicBezTo>
                    <a:pt x="21231225" y="4500499"/>
                    <a:pt x="20868260" y="4863465"/>
                    <a:pt x="20420585" y="4863465"/>
                  </a:cubicBezTo>
                  <a:lnTo>
                    <a:pt x="810641" y="4863465"/>
                  </a:lnTo>
                  <a:cubicBezTo>
                    <a:pt x="362966" y="4863338"/>
                    <a:pt x="0" y="4500499"/>
                    <a:pt x="0" y="40528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1119" y="4909479"/>
            <a:ext cx="15873536" cy="2099912"/>
            <a:chOff x="0" y="0"/>
            <a:chExt cx="21422008" cy="2833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22012" cy="2833924"/>
            </a:xfrm>
            <a:custGeom>
              <a:avLst/>
              <a:gdLst/>
              <a:ahLst/>
              <a:cxnLst/>
              <a:rect r="r" b="b" t="t" l="l"/>
              <a:pathLst>
                <a:path h="2833924" w="21422012">
                  <a:moveTo>
                    <a:pt x="0" y="0"/>
                  </a:moveTo>
                  <a:lnTo>
                    <a:pt x="21422012" y="0"/>
                  </a:lnTo>
                  <a:lnTo>
                    <a:pt x="21422012" y="2833924"/>
                  </a:lnTo>
                  <a:lnTo>
                    <a:pt x="0" y="28339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53" r="6949" b="-870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28600"/>
              <a:ext cx="21422008" cy="3062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關鍵人物：潁考叔｜公孫閼（子都）｜瑕叔盈</a:t>
              </a:r>
            </a:p>
            <a:p>
              <a:pPr algn="l">
                <a:lnSpc>
                  <a:spcPts val="711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關鍵互動：爭車 → 怒 → 先登 → 射殺 → 接旗 → 全軍登城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3774" y="3223898"/>
            <a:ext cx="7282272" cy="5030125"/>
            <a:chOff x="0" y="0"/>
            <a:chExt cx="9709696" cy="670683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709696" cy="6706833"/>
              <a:chOff x="0" y="0"/>
              <a:chExt cx="9709696" cy="67068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709785" cy="6706922"/>
              </a:xfrm>
              <a:custGeom>
                <a:avLst/>
                <a:gdLst/>
                <a:ahLst/>
                <a:cxnLst/>
                <a:rect r="r" b="b" t="t" l="l"/>
                <a:pathLst>
                  <a:path h="6706922" w="9709785">
                    <a:moveTo>
                      <a:pt x="0" y="1117880"/>
                    </a:moveTo>
                    <a:cubicBezTo>
                      <a:pt x="0" y="500469"/>
                      <a:pt x="526669" y="0"/>
                      <a:pt x="1176401" y="0"/>
                    </a:cubicBezTo>
                    <a:lnTo>
                      <a:pt x="8533384" y="0"/>
                    </a:lnTo>
                    <a:cubicBezTo>
                      <a:pt x="9183115" y="0"/>
                      <a:pt x="9709785" y="500469"/>
                      <a:pt x="9709785" y="1117880"/>
                    </a:cubicBezTo>
                    <a:lnTo>
                      <a:pt x="9709785" y="5589038"/>
                    </a:lnTo>
                    <a:cubicBezTo>
                      <a:pt x="9709785" y="6206448"/>
                      <a:pt x="9183115" y="6706922"/>
                      <a:pt x="8533384" y="6706922"/>
                    </a:cubicBezTo>
                    <a:lnTo>
                      <a:pt x="1176401" y="6706922"/>
                    </a:lnTo>
                    <a:cubicBezTo>
                      <a:pt x="526669" y="6706797"/>
                      <a:pt x="0" y="6206328"/>
                      <a:pt x="0" y="5589038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608163" y="708965"/>
              <a:ext cx="6493371" cy="88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79"/>
                </a:lnSpc>
              </a:pPr>
              <a:r>
                <a:rPr lang="en-US" sz="4399" b="true">
                  <a:solidFill>
                    <a:srgbClr val="45787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隱公元年 舍肉遺母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57363" y="4403428"/>
            <a:ext cx="5673011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000"/>
              </a:lnSpc>
            </a:pPr>
            <a:r>
              <a:rPr lang="en-US" sz="3600" spc="215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對母親：</a:t>
            </a:r>
          </a:p>
          <a:p>
            <a:pPr algn="just">
              <a:lnSpc>
                <a:spcPts val="5040"/>
              </a:lnSpc>
            </a:pPr>
            <a:r>
              <a:rPr lang="en-US" sz="3600" spc="215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溫良和善，吃到君主賞賜的肉，還想到要留給母親，展現孝心。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51954" y="3223898"/>
            <a:ext cx="7282272" cy="5010021"/>
            <a:chOff x="0" y="0"/>
            <a:chExt cx="9709696" cy="66800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709696" cy="6680028"/>
              <a:chOff x="0" y="0"/>
              <a:chExt cx="9709696" cy="668002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709785" cy="6680116"/>
              </a:xfrm>
              <a:custGeom>
                <a:avLst/>
                <a:gdLst/>
                <a:ahLst/>
                <a:cxnLst/>
                <a:rect r="r" b="b" t="t" l="l"/>
                <a:pathLst>
                  <a:path h="6680116" w="9709785">
                    <a:moveTo>
                      <a:pt x="0" y="1113412"/>
                    </a:moveTo>
                    <a:cubicBezTo>
                      <a:pt x="0" y="498469"/>
                      <a:pt x="526669" y="0"/>
                      <a:pt x="1176401" y="0"/>
                    </a:cubicBezTo>
                    <a:lnTo>
                      <a:pt x="8533384" y="0"/>
                    </a:lnTo>
                    <a:cubicBezTo>
                      <a:pt x="9183115" y="0"/>
                      <a:pt x="9709785" y="498469"/>
                      <a:pt x="9709785" y="1113412"/>
                    </a:cubicBezTo>
                    <a:lnTo>
                      <a:pt x="9709785" y="5566700"/>
                    </a:lnTo>
                    <a:cubicBezTo>
                      <a:pt x="9709785" y="6181642"/>
                      <a:pt x="9183115" y="6680116"/>
                      <a:pt x="8533384" y="6680116"/>
                    </a:cubicBezTo>
                    <a:lnTo>
                      <a:pt x="1176401" y="6680116"/>
                    </a:lnTo>
                    <a:cubicBezTo>
                      <a:pt x="526669" y="6679991"/>
                      <a:pt x="0" y="6181523"/>
                      <a:pt x="0" y="5566700"/>
                    </a:cubicBezTo>
                    <a:close/>
                  </a:path>
                </a:pathLst>
              </a:custGeom>
              <a:solidFill>
                <a:srgbClr val="F2E4DF"/>
              </a:solidFill>
              <a:ln w="13335" cap="sq">
                <a:solidFill>
                  <a:srgbClr val="F2E4DF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35646" y="708965"/>
              <a:ext cx="7238405" cy="88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隱公十一年  爭車被殺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34617" y="4403428"/>
            <a:ext cx="6357839" cy="331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3600" spc="493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對子都：</a:t>
            </a:r>
          </a:p>
          <a:p>
            <a:pPr algn="l">
              <a:lnSpc>
                <a:spcPts val="5544"/>
              </a:lnSpc>
            </a:pPr>
            <a:r>
              <a:rPr lang="en-US" sz="3600" spc="493">
                <a:solidFill>
                  <a:srgbClr val="202020"/>
                </a:solidFill>
                <a:latin typeface="芫荽"/>
                <a:ea typeface="芫荽"/>
                <a:cs typeface="芫荽"/>
                <a:sym typeface="芫荽"/>
              </a:rPr>
              <a:t>和子都搶戰車，令子都心生怨恨，未能妥善處理與同僚的關係。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599" y="1201459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9"/>
              </a:lnSpc>
            </a:pPr>
            <a:r>
              <a:rPr lang="en-US" sz="46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潁考叔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89599" y="1201459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9"/>
              </a:lnSpc>
            </a:pPr>
            <a:r>
              <a:rPr lang="en-US" sz="46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潁考叔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65059" y="2185613"/>
            <a:ext cx="14157883" cy="3283631"/>
            <a:chOff x="0" y="0"/>
            <a:chExt cx="18877177" cy="43781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877177" cy="4378175"/>
              <a:chOff x="0" y="0"/>
              <a:chExt cx="18877177" cy="43781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8877266" cy="4378264"/>
              </a:xfrm>
              <a:custGeom>
                <a:avLst/>
                <a:gdLst/>
                <a:ahLst/>
                <a:cxnLst/>
                <a:rect r="r" b="b" t="t" l="l"/>
                <a:pathLst>
                  <a:path h="4378264" w="18877266">
                    <a:moveTo>
                      <a:pt x="0" y="729744"/>
                    </a:moveTo>
                    <a:cubicBezTo>
                      <a:pt x="0" y="326703"/>
                      <a:pt x="1023927" y="0"/>
                      <a:pt x="2287109" y="0"/>
                    </a:cubicBezTo>
                    <a:lnTo>
                      <a:pt x="16590242" y="0"/>
                    </a:lnTo>
                    <a:cubicBezTo>
                      <a:pt x="17853422" y="0"/>
                      <a:pt x="18877266" y="326703"/>
                      <a:pt x="18877266" y="729744"/>
                    </a:cubicBezTo>
                    <a:lnTo>
                      <a:pt x="18877266" y="3648486"/>
                    </a:lnTo>
                    <a:cubicBezTo>
                      <a:pt x="18877266" y="4051527"/>
                      <a:pt x="17853422" y="4378264"/>
                      <a:pt x="16590242" y="4378264"/>
                    </a:cubicBezTo>
                    <a:lnTo>
                      <a:pt x="2287109" y="4378264"/>
                    </a:lnTo>
                    <a:cubicBezTo>
                      <a:pt x="1023927" y="4378151"/>
                      <a:pt x="0" y="4051449"/>
                      <a:pt x="0" y="36484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1247077" y="819444"/>
              <a:ext cx="16383024" cy="1820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spc="239">
                  <a:solidFill>
                    <a:srgbClr val="202020"/>
                  </a:solidFill>
                  <a:latin typeface="芫荽"/>
                  <a:ea typeface="芫荽"/>
                  <a:cs typeface="芫荽"/>
                  <a:sym typeface="芫荽"/>
                </a:rPr>
                <a:t>舍肉之時,則思其親;至挾輈之際,獨不思其親乎?前則思之,後則忘之,是見親於羹而不見</a:t>
              </a:r>
              <a:r>
                <a:rPr lang="en-US" sz="3999" spc="239">
                  <a:solidFill>
                    <a:srgbClr val="202020"/>
                  </a:solidFill>
                  <a:latin typeface="芫荽"/>
                  <a:ea typeface="芫荽"/>
                  <a:cs typeface="芫荽"/>
                  <a:sym typeface="芫荽"/>
                </a:rPr>
                <a:t>親於車也。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769400" y="3067811"/>
              <a:ext cx="3860701" cy="77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560"/>
                </a:lnSpc>
              </a:pPr>
              <a:r>
                <a:rPr lang="en-US" sz="3800">
                  <a:solidFill>
                    <a:srgbClr val="69655E"/>
                  </a:solidFill>
                  <a:latin typeface="芫荽"/>
                  <a:ea typeface="芫荽"/>
                  <a:cs typeface="芫荽"/>
                  <a:sym typeface="芫荽"/>
                </a:rPr>
                <a:t>《東萊博議》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53823" y="5831195"/>
            <a:ext cx="1077945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spc="239">
                <a:solidFill>
                  <a:srgbClr val="202020"/>
                </a:solidFill>
                <a:latin typeface="芫荽"/>
                <a:ea typeface="芫荽"/>
                <a:cs typeface="芫荽"/>
                <a:sym typeface="芫荽"/>
              </a:rPr>
              <a:t>孝心只停在「羹」上,沒有推及到「車」上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53823" y="7124347"/>
            <a:ext cx="11370725" cy="1639541"/>
            <a:chOff x="0" y="0"/>
            <a:chExt cx="15160966" cy="218605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788355" y="49976"/>
              <a:ext cx="14372612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spc="239">
                  <a:solidFill>
                    <a:srgbClr val="202020"/>
                  </a:solidFill>
                  <a:latin typeface="芫荽"/>
                  <a:ea typeface="芫荽"/>
                  <a:cs typeface="芫荽"/>
                  <a:sym typeface="芫荽"/>
                </a:rPr>
                <a:t>「好勇</a:t>
              </a:r>
              <a:r>
                <a:rPr lang="en-US" sz="3999" spc="239">
                  <a:solidFill>
                    <a:srgbClr val="202020"/>
                  </a:solidFill>
                  <a:latin typeface="芫荽"/>
                  <a:ea typeface="芫荽"/>
                  <a:cs typeface="芫荽"/>
                  <a:sym typeface="芫荽"/>
                </a:rPr>
                <a:t>鬥狠，以危父母，五不孝也。」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551401" y="1161468"/>
              <a:ext cx="5727413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spc="239">
                  <a:solidFill>
                    <a:srgbClr val="7A746B"/>
                  </a:solidFill>
                  <a:latin typeface="芫荽"/>
                  <a:ea typeface="芫荽"/>
                  <a:cs typeface="芫荽"/>
                  <a:sym typeface="芫荽"/>
                </a:rPr>
                <a:t>〔孟子．離婁下〕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70840" cy="2186054"/>
              <a:chOff x="0" y="0"/>
              <a:chExt cx="170840" cy="218605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815" cy="2186030"/>
              </a:xfrm>
              <a:custGeom>
                <a:avLst/>
                <a:gdLst/>
                <a:ahLst/>
                <a:cxnLst/>
                <a:rect r="r" b="b" t="t" l="l"/>
                <a:pathLst>
                  <a:path h="2186030" w="170815">
                    <a:moveTo>
                      <a:pt x="0" y="0"/>
                    </a:moveTo>
                    <a:lnTo>
                      <a:pt x="170815" y="0"/>
                    </a:lnTo>
                    <a:lnTo>
                      <a:pt x="170815" y="2186030"/>
                    </a:lnTo>
                    <a:lnTo>
                      <a:pt x="0" y="2186030"/>
                    </a:lnTo>
                    <a:close/>
                  </a:path>
                </a:pathLst>
              </a:custGeom>
              <a:solidFill>
                <a:srgbClr val="A14D34"/>
              </a:solidFill>
              <a:ln w="19050" cap="sq">
                <a:solidFill>
                  <a:srgbClr val="A14D34"/>
                </a:solidFill>
                <a:prstDash val="solid"/>
                <a:miter/>
              </a:ln>
            </p:spPr>
          </p:sp>
        </p:grpSp>
      </p:grpSp>
      <p:sp>
        <p:nvSpPr>
          <p:cNvPr name="TextBox 16" id="16"/>
          <p:cNvSpPr txBox="true"/>
          <p:nvPr/>
        </p:nvSpPr>
        <p:spPr>
          <a:xfrm rot="0">
            <a:off x="3621499" y="9125838"/>
            <a:ext cx="1077945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spc="239">
                <a:solidFill>
                  <a:srgbClr val="202020"/>
                </a:solidFill>
                <a:latin typeface="芫荽"/>
                <a:ea typeface="芫荽"/>
                <a:cs typeface="芫荽"/>
                <a:sym typeface="芫荽"/>
              </a:rPr>
              <a:t> </a:t>
            </a:r>
            <a:r>
              <a:rPr lang="en-US" sz="3999" spc="239">
                <a:solidFill>
                  <a:srgbClr val="202020"/>
                </a:solidFill>
                <a:latin typeface="芫荽"/>
                <a:ea typeface="芫荽"/>
                <a:cs typeface="芫荽"/>
                <a:sym typeface="芫荽"/>
              </a:rPr>
              <a:t>→ 得純</a:t>
            </a:r>
            <a:r>
              <a:rPr lang="en-US" sz="3999" spc="239">
                <a:solidFill>
                  <a:srgbClr val="202020"/>
                </a:solidFill>
                <a:latin typeface="芫荽"/>
                <a:ea typeface="芫荽"/>
                <a:cs typeface="芫荽"/>
                <a:sym typeface="芫荽"/>
              </a:rPr>
              <a:t>孝之名,卻「</a:t>
            </a:r>
            <a:r>
              <a:rPr lang="en-US" sz="3999" spc="23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鬥狠危親</a:t>
            </a:r>
            <a:r>
              <a:rPr lang="en-US" sz="3999" spc="239">
                <a:solidFill>
                  <a:srgbClr val="202020"/>
                </a:solidFill>
                <a:latin typeface="芫荽"/>
                <a:ea typeface="芫荽"/>
                <a:cs typeface="芫荽"/>
                <a:sym typeface="芫荽"/>
              </a:rPr>
              <a:t>」 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1303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196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196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6315774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處於「立功」的時刻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處於「立功」的時刻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24096" y="2938221"/>
            <a:ext cx="6939372" cy="5575514"/>
            <a:chOff x="0" y="0"/>
            <a:chExt cx="9252496" cy="74340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252496" cy="7434018"/>
              <a:chOff x="0" y="0"/>
              <a:chExt cx="9252496" cy="743401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252585" cy="7434107"/>
              </a:xfrm>
              <a:custGeom>
                <a:avLst/>
                <a:gdLst/>
                <a:ahLst/>
                <a:cxnLst/>
                <a:rect r="r" b="b" t="t" l="l"/>
                <a:pathLst>
                  <a:path h="7434107" w="9252585">
                    <a:moveTo>
                      <a:pt x="0" y="1239092"/>
                    </a:moveTo>
                    <a:cubicBezTo>
                      <a:pt x="0" y="55478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554785"/>
                      <a:pt x="9252585" y="1239092"/>
                    </a:cubicBezTo>
                    <a:lnTo>
                      <a:pt x="9252585" y="6195027"/>
                    </a:lnTo>
                    <a:cubicBezTo>
                      <a:pt x="9252585" y="6879334"/>
                      <a:pt x="8766810" y="7434107"/>
                      <a:pt x="8167624" y="7434107"/>
                    </a:cubicBezTo>
                    <a:lnTo>
                      <a:pt x="1084961" y="7434107"/>
                    </a:lnTo>
                    <a:cubicBezTo>
                      <a:pt x="485775" y="7433974"/>
                      <a:pt x="0" y="6879334"/>
                      <a:pt x="0" y="6195027"/>
                    </a:cubicBezTo>
                    <a:close/>
                  </a:path>
                </a:pathLst>
              </a:custGeom>
              <a:solidFill>
                <a:srgbClr val="F2E4DF"/>
              </a:solidFill>
              <a:ln w="13335" cap="sq">
                <a:solidFill>
                  <a:srgbClr val="F2E4DF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3948941" y="680390"/>
              <a:ext cx="1354614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子都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處於「立功」的時刻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24096" y="2938221"/>
            <a:ext cx="6939372" cy="5575514"/>
            <a:chOff x="0" y="0"/>
            <a:chExt cx="9252496" cy="74340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2585" cy="7434107"/>
            </a:xfrm>
            <a:custGeom>
              <a:avLst/>
              <a:gdLst/>
              <a:ahLst/>
              <a:cxnLst/>
              <a:rect r="r" b="b" t="t" l="l"/>
              <a:pathLst>
                <a:path h="7434107" w="9252585">
                  <a:moveTo>
                    <a:pt x="0" y="1239092"/>
                  </a:moveTo>
                  <a:cubicBezTo>
                    <a:pt x="0" y="554785"/>
                    <a:pt x="485775" y="0"/>
                    <a:pt x="1084961" y="0"/>
                  </a:cubicBezTo>
                  <a:lnTo>
                    <a:pt x="8167624" y="0"/>
                  </a:lnTo>
                  <a:cubicBezTo>
                    <a:pt x="8766810" y="0"/>
                    <a:pt x="9252585" y="554785"/>
                    <a:pt x="9252585" y="1239092"/>
                  </a:cubicBezTo>
                  <a:lnTo>
                    <a:pt x="9252585" y="6195027"/>
                  </a:lnTo>
                  <a:cubicBezTo>
                    <a:pt x="9252585" y="6879334"/>
                    <a:pt x="8766810" y="7434107"/>
                    <a:pt x="8167624" y="7434107"/>
                  </a:cubicBezTo>
                  <a:lnTo>
                    <a:pt x="1084961" y="7434107"/>
                  </a:lnTo>
                  <a:cubicBezTo>
                    <a:pt x="485775" y="7433974"/>
                    <a:pt x="0" y="6879334"/>
                    <a:pt x="0" y="6195027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185802" y="3441369"/>
            <a:ext cx="1015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子都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1570" y="4454447"/>
            <a:ext cx="6564424" cy="646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仍記得先前爭車之仇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處於「立功」的時刻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24096" y="2938221"/>
            <a:ext cx="6939372" cy="5575514"/>
            <a:chOff x="0" y="0"/>
            <a:chExt cx="9252496" cy="74340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2585" cy="7434107"/>
            </a:xfrm>
            <a:custGeom>
              <a:avLst/>
              <a:gdLst/>
              <a:ahLst/>
              <a:cxnLst/>
              <a:rect r="r" b="b" t="t" l="l"/>
              <a:pathLst>
                <a:path h="7434107" w="9252585">
                  <a:moveTo>
                    <a:pt x="0" y="1239092"/>
                  </a:moveTo>
                  <a:cubicBezTo>
                    <a:pt x="0" y="554785"/>
                    <a:pt x="485775" y="0"/>
                    <a:pt x="1084961" y="0"/>
                  </a:cubicBezTo>
                  <a:lnTo>
                    <a:pt x="8167624" y="0"/>
                  </a:lnTo>
                  <a:cubicBezTo>
                    <a:pt x="8766810" y="0"/>
                    <a:pt x="9252585" y="554785"/>
                    <a:pt x="9252585" y="1239092"/>
                  </a:cubicBezTo>
                  <a:lnTo>
                    <a:pt x="9252585" y="6195027"/>
                  </a:lnTo>
                  <a:cubicBezTo>
                    <a:pt x="9252585" y="6879334"/>
                    <a:pt x="8766810" y="7434107"/>
                    <a:pt x="8167624" y="7434107"/>
                  </a:cubicBezTo>
                  <a:lnTo>
                    <a:pt x="1084961" y="7434107"/>
                  </a:lnTo>
                  <a:cubicBezTo>
                    <a:pt x="485775" y="7433974"/>
                    <a:pt x="0" y="6879334"/>
                    <a:pt x="0" y="6195027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185802" y="3441369"/>
            <a:ext cx="1015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子都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1570" y="4454447"/>
            <a:ext cx="6564424" cy="1303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仍記得先前爭車之仇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「自下射之」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257257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處於「立功」的時刻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24096" y="2938221"/>
            <a:ext cx="6939372" cy="5575514"/>
            <a:chOff x="0" y="0"/>
            <a:chExt cx="9252496" cy="74340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2585" cy="7434107"/>
            </a:xfrm>
            <a:custGeom>
              <a:avLst/>
              <a:gdLst/>
              <a:ahLst/>
              <a:cxnLst/>
              <a:rect r="r" b="b" t="t" l="l"/>
              <a:pathLst>
                <a:path h="7434107" w="9252585">
                  <a:moveTo>
                    <a:pt x="0" y="1239092"/>
                  </a:moveTo>
                  <a:cubicBezTo>
                    <a:pt x="0" y="554785"/>
                    <a:pt x="485775" y="0"/>
                    <a:pt x="1084961" y="0"/>
                  </a:cubicBezTo>
                  <a:lnTo>
                    <a:pt x="8167624" y="0"/>
                  </a:lnTo>
                  <a:cubicBezTo>
                    <a:pt x="8766810" y="0"/>
                    <a:pt x="9252585" y="554785"/>
                    <a:pt x="9252585" y="1239092"/>
                  </a:cubicBezTo>
                  <a:lnTo>
                    <a:pt x="9252585" y="6195027"/>
                  </a:lnTo>
                  <a:cubicBezTo>
                    <a:pt x="9252585" y="6879334"/>
                    <a:pt x="8766810" y="7434107"/>
                    <a:pt x="8167624" y="7434107"/>
                  </a:cubicBezTo>
                  <a:lnTo>
                    <a:pt x="1084961" y="7434107"/>
                  </a:lnTo>
                  <a:cubicBezTo>
                    <a:pt x="485775" y="7433974"/>
                    <a:pt x="0" y="6879334"/>
                    <a:pt x="0" y="6195027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185802" y="3441369"/>
            <a:ext cx="1015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子都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1570" y="4454447"/>
            <a:ext cx="6564424" cy="196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仍記得先前爭車之仇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「自下射之」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射殺同國同袍，而非敵軍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136" y="2938221"/>
            <a:ext cx="6939372" cy="4881972"/>
            <a:chOff x="0" y="0"/>
            <a:chExt cx="9252496" cy="650929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52496" cy="6509296"/>
              <a:chOff x="0" y="0"/>
              <a:chExt cx="9252496" cy="650929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252585" cy="6509385"/>
              </a:xfrm>
              <a:custGeom>
                <a:avLst/>
                <a:gdLst/>
                <a:ahLst/>
                <a:cxnLst/>
                <a:rect r="r" b="b" t="t" l="l"/>
                <a:pathLst>
                  <a:path h="6509385" w="9252585">
                    <a:moveTo>
                      <a:pt x="0" y="1084961"/>
                    </a:moveTo>
                    <a:cubicBezTo>
                      <a:pt x="0" y="485775"/>
                      <a:pt x="485775" y="0"/>
                      <a:pt x="1084961" y="0"/>
                    </a:cubicBezTo>
                    <a:lnTo>
                      <a:pt x="8167624" y="0"/>
                    </a:lnTo>
                    <a:cubicBezTo>
                      <a:pt x="8766810" y="0"/>
                      <a:pt x="9252585" y="485775"/>
                      <a:pt x="9252585" y="1084961"/>
                    </a:cubicBezTo>
                    <a:lnTo>
                      <a:pt x="9252585" y="5424424"/>
                    </a:lnTo>
                    <a:cubicBezTo>
                      <a:pt x="9252585" y="6023610"/>
                      <a:pt x="8766810" y="6509385"/>
                      <a:pt x="8167624" y="6509385"/>
                    </a:cubicBezTo>
                    <a:lnTo>
                      <a:pt x="1084961" y="6509385"/>
                    </a:lnTo>
                    <a:cubicBezTo>
                      <a:pt x="485775" y="6509258"/>
                      <a:pt x="0" y="6023610"/>
                      <a:pt x="0" y="542442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10327" y="680390"/>
              <a:ext cx="2031841" cy="838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6733" y="4454447"/>
            <a:ext cx="5921878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拿國君旗幟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率先登城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領頭提升士氣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處於「立功」的時刻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24096" y="2938221"/>
            <a:ext cx="6939372" cy="5575514"/>
            <a:chOff x="0" y="0"/>
            <a:chExt cx="9252496" cy="74340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2585" cy="7434107"/>
            </a:xfrm>
            <a:custGeom>
              <a:avLst/>
              <a:gdLst/>
              <a:ahLst/>
              <a:cxnLst/>
              <a:rect r="r" b="b" t="t" l="l"/>
              <a:pathLst>
                <a:path h="7434107" w="9252585">
                  <a:moveTo>
                    <a:pt x="0" y="1239092"/>
                  </a:moveTo>
                  <a:cubicBezTo>
                    <a:pt x="0" y="554785"/>
                    <a:pt x="485775" y="0"/>
                    <a:pt x="1084961" y="0"/>
                  </a:cubicBezTo>
                  <a:lnTo>
                    <a:pt x="8167624" y="0"/>
                  </a:lnTo>
                  <a:cubicBezTo>
                    <a:pt x="8766810" y="0"/>
                    <a:pt x="9252585" y="554785"/>
                    <a:pt x="9252585" y="1239092"/>
                  </a:cubicBezTo>
                  <a:lnTo>
                    <a:pt x="9252585" y="6195027"/>
                  </a:lnTo>
                  <a:cubicBezTo>
                    <a:pt x="9252585" y="6879334"/>
                    <a:pt x="8766810" y="7434107"/>
                    <a:pt x="8167624" y="7434107"/>
                  </a:cubicBezTo>
                  <a:lnTo>
                    <a:pt x="1084961" y="7434107"/>
                  </a:lnTo>
                  <a:cubicBezTo>
                    <a:pt x="485775" y="7433974"/>
                    <a:pt x="0" y="6879334"/>
                    <a:pt x="0" y="6195027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185802" y="3441369"/>
            <a:ext cx="101596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子都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1570" y="4454447"/>
            <a:ext cx="6564424" cy="2618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仍記得先前爭車之仇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「自下射之」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射殺同國同袍，而非敵軍</a:t>
            </a:r>
          </a:p>
          <a:p>
            <a:pPr algn="l">
              <a:lnSpc>
                <a:spcPts val="5183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私人報復凌駕軍事共同利益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136" y="1390496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子都把私人恩怨帶進公事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238595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瑕叔盈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619720"/>
            <a:ext cx="8448132" cy="6662337"/>
            <a:chOff x="0" y="0"/>
            <a:chExt cx="11264176" cy="88831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64138" cy="8882986"/>
            </a:xfrm>
            <a:custGeom>
              <a:avLst/>
              <a:gdLst/>
              <a:ahLst/>
              <a:cxnLst/>
              <a:rect r="r" b="b" t="t" l="l"/>
              <a:pathLst>
                <a:path h="8882986" w="11264138">
                  <a:moveTo>
                    <a:pt x="0" y="1480352"/>
                  </a:moveTo>
                  <a:cubicBezTo>
                    <a:pt x="0" y="662700"/>
                    <a:pt x="192278" y="0"/>
                    <a:pt x="429514" y="0"/>
                  </a:cubicBezTo>
                  <a:lnTo>
                    <a:pt x="10834624" y="0"/>
                  </a:lnTo>
                  <a:cubicBezTo>
                    <a:pt x="11071860" y="0"/>
                    <a:pt x="11264138" y="662700"/>
                    <a:pt x="11264138" y="1480352"/>
                  </a:cubicBezTo>
                  <a:lnTo>
                    <a:pt x="11264138" y="7402633"/>
                  </a:lnTo>
                  <a:cubicBezTo>
                    <a:pt x="11264138" y="8220285"/>
                    <a:pt x="11071860" y="8882986"/>
                    <a:pt x="10834624" y="8882986"/>
                  </a:cubicBezTo>
                  <a:lnTo>
                    <a:pt x="429514" y="8882986"/>
                  </a:lnTo>
                  <a:cubicBezTo>
                    <a:pt x="192278" y="8882986"/>
                    <a:pt x="0" y="8220285"/>
                    <a:pt x="0" y="7402633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00197" y="4449274"/>
            <a:ext cx="8176635" cy="1435968"/>
            <a:chOff x="0" y="0"/>
            <a:chExt cx="10902179" cy="19146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02183" cy="1914624"/>
            </a:xfrm>
            <a:custGeom>
              <a:avLst/>
              <a:gdLst/>
              <a:ahLst/>
              <a:cxnLst/>
              <a:rect r="r" b="b" t="t" l="l"/>
              <a:pathLst>
                <a:path h="1914624" w="10902183">
                  <a:moveTo>
                    <a:pt x="0" y="0"/>
                  </a:moveTo>
                  <a:lnTo>
                    <a:pt x="10902183" y="0"/>
                  </a:lnTo>
                  <a:lnTo>
                    <a:pt x="10902183" y="1914624"/>
                  </a:lnTo>
                  <a:lnTo>
                    <a:pt x="0" y="1914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" r="5230" b="-471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902179" cy="1924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>
                  <a:solidFill>
                    <a:srgbClr val="354D4C"/>
                  </a:solidFill>
                  <a:latin typeface="芫荽"/>
                  <a:ea typeface="芫荽"/>
                  <a:cs typeface="芫荽"/>
                  <a:sym typeface="芫荽"/>
                </a:rPr>
                <a:t>瑕叔盈又以蝥弧登，周麾而呼曰：「君登矣。」鄭師畢登。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182350" y="6553938"/>
            <a:ext cx="48259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19720"/>
            <a:ext cx="8448132" cy="6662337"/>
            <a:chOff x="0" y="0"/>
            <a:chExt cx="11264176" cy="88831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64138" cy="8882986"/>
            </a:xfrm>
            <a:custGeom>
              <a:avLst/>
              <a:gdLst/>
              <a:ahLst/>
              <a:cxnLst/>
              <a:rect r="r" b="b" t="t" l="l"/>
              <a:pathLst>
                <a:path h="8882986" w="11264138">
                  <a:moveTo>
                    <a:pt x="0" y="1480352"/>
                  </a:moveTo>
                  <a:cubicBezTo>
                    <a:pt x="0" y="662700"/>
                    <a:pt x="192278" y="0"/>
                    <a:pt x="429514" y="0"/>
                  </a:cubicBezTo>
                  <a:lnTo>
                    <a:pt x="10834624" y="0"/>
                  </a:lnTo>
                  <a:cubicBezTo>
                    <a:pt x="11071860" y="0"/>
                    <a:pt x="11264138" y="662700"/>
                    <a:pt x="11264138" y="1480352"/>
                  </a:cubicBezTo>
                  <a:lnTo>
                    <a:pt x="11264138" y="7402633"/>
                  </a:lnTo>
                  <a:cubicBezTo>
                    <a:pt x="11264138" y="8220285"/>
                    <a:pt x="11071860" y="8882986"/>
                    <a:pt x="10834624" y="8882986"/>
                  </a:cubicBezTo>
                  <a:lnTo>
                    <a:pt x="429514" y="8882986"/>
                  </a:lnTo>
                  <a:cubicBezTo>
                    <a:pt x="192278" y="8882986"/>
                    <a:pt x="0" y="8220285"/>
                    <a:pt x="0" y="7402633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00197" y="4449274"/>
            <a:ext cx="8176635" cy="1435968"/>
            <a:chOff x="0" y="0"/>
            <a:chExt cx="10902179" cy="1914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02183" cy="1914624"/>
            </a:xfrm>
            <a:custGeom>
              <a:avLst/>
              <a:gdLst/>
              <a:ahLst/>
              <a:cxnLst/>
              <a:rect r="r" b="b" t="t" l="l"/>
              <a:pathLst>
                <a:path h="1914624" w="10902183">
                  <a:moveTo>
                    <a:pt x="0" y="0"/>
                  </a:moveTo>
                  <a:lnTo>
                    <a:pt x="10902183" y="0"/>
                  </a:lnTo>
                  <a:lnTo>
                    <a:pt x="10902183" y="1914624"/>
                  </a:lnTo>
                  <a:lnTo>
                    <a:pt x="0" y="1914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" r="5230" b="-471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02179" cy="1924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>
                  <a:solidFill>
                    <a:srgbClr val="354D4C"/>
                  </a:solidFill>
                  <a:latin typeface="芫荽"/>
                  <a:ea typeface="芫荽"/>
                  <a:cs typeface="芫荽"/>
                  <a:sym typeface="芫荽"/>
                </a:rPr>
                <a:t>瑕叔盈又以蝥弧登，周麾而呼曰：「君登矣。」鄭師畢登。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82350" y="6553938"/>
            <a:ext cx="48259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02903" y="2619720"/>
            <a:ext cx="7678526" cy="6796782"/>
            <a:chOff x="0" y="0"/>
            <a:chExt cx="10238035" cy="9062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38124" cy="9062465"/>
            </a:xfrm>
            <a:custGeom>
              <a:avLst/>
              <a:gdLst/>
              <a:ahLst/>
              <a:cxnLst/>
              <a:rect r="r" b="b" t="t" l="l"/>
              <a:pathLst>
                <a:path h="9062465" w="10238124">
                  <a:moveTo>
                    <a:pt x="0" y="1510494"/>
                  </a:moveTo>
                  <a:cubicBezTo>
                    <a:pt x="0" y="676170"/>
                    <a:pt x="616069" y="0"/>
                    <a:pt x="1376236" y="0"/>
                  </a:cubicBezTo>
                  <a:lnTo>
                    <a:pt x="8861899" y="0"/>
                  </a:lnTo>
                  <a:cubicBezTo>
                    <a:pt x="9621921" y="0"/>
                    <a:pt x="10238124" y="676170"/>
                    <a:pt x="10238124" y="1510494"/>
                  </a:cubicBezTo>
                  <a:lnTo>
                    <a:pt x="10238124" y="7551993"/>
                  </a:lnTo>
                  <a:cubicBezTo>
                    <a:pt x="10238124" y="8386158"/>
                    <a:pt x="9622066" y="9062465"/>
                    <a:pt x="8861899" y="9062465"/>
                  </a:cubicBezTo>
                  <a:lnTo>
                    <a:pt x="1376236" y="9062465"/>
                  </a:lnTo>
                  <a:cubicBezTo>
                    <a:pt x="616069" y="9062328"/>
                    <a:pt x="0" y="8386158"/>
                    <a:pt x="0" y="75519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02903" y="3447927"/>
            <a:ext cx="7431555" cy="211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602" indent="-418301" lvl="1">
              <a:lnSpc>
                <a:spcPts val="5696"/>
              </a:lnSpc>
              <a:buFont typeface="Arial"/>
              <a:buChar char="•"/>
            </a:pPr>
            <a:r>
              <a:rPr lang="en-US" sz="3874" spc="402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接替潁考叔登城：</a:t>
            </a:r>
            <a:r>
              <a:rPr lang="en-US" sz="3874" spc="402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使攻城行動得以繼續。</a:t>
            </a:r>
          </a:p>
          <a:p>
            <a:pPr algn="l">
              <a:lnSpc>
                <a:spcPts val="569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38595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瑕叔盈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19720"/>
            <a:ext cx="8448132" cy="6662337"/>
            <a:chOff x="0" y="0"/>
            <a:chExt cx="11264176" cy="88831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64138" cy="8882986"/>
            </a:xfrm>
            <a:custGeom>
              <a:avLst/>
              <a:gdLst/>
              <a:ahLst/>
              <a:cxnLst/>
              <a:rect r="r" b="b" t="t" l="l"/>
              <a:pathLst>
                <a:path h="8882986" w="11264138">
                  <a:moveTo>
                    <a:pt x="0" y="1480352"/>
                  </a:moveTo>
                  <a:cubicBezTo>
                    <a:pt x="0" y="662700"/>
                    <a:pt x="192278" y="0"/>
                    <a:pt x="429514" y="0"/>
                  </a:cubicBezTo>
                  <a:lnTo>
                    <a:pt x="10834624" y="0"/>
                  </a:lnTo>
                  <a:cubicBezTo>
                    <a:pt x="11071860" y="0"/>
                    <a:pt x="11264138" y="662700"/>
                    <a:pt x="11264138" y="1480352"/>
                  </a:cubicBezTo>
                  <a:lnTo>
                    <a:pt x="11264138" y="7402633"/>
                  </a:lnTo>
                  <a:cubicBezTo>
                    <a:pt x="11264138" y="8220285"/>
                    <a:pt x="11071860" y="8882986"/>
                    <a:pt x="10834624" y="8882986"/>
                  </a:cubicBezTo>
                  <a:lnTo>
                    <a:pt x="429514" y="8882986"/>
                  </a:lnTo>
                  <a:cubicBezTo>
                    <a:pt x="192278" y="8882986"/>
                    <a:pt x="0" y="8220285"/>
                    <a:pt x="0" y="7402633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00197" y="4449274"/>
            <a:ext cx="8176635" cy="1435968"/>
            <a:chOff x="0" y="0"/>
            <a:chExt cx="10902179" cy="1914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02183" cy="1914624"/>
            </a:xfrm>
            <a:custGeom>
              <a:avLst/>
              <a:gdLst/>
              <a:ahLst/>
              <a:cxnLst/>
              <a:rect r="r" b="b" t="t" l="l"/>
              <a:pathLst>
                <a:path h="1914624" w="10902183">
                  <a:moveTo>
                    <a:pt x="0" y="0"/>
                  </a:moveTo>
                  <a:lnTo>
                    <a:pt x="10902183" y="0"/>
                  </a:lnTo>
                  <a:lnTo>
                    <a:pt x="10902183" y="1914624"/>
                  </a:lnTo>
                  <a:lnTo>
                    <a:pt x="0" y="1914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" r="5230" b="-471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02179" cy="1924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>
                  <a:solidFill>
                    <a:srgbClr val="354D4C"/>
                  </a:solidFill>
                  <a:latin typeface="芫荽"/>
                  <a:ea typeface="芫荽"/>
                  <a:cs typeface="芫荽"/>
                  <a:sym typeface="芫荽"/>
                </a:rPr>
                <a:t>瑕叔盈又以蝥弧登，周麾而呼曰：「君登矣。」鄭師畢登。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82350" y="6553938"/>
            <a:ext cx="48259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02903" y="2619720"/>
            <a:ext cx="7678526" cy="6796782"/>
            <a:chOff x="0" y="0"/>
            <a:chExt cx="10238035" cy="9062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38124" cy="9062465"/>
            </a:xfrm>
            <a:custGeom>
              <a:avLst/>
              <a:gdLst/>
              <a:ahLst/>
              <a:cxnLst/>
              <a:rect r="r" b="b" t="t" l="l"/>
              <a:pathLst>
                <a:path h="9062465" w="10238124">
                  <a:moveTo>
                    <a:pt x="0" y="1510494"/>
                  </a:moveTo>
                  <a:cubicBezTo>
                    <a:pt x="0" y="676170"/>
                    <a:pt x="616069" y="0"/>
                    <a:pt x="1376236" y="0"/>
                  </a:cubicBezTo>
                  <a:lnTo>
                    <a:pt x="8861899" y="0"/>
                  </a:lnTo>
                  <a:cubicBezTo>
                    <a:pt x="9621921" y="0"/>
                    <a:pt x="10238124" y="676170"/>
                    <a:pt x="10238124" y="1510494"/>
                  </a:cubicBezTo>
                  <a:lnTo>
                    <a:pt x="10238124" y="7551993"/>
                  </a:lnTo>
                  <a:cubicBezTo>
                    <a:pt x="10238124" y="8386158"/>
                    <a:pt x="9622066" y="9062465"/>
                    <a:pt x="8861899" y="9062465"/>
                  </a:cubicBezTo>
                  <a:lnTo>
                    <a:pt x="1376236" y="9062465"/>
                  </a:lnTo>
                  <a:cubicBezTo>
                    <a:pt x="616069" y="9062328"/>
                    <a:pt x="0" y="8386158"/>
                    <a:pt x="0" y="75519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02903" y="3447927"/>
            <a:ext cx="7431555" cy="415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602" indent="-418301" lvl="1">
              <a:lnSpc>
                <a:spcPts val="5696"/>
              </a:lnSpc>
              <a:buFont typeface="Arial"/>
              <a:buChar char="•"/>
            </a:pPr>
            <a:r>
              <a:rPr lang="en-US" sz="3874" spc="402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接替潁考叔登城：</a:t>
            </a:r>
            <a:r>
              <a:rPr lang="en-US" sz="3874" spc="402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使攻城行動得以繼續。</a:t>
            </a:r>
          </a:p>
          <a:p>
            <a:pPr algn="l">
              <a:lnSpc>
                <a:spcPts val="2756"/>
              </a:lnSpc>
            </a:pPr>
          </a:p>
          <a:p>
            <a:pPr algn="l" marL="836602" indent="-418301" lvl="1">
              <a:lnSpc>
                <a:spcPts val="5696"/>
              </a:lnSpc>
              <a:buFont typeface="Arial"/>
              <a:buChar char="•"/>
            </a:pPr>
            <a:r>
              <a:rPr lang="en-US" sz="3874" spc="402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高喊「君登矣」</a:t>
            </a:r>
            <a:r>
              <a:rPr lang="en-US" sz="3874" spc="402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：可能藉此鼓舞士氣、號召士兵。</a:t>
            </a:r>
          </a:p>
          <a:p>
            <a:pPr algn="l">
              <a:lnSpc>
                <a:spcPts val="2168"/>
              </a:lnSpc>
            </a:pPr>
          </a:p>
          <a:p>
            <a:pPr algn="l">
              <a:lnSpc>
                <a:spcPts val="569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38595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瑕叔盈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19720"/>
            <a:ext cx="8448132" cy="6662337"/>
            <a:chOff x="0" y="0"/>
            <a:chExt cx="11264176" cy="88831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64138" cy="8882986"/>
            </a:xfrm>
            <a:custGeom>
              <a:avLst/>
              <a:gdLst/>
              <a:ahLst/>
              <a:cxnLst/>
              <a:rect r="r" b="b" t="t" l="l"/>
              <a:pathLst>
                <a:path h="8882986" w="11264138">
                  <a:moveTo>
                    <a:pt x="0" y="1480352"/>
                  </a:moveTo>
                  <a:cubicBezTo>
                    <a:pt x="0" y="662700"/>
                    <a:pt x="192278" y="0"/>
                    <a:pt x="429514" y="0"/>
                  </a:cubicBezTo>
                  <a:lnTo>
                    <a:pt x="10834624" y="0"/>
                  </a:lnTo>
                  <a:cubicBezTo>
                    <a:pt x="11071860" y="0"/>
                    <a:pt x="11264138" y="662700"/>
                    <a:pt x="11264138" y="1480352"/>
                  </a:cubicBezTo>
                  <a:lnTo>
                    <a:pt x="11264138" y="7402633"/>
                  </a:lnTo>
                  <a:cubicBezTo>
                    <a:pt x="11264138" y="8220285"/>
                    <a:pt x="11071860" y="8882986"/>
                    <a:pt x="10834624" y="8882986"/>
                  </a:cubicBezTo>
                  <a:lnTo>
                    <a:pt x="429514" y="8882986"/>
                  </a:lnTo>
                  <a:cubicBezTo>
                    <a:pt x="192278" y="8882986"/>
                    <a:pt x="0" y="8220285"/>
                    <a:pt x="0" y="7402633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00197" y="4449274"/>
            <a:ext cx="8176635" cy="1435968"/>
            <a:chOff x="0" y="0"/>
            <a:chExt cx="10902179" cy="1914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02183" cy="1914624"/>
            </a:xfrm>
            <a:custGeom>
              <a:avLst/>
              <a:gdLst/>
              <a:ahLst/>
              <a:cxnLst/>
              <a:rect r="r" b="b" t="t" l="l"/>
              <a:pathLst>
                <a:path h="1914624" w="10902183">
                  <a:moveTo>
                    <a:pt x="0" y="0"/>
                  </a:moveTo>
                  <a:lnTo>
                    <a:pt x="10902183" y="0"/>
                  </a:lnTo>
                  <a:lnTo>
                    <a:pt x="10902183" y="1914624"/>
                  </a:lnTo>
                  <a:lnTo>
                    <a:pt x="0" y="1914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" r="5230" b="-4715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02179" cy="1924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79"/>
                </a:lnSpc>
              </a:pPr>
              <a:r>
                <a:rPr lang="en-US" sz="4149">
                  <a:solidFill>
                    <a:srgbClr val="354D4C"/>
                  </a:solidFill>
                  <a:latin typeface="芫荽"/>
                  <a:ea typeface="芫荽"/>
                  <a:cs typeface="芫荽"/>
                  <a:sym typeface="芫荽"/>
                </a:rPr>
                <a:t>瑕叔盈又以蝥弧登，周麾而呼曰：「君登矣。」鄭師畢登。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82350" y="6553938"/>
            <a:ext cx="48259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《左傳・隱公十一年》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02903" y="2619720"/>
            <a:ext cx="7678526" cy="6796782"/>
            <a:chOff x="0" y="0"/>
            <a:chExt cx="10238035" cy="9062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38124" cy="9062465"/>
            </a:xfrm>
            <a:custGeom>
              <a:avLst/>
              <a:gdLst/>
              <a:ahLst/>
              <a:cxnLst/>
              <a:rect r="r" b="b" t="t" l="l"/>
              <a:pathLst>
                <a:path h="9062465" w="10238124">
                  <a:moveTo>
                    <a:pt x="0" y="1510494"/>
                  </a:moveTo>
                  <a:cubicBezTo>
                    <a:pt x="0" y="676170"/>
                    <a:pt x="616069" y="0"/>
                    <a:pt x="1376236" y="0"/>
                  </a:cubicBezTo>
                  <a:lnTo>
                    <a:pt x="8861899" y="0"/>
                  </a:lnTo>
                  <a:cubicBezTo>
                    <a:pt x="9621921" y="0"/>
                    <a:pt x="10238124" y="676170"/>
                    <a:pt x="10238124" y="1510494"/>
                  </a:cubicBezTo>
                  <a:lnTo>
                    <a:pt x="10238124" y="7551993"/>
                  </a:lnTo>
                  <a:cubicBezTo>
                    <a:pt x="10238124" y="8386158"/>
                    <a:pt x="9622066" y="9062465"/>
                    <a:pt x="8861899" y="9062465"/>
                  </a:cubicBezTo>
                  <a:lnTo>
                    <a:pt x="1376236" y="9062465"/>
                  </a:lnTo>
                  <a:cubicBezTo>
                    <a:pt x="616069" y="9062328"/>
                    <a:pt x="0" y="8386158"/>
                    <a:pt x="0" y="75519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02903" y="3447927"/>
            <a:ext cx="7431555" cy="486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602" indent="-418301" lvl="1">
              <a:lnSpc>
                <a:spcPts val="5696"/>
              </a:lnSpc>
              <a:buFont typeface="Arial"/>
              <a:buChar char="•"/>
            </a:pPr>
            <a:r>
              <a:rPr lang="en-US" sz="3874" spc="402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接替潁考叔登城：</a:t>
            </a:r>
            <a:r>
              <a:rPr lang="en-US" sz="3874" spc="402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使攻城行動得以繼續。</a:t>
            </a:r>
          </a:p>
          <a:p>
            <a:pPr algn="l">
              <a:lnSpc>
                <a:spcPts val="2756"/>
              </a:lnSpc>
            </a:pPr>
          </a:p>
          <a:p>
            <a:pPr algn="l" marL="836602" indent="-418301" lvl="1">
              <a:lnSpc>
                <a:spcPts val="5696"/>
              </a:lnSpc>
              <a:buFont typeface="Arial"/>
              <a:buChar char="•"/>
            </a:pPr>
            <a:r>
              <a:rPr lang="en-US" sz="3874" spc="402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高喊「君登矣」</a:t>
            </a:r>
            <a:r>
              <a:rPr lang="en-US" sz="3874" spc="402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：可能藉此鼓舞士氣、號召士兵。</a:t>
            </a:r>
          </a:p>
          <a:p>
            <a:pPr algn="l">
              <a:lnSpc>
                <a:spcPts val="2168"/>
              </a:lnSpc>
            </a:pPr>
          </a:p>
          <a:p>
            <a:pPr algn="l" marL="836602" indent="-418301" lvl="1">
              <a:lnSpc>
                <a:spcPts val="5696"/>
              </a:lnSpc>
              <a:buFont typeface="Arial"/>
              <a:buChar char="•"/>
            </a:pPr>
            <a:r>
              <a:rPr lang="en-US" sz="3874" spc="402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鄭師畢登</a:t>
            </a:r>
            <a:r>
              <a:rPr lang="en-US" sz="3874" spc="402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：鄭軍全體登城。</a:t>
            </a:r>
          </a:p>
          <a:p>
            <a:pPr algn="l">
              <a:lnSpc>
                <a:spcPts val="569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238595"/>
            <a:ext cx="16367217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465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瑕叔盈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60391" y="1422918"/>
            <a:ext cx="1636721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三人的行為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053625"/>
            <a:ext cx="5156292" cy="5293452"/>
            <a:chOff x="0" y="0"/>
            <a:chExt cx="6875056" cy="705793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875056" cy="7057936"/>
              <a:chOff x="0" y="0"/>
              <a:chExt cx="6875056" cy="705793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875145" cy="7058025"/>
              </a:xfrm>
              <a:custGeom>
                <a:avLst/>
                <a:gdLst/>
                <a:ahLst/>
                <a:cxnLst/>
                <a:rect r="r" b="b" t="t" l="l"/>
                <a:pathLst>
                  <a:path h="7058025" w="6875145">
                    <a:moveTo>
                      <a:pt x="0" y="1145921"/>
                    </a:moveTo>
                    <a:cubicBezTo>
                      <a:pt x="0" y="513080"/>
                      <a:pt x="513080" y="0"/>
                      <a:pt x="1145921" y="0"/>
                    </a:cubicBezTo>
                    <a:lnTo>
                      <a:pt x="5729224" y="0"/>
                    </a:lnTo>
                    <a:cubicBezTo>
                      <a:pt x="6362065" y="0"/>
                      <a:pt x="6875145" y="513080"/>
                      <a:pt x="6875145" y="1145921"/>
                    </a:cubicBezTo>
                    <a:lnTo>
                      <a:pt x="6875145" y="5912104"/>
                    </a:lnTo>
                    <a:cubicBezTo>
                      <a:pt x="6875145" y="6544945"/>
                      <a:pt x="6362065" y="7058025"/>
                      <a:pt x="5729224" y="7058025"/>
                    </a:cubicBezTo>
                    <a:lnTo>
                      <a:pt x="1145921" y="7058025"/>
                    </a:lnTo>
                    <a:cubicBezTo>
                      <a:pt x="513080" y="7057898"/>
                      <a:pt x="0" y="6544945"/>
                      <a:pt x="0" y="591210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466090" y="3483610"/>
              <a:ext cx="5942876" cy="1370880"/>
              <a:chOff x="0" y="0"/>
              <a:chExt cx="5942876" cy="137088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942880" cy="1370884"/>
              </a:xfrm>
              <a:custGeom>
                <a:avLst/>
                <a:gdLst/>
                <a:ahLst/>
                <a:cxnLst/>
                <a:rect r="r" b="b" t="t" l="l"/>
                <a:pathLst>
                  <a:path h="1370884" w="5942880">
                    <a:moveTo>
                      <a:pt x="0" y="0"/>
                    </a:moveTo>
                    <a:lnTo>
                      <a:pt x="5942880" y="0"/>
                    </a:lnTo>
                    <a:lnTo>
                      <a:pt x="5942880" y="1370884"/>
                    </a:lnTo>
                    <a:lnTo>
                      <a:pt x="0" y="1370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469" r="0" b="-34468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5942876" cy="13708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67"/>
                  </a:lnSpc>
                </a:pPr>
                <a:r>
                  <a:rPr lang="en-US" sz="3639">
                    <a:solidFill>
                      <a:srgbClr val="69655E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但此前也參與爭車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370778" y="617525"/>
              <a:ext cx="2133501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45787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27050" y="2080565"/>
              <a:ext cx="5820956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為國先登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27050" y="5555285"/>
              <a:ext cx="5820956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9"/>
                </a:lnSpc>
              </a:pPr>
              <a:r>
                <a:rPr lang="en-US" sz="354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有功但失德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6420" y="8118694"/>
            <a:ext cx="4723284" cy="2168306"/>
            <a:chOff x="0" y="0"/>
            <a:chExt cx="1243993" cy="5710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3993" cy="571076"/>
            </a:xfrm>
            <a:custGeom>
              <a:avLst/>
              <a:gdLst/>
              <a:ahLst/>
              <a:cxnLst/>
              <a:rect r="r" b="b" t="t" l="l"/>
              <a:pathLst>
                <a:path h="571076" w="1243993">
                  <a:moveTo>
                    <a:pt x="1243993" y="285538"/>
                  </a:moveTo>
                  <a:lnTo>
                    <a:pt x="837593" y="0"/>
                  </a:lnTo>
                  <a:lnTo>
                    <a:pt x="837593" y="203200"/>
                  </a:lnTo>
                  <a:lnTo>
                    <a:pt x="0" y="203200"/>
                  </a:lnTo>
                  <a:lnTo>
                    <a:pt x="0" y="367876"/>
                  </a:lnTo>
                  <a:lnTo>
                    <a:pt x="837593" y="367876"/>
                  </a:lnTo>
                  <a:lnTo>
                    <a:pt x="837593" y="571076"/>
                  </a:lnTo>
                  <a:lnTo>
                    <a:pt x="1243993" y="285538"/>
                  </a:lnTo>
                  <a:close/>
                </a:path>
              </a:pathLst>
            </a:custGeom>
            <a:solidFill>
              <a:srgbClr val="45787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1142393" cy="22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53625"/>
            <a:ext cx="5156292" cy="5293452"/>
            <a:chOff x="0" y="0"/>
            <a:chExt cx="6875056" cy="705793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75056" cy="7057936"/>
              <a:chOff x="0" y="0"/>
              <a:chExt cx="6875056" cy="705793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75145" cy="7058025"/>
              </a:xfrm>
              <a:custGeom>
                <a:avLst/>
                <a:gdLst/>
                <a:ahLst/>
                <a:cxnLst/>
                <a:rect r="r" b="b" t="t" l="l"/>
                <a:pathLst>
                  <a:path h="7058025" w="6875145">
                    <a:moveTo>
                      <a:pt x="0" y="1145921"/>
                    </a:moveTo>
                    <a:cubicBezTo>
                      <a:pt x="0" y="513080"/>
                      <a:pt x="513080" y="0"/>
                      <a:pt x="1145921" y="0"/>
                    </a:cubicBezTo>
                    <a:lnTo>
                      <a:pt x="5729224" y="0"/>
                    </a:lnTo>
                    <a:cubicBezTo>
                      <a:pt x="6362065" y="0"/>
                      <a:pt x="6875145" y="513080"/>
                      <a:pt x="6875145" y="1145921"/>
                    </a:cubicBezTo>
                    <a:lnTo>
                      <a:pt x="6875145" y="5912104"/>
                    </a:lnTo>
                    <a:cubicBezTo>
                      <a:pt x="6875145" y="6544945"/>
                      <a:pt x="6362065" y="7058025"/>
                      <a:pt x="5729224" y="7058025"/>
                    </a:cubicBezTo>
                    <a:lnTo>
                      <a:pt x="1145921" y="7058025"/>
                    </a:lnTo>
                    <a:cubicBezTo>
                      <a:pt x="513080" y="7057898"/>
                      <a:pt x="0" y="6544945"/>
                      <a:pt x="0" y="591210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66090" y="3483610"/>
              <a:ext cx="5942876" cy="1370880"/>
              <a:chOff x="0" y="0"/>
              <a:chExt cx="5942876" cy="13708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42880" cy="1370884"/>
              </a:xfrm>
              <a:custGeom>
                <a:avLst/>
                <a:gdLst/>
                <a:ahLst/>
                <a:cxnLst/>
                <a:rect r="r" b="b" t="t" l="l"/>
                <a:pathLst>
                  <a:path h="1370884" w="5942880">
                    <a:moveTo>
                      <a:pt x="0" y="0"/>
                    </a:moveTo>
                    <a:lnTo>
                      <a:pt x="5942880" y="0"/>
                    </a:lnTo>
                    <a:lnTo>
                      <a:pt x="5942880" y="1370884"/>
                    </a:lnTo>
                    <a:lnTo>
                      <a:pt x="0" y="1370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469" r="0" b="-34468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5942876" cy="13708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67"/>
                  </a:lnSpc>
                </a:pPr>
                <a:r>
                  <a:rPr lang="en-US" sz="3639">
                    <a:solidFill>
                      <a:srgbClr val="69655E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但此前也參與爭車</a:t>
                </a: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370778" y="617525"/>
              <a:ext cx="2133501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45787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27050" y="2080565"/>
              <a:ext cx="5820956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為國先登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27050" y="5555285"/>
              <a:ext cx="5820956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9"/>
                </a:lnSpc>
              </a:pPr>
              <a:r>
                <a:rPr lang="en-US" sz="354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有功但失德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61883" y="3053625"/>
            <a:ext cx="5156292" cy="5293452"/>
            <a:chOff x="0" y="0"/>
            <a:chExt cx="6875056" cy="705793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875056" cy="7057936"/>
              <a:chOff x="0" y="0"/>
              <a:chExt cx="6875056" cy="705793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875145" cy="7058025"/>
              </a:xfrm>
              <a:custGeom>
                <a:avLst/>
                <a:gdLst/>
                <a:ahLst/>
                <a:cxnLst/>
                <a:rect r="r" b="b" t="t" l="l"/>
                <a:pathLst>
                  <a:path h="7058025" w="6875145">
                    <a:moveTo>
                      <a:pt x="0" y="1145921"/>
                    </a:moveTo>
                    <a:cubicBezTo>
                      <a:pt x="0" y="513080"/>
                      <a:pt x="513080" y="0"/>
                      <a:pt x="1145921" y="0"/>
                    </a:cubicBezTo>
                    <a:lnTo>
                      <a:pt x="5729224" y="0"/>
                    </a:lnTo>
                    <a:cubicBezTo>
                      <a:pt x="6362065" y="0"/>
                      <a:pt x="6875145" y="513080"/>
                      <a:pt x="6875145" y="1145921"/>
                    </a:cubicBezTo>
                    <a:lnTo>
                      <a:pt x="6875145" y="5912104"/>
                    </a:lnTo>
                    <a:cubicBezTo>
                      <a:pt x="6875145" y="6544945"/>
                      <a:pt x="6362065" y="7058025"/>
                      <a:pt x="5729224" y="7058025"/>
                    </a:cubicBezTo>
                    <a:lnTo>
                      <a:pt x="1145921" y="7058025"/>
                    </a:lnTo>
                    <a:cubicBezTo>
                      <a:pt x="513080" y="7057898"/>
                      <a:pt x="0" y="6544945"/>
                      <a:pt x="0" y="5912104"/>
                    </a:cubicBezTo>
                    <a:close/>
                  </a:path>
                </a:pathLst>
              </a:custGeom>
              <a:solidFill>
                <a:srgbClr val="F2E4D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66090" y="3483610"/>
              <a:ext cx="5942876" cy="1370880"/>
              <a:chOff x="0" y="0"/>
              <a:chExt cx="5942876" cy="13708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942880" cy="1370884"/>
              </a:xfrm>
              <a:custGeom>
                <a:avLst/>
                <a:gdLst/>
                <a:ahLst/>
                <a:cxnLst/>
                <a:rect r="r" b="b" t="t" l="l"/>
                <a:pathLst>
                  <a:path h="1370884" w="5942880">
                    <a:moveTo>
                      <a:pt x="0" y="0"/>
                    </a:moveTo>
                    <a:lnTo>
                      <a:pt x="5942880" y="0"/>
                    </a:lnTo>
                    <a:lnTo>
                      <a:pt x="5942880" y="1370884"/>
                    </a:lnTo>
                    <a:lnTo>
                      <a:pt x="0" y="1370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469" r="0" b="-34468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5942876" cy="13708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67"/>
                  </a:lnSpc>
                </a:pPr>
                <a:r>
                  <a:rPr lang="en-US" sz="3639">
                    <a:solidFill>
                      <a:srgbClr val="69655E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直接傷害國家行動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726378" y="617525"/>
              <a:ext cx="1422301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子都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27050" y="2080565"/>
              <a:ext cx="5820956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因私怨射殺同袍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27050" y="5555285"/>
              <a:ext cx="5820956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9"/>
                </a:lnSpc>
              </a:pPr>
              <a:r>
                <a:rPr lang="en-US" sz="354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私怨壞公事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420" y="8118694"/>
            <a:ext cx="11185129" cy="2168306"/>
            <a:chOff x="0" y="0"/>
            <a:chExt cx="2945878" cy="5710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45878" cy="571076"/>
            </a:xfrm>
            <a:custGeom>
              <a:avLst/>
              <a:gdLst/>
              <a:ahLst/>
              <a:cxnLst/>
              <a:rect r="r" b="b" t="t" l="l"/>
              <a:pathLst>
                <a:path h="571076" w="2945878">
                  <a:moveTo>
                    <a:pt x="2945878" y="285538"/>
                  </a:moveTo>
                  <a:lnTo>
                    <a:pt x="2539478" y="0"/>
                  </a:lnTo>
                  <a:lnTo>
                    <a:pt x="2539478" y="203200"/>
                  </a:lnTo>
                  <a:lnTo>
                    <a:pt x="0" y="203200"/>
                  </a:lnTo>
                  <a:lnTo>
                    <a:pt x="0" y="367876"/>
                  </a:lnTo>
                  <a:lnTo>
                    <a:pt x="2539478" y="367876"/>
                  </a:lnTo>
                  <a:lnTo>
                    <a:pt x="2539478" y="571076"/>
                  </a:lnTo>
                  <a:lnTo>
                    <a:pt x="2945878" y="285538"/>
                  </a:lnTo>
                  <a:close/>
                </a:path>
              </a:pathLst>
            </a:custGeom>
            <a:solidFill>
              <a:srgbClr val="45787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46050"/>
              <a:ext cx="2844278" cy="22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391" y="1422918"/>
            <a:ext cx="1636721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三人的行為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5787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53625"/>
            <a:ext cx="5156292" cy="5293452"/>
            <a:chOff x="0" y="0"/>
            <a:chExt cx="6875056" cy="705793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75056" cy="7057936"/>
              <a:chOff x="0" y="0"/>
              <a:chExt cx="6875056" cy="705793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75145" cy="7058025"/>
              </a:xfrm>
              <a:custGeom>
                <a:avLst/>
                <a:gdLst/>
                <a:ahLst/>
                <a:cxnLst/>
                <a:rect r="r" b="b" t="t" l="l"/>
                <a:pathLst>
                  <a:path h="7058025" w="6875145">
                    <a:moveTo>
                      <a:pt x="0" y="1145921"/>
                    </a:moveTo>
                    <a:cubicBezTo>
                      <a:pt x="0" y="513080"/>
                      <a:pt x="513080" y="0"/>
                      <a:pt x="1145921" y="0"/>
                    </a:cubicBezTo>
                    <a:lnTo>
                      <a:pt x="5729224" y="0"/>
                    </a:lnTo>
                    <a:cubicBezTo>
                      <a:pt x="6362065" y="0"/>
                      <a:pt x="6875145" y="513080"/>
                      <a:pt x="6875145" y="1145921"/>
                    </a:cubicBezTo>
                    <a:lnTo>
                      <a:pt x="6875145" y="5912104"/>
                    </a:lnTo>
                    <a:cubicBezTo>
                      <a:pt x="6875145" y="6544945"/>
                      <a:pt x="6362065" y="7058025"/>
                      <a:pt x="5729224" y="7058025"/>
                    </a:cubicBezTo>
                    <a:lnTo>
                      <a:pt x="1145921" y="7058025"/>
                    </a:lnTo>
                    <a:cubicBezTo>
                      <a:pt x="513080" y="7057898"/>
                      <a:pt x="0" y="6544945"/>
                      <a:pt x="0" y="591210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66090" y="3483610"/>
              <a:ext cx="5942876" cy="1370880"/>
              <a:chOff x="0" y="0"/>
              <a:chExt cx="5942876" cy="13708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942880" cy="1370884"/>
              </a:xfrm>
              <a:custGeom>
                <a:avLst/>
                <a:gdLst/>
                <a:ahLst/>
                <a:cxnLst/>
                <a:rect r="r" b="b" t="t" l="l"/>
                <a:pathLst>
                  <a:path h="1370884" w="5942880">
                    <a:moveTo>
                      <a:pt x="0" y="0"/>
                    </a:moveTo>
                    <a:lnTo>
                      <a:pt x="5942880" y="0"/>
                    </a:lnTo>
                    <a:lnTo>
                      <a:pt x="5942880" y="1370884"/>
                    </a:lnTo>
                    <a:lnTo>
                      <a:pt x="0" y="1370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469" r="0" b="-34468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5942876" cy="13708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67"/>
                  </a:lnSpc>
                </a:pPr>
                <a:r>
                  <a:rPr lang="en-US" sz="3639">
                    <a:solidFill>
                      <a:srgbClr val="69655E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但此前也參與爭車</a:t>
                </a: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370778" y="617525"/>
              <a:ext cx="2133501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45787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27050" y="2080565"/>
              <a:ext cx="5820956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為國先登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27050" y="5555285"/>
              <a:ext cx="5820956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9"/>
                </a:lnSpc>
              </a:pPr>
              <a:r>
                <a:rPr lang="en-US" sz="354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有功但失德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61883" y="3053625"/>
            <a:ext cx="5156292" cy="5293452"/>
            <a:chOff x="0" y="0"/>
            <a:chExt cx="6875056" cy="705793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875056" cy="7057936"/>
              <a:chOff x="0" y="0"/>
              <a:chExt cx="6875056" cy="705793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875145" cy="7058025"/>
              </a:xfrm>
              <a:custGeom>
                <a:avLst/>
                <a:gdLst/>
                <a:ahLst/>
                <a:cxnLst/>
                <a:rect r="r" b="b" t="t" l="l"/>
                <a:pathLst>
                  <a:path h="7058025" w="6875145">
                    <a:moveTo>
                      <a:pt x="0" y="1145921"/>
                    </a:moveTo>
                    <a:cubicBezTo>
                      <a:pt x="0" y="513080"/>
                      <a:pt x="513080" y="0"/>
                      <a:pt x="1145921" y="0"/>
                    </a:cubicBezTo>
                    <a:lnTo>
                      <a:pt x="5729224" y="0"/>
                    </a:lnTo>
                    <a:cubicBezTo>
                      <a:pt x="6362065" y="0"/>
                      <a:pt x="6875145" y="513080"/>
                      <a:pt x="6875145" y="1145921"/>
                    </a:cubicBezTo>
                    <a:lnTo>
                      <a:pt x="6875145" y="5912104"/>
                    </a:lnTo>
                    <a:cubicBezTo>
                      <a:pt x="6875145" y="6544945"/>
                      <a:pt x="6362065" y="7058025"/>
                      <a:pt x="5729224" y="7058025"/>
                    </a:cubicBezTo>
                    <a:lnTo>
                      <a:pt x="1145921" y="7058025"/>
                    </a:lnTo>
                    <a:cubicBezTo>
                      <a:pt x="513080" y="7057898"/>
                      <a:pt x="0" y="6544945"/>
                      <a:pt x="0" y="5912104"/>
                    </a:cubicBezTo>
                    <a:close/>
                  </a:path>
                </a:pathLst>
              </a:custGeom>
              <a:solidFill>
                <a:srgbClr val="F2E4D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466090" y="3483610"/>
              <a:ext cx="5942876" cy="1370880"/>
              <a:chOff x="0" y="0"/>
              <a:chExt cx="5942876" cy="13708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942880" cy="1370884"/>
              </a:xfrm>
              <a:custGeom>
                <a:avLst/>
                <a:gdLst/>
                <a:ahLst/>
                <a:cxnLst/>
                <a:rect r="r" b="b" t="t" l="l"/>
                <a:pathLst>
                  <a:path h="1370884" w="5942880">
                    <a:moveTo>
                      <a:pt x="0" y="0"/>
                    </a:moveTo>
                    <a:lnTo>
                      <a:pt x="5942880" y="0"/>
                    </a:lnTo>
                    <a:lnTo>
                      <a:pt x="5942880" y="1370884"/>
                    </a:lnTo>
                    <a:lnTo>
                      <a:pt x="0" y="1370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469" r="0" b="-34468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5942876" cy="13708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67"/>
                  </a:lnSpc>
                </a:pPr>
                <a:r>
                  <a:rPr lang="en-US" sz="3639">
                    <a:solidFill>
                      <a:srgbClr val="69655E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直接傷害國家行動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726378" y="617525"/>
              <a:ext cx="1422301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子都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27050" y="2080565"/>
              <a:ext cx="5820956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因私怨射殺同袍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27050" y="5555285"/>
              <a:ext cx="5820956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9"/>
                </a:lnSpc>
              </a:pPr>
              <a:r>
                <a:rPr lang="en-US" sz="354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私怨壞公事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95057" y="3053625"/>
            <a:ext cx="5156292" cy="5293452"/>
            <a:chOff x="0" y="0"/>
            <a:chExt cx="6875056" cy="705793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875056" cy="7057936"/>
              <a:chOff x="0" y="0"/>
              <a:chExt cx="6875056" cy="705793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875145" cy="7058025"/>
              </a:xfrm>
              <a:custGeom>
                <a:avLst/>
                <a:gdLst/>
                <a:ahLst/>
                <a:cxnLst/>
                <a:rect r="r" b="b" t="t" l="l"/>
                <a:pathLst>
                  <a:path h="7058025" w="6875145">
                    <a:moveTo>
                      <a:pt x="0" y="1145921"/>
                    </a:moveTo>
                    <a:cubicBezTo>
                      <a:pt x="0" y="513080"/>
                      <a:pt x="513080" y="0"/>
                      <a:pt x="1145921" y="0"/>
                    </a:cubicBezTo>
                    <a:lnTo>
                      <a:pt x="5729224" y="0"/>
                    </a:lnTo>
                    <a:cubicBezTo>
                      <a:pt x="6362065" y="0"/>
                      <a:pt x="6875145" y="513080"/>
                      <a:pt x="6875145" y="1145921"/>
                    </a:cubicBezTo>
                    <a:lnTo>
                      <a:pt x="6875145" y="5912104"/>
                    </a:lnTo>
                    <a:cubicBezTo>
                      <a:pt x="6875145" y="6544945"/>
                      <a:pt x="6362065" y="7058025"/>
                      <a:pt x="5729224" y="7058025"/>
                    </a:cubicBezTo>
                    <a:lnTo>
                      <a:pt x="1145921" y="7058025"/>
                    </a:lnTo>
                    <a:cubicBezTo>
                      <a:pt x="513080" y="7057898"/>
                      <a:pt x="0" y="6544945"/>
                      <a:pt x="0" y="5912104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3045" y="3528968"/>
              <a:ext cx="6408966" cy="1370880"/>
              <a:chOff x="0" y="0"/>
              <a:chExt cx="6408966" cy="1370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408970" cy="1370884"/>
              </a:xfrm>
              <a:custGeom>
                <a:avLst/>
                <a:gdLst/>
                <a:ahLst/>
                <a:cxnLst/>
                <a:rect r="r" b="b" t="t" l="l"/>
                <a:pathLst>
                  <a:path h="1370884" w="6408970">
                    <a:moveTo>
                      <a:pt x="0" y="0"/>
                    </a:moveTo>
                    <a:lnTo>
                      <a:pt x="6408970" y="0"/>
                    </a:lnTo>
                    <a:lnTo>
                      <a:pt x="6408970" y="1370884"/>
                    </a:lnTo>
                    <a:lnTo>
                      <a:pt x="0" y="1370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4469" r="7272" b="-34468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6408966" cy="13708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67"/>
                  </a:lnSpc>
                </a:pPr>
                <a:r>
                  <a:rPr lang="en-US" sz="3639">
                    <a:solidFill>
                      <a:srgbClr val="69655E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讓士兵們接續原先行動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370778" y="617525"/>
              <a:ext cx="2133501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45787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瑕叔盈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27050" y="2080565"/>
              <a:ext cx="5820956" cy="74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9"/>
                </a:lnSpc>
              </a:pPr>
              <a:r>
                <a:rPr lang="en-US" sz="374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接君旗、號召全軍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27050" y="5555285"/>
              <a:ext cx="5820956" cy="71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9"/>
                </a:lnSpc>
              </a:pPr>
              <a:r>
                <a:rPr lang="en-US" sz="3549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扭轉危局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6420" y="8118694"/>
            <a:ext cx="16584929" cy="2168306"/>
            <a:chOff x="0" y="0"/>
            <a:chExt cx="4368047" cy="5710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68047" cy="571076"/>
            </a:xfrm>
            <a:custGeom>
              <a:avLst/>
              <a:gdLst/>
              <a:ahLst/>
              <a:cxnLst/>
              <a:rect r="r" b="b" t="t" l="l"/>
              <a:pathLst>
                <a:path h="571076" w="4368047">
                  <a:moveTo>
                    <a:pt x="4368047" y="285538"/>
                  </a:moveTo>
                  <a:lnTo>
                    <a:pt x="3961647" y="0"/>
                  </a:lnTo>
                  <a:lnTo>
                    <a:pt x="3961647" y="203200"/>
                  </a:lnTo>
                  <a:lnTo>
                    <a:pt x="0" y="203200"/>
                  </a:lnTo>
                  <a:lnTo>
                    <a:pt x="0" y="367876"/>
                  </a:lnTo>
                  <a:lnTo>
                    <a:pt x="3961647" y="367876"/>
                  </a:lnTo>
                  <a:lnTo>
                    <a:pt x="3961647" y="571076"/>
                  </a:lnTo>
                  <a:lnTo>
                    <a:pt x="4368047" y="285538"/>
                  </a:lnTo>
                  <a:close/>
                </a:path>
              </a:pathLst>
            </a:custGeom>
            <a:solidFill>
              <a:srgbClr val="457875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46050"/>
              <a:ext cx="4266447" cy="221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60391" y="1422918"/>
            <a:ext cx="1636721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9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三人的行為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22554" y="4718045"/>
            <a:ext cx="3330912" cy="2411986"/>
            <a:chOff x="0" y="0"/>
            <a:chExt cx="4441216" cy="3215981"/>
          </a:xfrm>
        </p:grpSpPr>
        <p:sp>
          <p:nvSpPr>
            <p:cNvPr name="AutoShape 21" id="21"/>
            <p:cNvSpPr/>
            <p:nvPr/>
          </p:nvSpPr>
          <p:spPr>
            <a:xfrm>
              <a:off x="19049" y="239"/>
              <a:ext cx="40313" cy="3215503"/>
            </a:xfrm>
            <a:prstGeom prst="line">
              <a:avLst/>
            </a:prstGeom>
            <a:ln cap="rnd" w="38100">
              <a:solidFill>
                <a:srgbClr val="A14D3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99135" y="1040535"/>
              <a:ext cx="4242081" cy="76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2"/>
                </a:lnSpc>
              </a:pPr>
              <a:r>
                <a:rPr lang="en-US" sz="3708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爭車 → 懷怨</a:t>
              </a:r>
            </a:p>
          </p:txBody>
        </p:sp>
      </p:grp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22554" y="4718045"/>
            <a:ext cx="3330912" cy="2411986"/>
            <a:chOff x="0" y="0"/>
            <a:chExt cx="4441216" cy="3215981"/>
          </a:xfrm>
        </p:grpSpPr>
        <p:sp>
          <p:nvSpPr>
            <p:cNvPr name="AutoShape 21" id="21"/>
            <p:cNvSpPr/>
            <p:nvPr/>
          </p:nvSpPr>
          <p:spPr>
            <a:xfrm>
              <a:off x="19049" y="239"/>
              <a:ext cx="40313" cy="3215503"/>
            </a:xfrm>
            <a:prstGeom prst="line">
              <a:avLst/>
            </a:prstGeom>
            <a:ln cap="rnd" w="38100">
              <a:solidFill>
                <a:srgbClr val="A14D3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99135" y="1040535"/>
              <a:ext cx="4242081" cy="76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2"/>
                </a:lnSpc>
              </a:pPr>
              <a:r>
                <a:rPr lang="en-US" sz="3708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爭車 → 懷怨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98554" y="3782042"/>
            <a:ext cx="15240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9"/>
              </a:lnSpc>
              <a:spcBef>
                <a:spcPct val="0"/>
              </a:spcBef>
            </a:pPr>
            <a:r>
              <a:rPr lang="en-US" b="true" sz="1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🗡️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22554" y="4718045"/>
            <a:ext cx="3330912" cy="2411986"/>
            <a:chOff x="0" y="0"/>
            <a:chExt cx="4441216" cy="3215981"/>
          </a:xfrm>
        </p:grpSpPr>
        <p:sp>
          <p:nvSpPr>
            <p:cNvPr name="AutoShape 21" id="21"/>
            <p:cNvSpPr/>
            <p:nvPr/>
          </p:nvSpPr>
          <p:spPr>
            <a:xfrm>
              <a:off x="19049" y="239"/>
              <a:ext cx="40313" cy="3215503"/>
            </a:xfrm>
            <a:prstGeom prst="line">
              <a:avLst/>
            </a:prstGeom>
            <a:ln cap="rnd" w="38100">
              <a:solidFill>
                <a:srgbClr val="A14D3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99135" y="1040535"/>
              <a:ext cx="4242081" cy="76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2"/>
                </a:lnSpc>
              </a:pPr>
              <a:r>
                <a:rPr lang="en-US" sz="3708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爭車 → 懷怨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98554" y="4765936"/>
            <a:ext cx="15240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9"/>
              </a:lnSpc>
              <a:spcBef>
                <a:spcPct val="0"/>
              </a:spcBef>
            </a:pPr>
            <a:r>
              <a:rPr lang="en-US" b="true" sz="1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🗡️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22554" y="4718045"/>
            <a:ext cx="3330912" cy="2411986"/>
            <a:chOff x="0" y="0"/>
            <a:chExt cx="4441216" cy="3215981"/>
          </a:xfrm>
        </p:grpSpPr>
        <p:sp>
          <p:nvSpPr>
            <p:cNvPr name="AutoShape 21" id="21"/>
            <p:cNvSpPr/>
            <p:nvPr/>
          </p:nvSpPr>
          <p:spPr>
            <a:xfrm>
              <a:off x="19049" y="239"/>
              <a:ext cx="40313" cy="3215503"/>
            </a:xfrm>
            <a:prstGeom prst="line">
              <a:avLst/>
            </a:prstGeom>
            <a:ln cap="rnd" w="38100">
              <a:solidFill>
                <a:srgbClr val="A14D3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99135" y="1040535"/>
              <a:ext cx="4242081" cy="76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2"/>
                </a:lnSpc>
              </a:pPr>
              <a:r>
                <a:rPr lang="en-US" sz="3708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爭車 → 懷怨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98554" y="5857363"/>
            <a:ext cx="15240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9"/>
              </a:lnSpc>
              <a:spcBef>
                <a:spcPct val="0"/>
              </a:spcBef>
            </a:pPr>
            <a:r>
              <a:rPr lang="en-US" b="true" sz="1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🗡️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A14D34"/>
              </a:solidFill>
              <a:ln w="13335" cap="sq">
                <a:solidFill>
                  <a:srgbClr val="A14D34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22554" y="4718045"/>
            <a:ext cx="3330912" cy="2411986"/>
            <a:chOff x="0" y="0"/>
            <a:chExt cx="4441216" cy="3215981"/>
          </a:xfrm>
        </p:grpSpPr>
        <p:sp>
          <p:nvSpPr>
            <p:cNvPr name="AutoShape 21" id="21"/>
            <p:cNvSpPr/>
            <p:nvPr/>
          </p:nvSpPr>
          <p:spPr>
            <a:xfrm>
              <a:off x="19049" y="239"/>
              <a:ext cx="40313" cy="3215503"/>
            </a:xfrm>
            <a:prstGeom prst="line">
              <a:avLst/>
            </a:prstGeom>
            <a:ln cap="rnd" w="38100">
              <a:solidFill>
                <a:srgbClr val="A14D3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99135" y="1040535"/>
              <a:ext cx="4242081" cy="76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2"/>
                </a:lnSpc>
              </a:pPr>
              <a:r>
                <a:rPr lang="en-US" sz="3708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爭車 → 懷怨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98554" y="8004356"/>
            <a:ext cx="15240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9"/>
              </a:lnSpc>
              <a:spcBef>
                <a:spcPct val="0"/>
              </a:spcBef>
            </a:pPr>
            <a:r>
              <a:rPr lang="en-US" b="true" sz="1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🗡️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1666" y="1247638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人物關係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6153" y="4527248"/>
            <a:ext cx="4606960" cy="2128448"/>
            <a:chOff x="0" y="0"/>
            <a:chExt cx="4589056" cy="21201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89018" cy="2120138"/>
            </a:xfrm>
            <a:custGeom>
              <a:avLst/>
              <a:gdLst/>
              <a:ahLst/>
              <a:cxnLst/>
              <a:rect r="r" b="b" t="t" l="l"/>
              <a:pathLst>
                <a:path h="2120138" w="4589018">
                  <a:moveTo>
                    <a:pt x="0" y="353314"/>
                  </a:moveTo>
                  <a:cubicBezTo>
                    <a:pt x="0" y="158242"/>
                    <a:pt x="158242" y="0"/>
                    <a:pt x="353314" y="0"/>
                  </a:cubicBezTo>
                  <a:lnTo>
                    <a:pt x="4235704" y="0"/>
                  </a:lnTo>
                  <a:cubicBezTo>
                    <a:pt x="4430903" y="0"/>
                    <a:pt x="4589018" y="158242"/>
                    <a:pt x="4589018" y="353314"/>
                  </a:cubicBezTo>
                  <a:lnTo>
                    <a:pt x="4589018" y="1766824"/>
                  </a:lnTo>
                  <a:cubicBezTo>
                    <a:pt x="4589018" y="1962023"/>
                    <a:pt x="4430776" y="2120138"/>
                    <a:pt x="4235704" y="2120138"/>
                  </a:cubicBezTo>
                  <a:lnTo>
                    <a:pt x="353314" y="2120138"/>
                  </a:lnTo>
                  <a:cubicBezTo>
                    <a:pt x="158242" y="2120138"/>
                    <a:pt x="0" y="1962023"/>
                    <a:pt x="0" y="1766824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258288" y="4741209"/>
            <a:ext cx="1642690" cy="67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sz="4311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鄭莊公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666" y="5537139"/>
            <a:ext cx="3915935" cy="9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鄭國國君</a:t>
            </a:r>
          </a:p>
          <a:p>
            <a:pPr algn="ctr">
              <a:lnSpc>
                <a:spcPts val="4042"/>
              </a:lnSpc>
            </a:pPr>
            <a:r>
              <a:rPr lang="en-US" sz="3208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發動伐許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242506" y="2631811"/>
            <a:ext cx="6128049" cy="6626489"/>
            <a:chOff x="0" y="0"/>
            <a:chExt cx="8170732" cy="883531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28118" y="0"/>
              <a:ext cx="6142614" cy="2837931"/>
              <a:chOff x="0" y="0"/>
              <a:chExt cx="4589056" cy="21201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4195" y="447323"/>
              <a:ext cx="5110460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公孫閼（子都）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44195" y="1543341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028118" y="5997388"/>
              <a:ext cx="6142614" cy="2837931"/>
              <a:chOff x="0" y="0"/>
              <a:chExt cx="4589056" cy="21201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A14D34"/>
              </a:solidFill>
              <a:ln w="13335" cap="sq">
                <a:solidFill>
                  <a:srgbClr val="A14D34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004298" y="6526710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544195" y="7621597"/>
              <a:ext cx="5221246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FFFFFF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165481" y="1418965"/>
              <a:ext cx="1862637" cy="1438404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2372" y="5259556"/>
              <a:ext cx="2015746" cy="1721633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22554" y="4718045"/>
            <a:ext cx="3330912" cy="2411986"/>
            <a:chOff x="0" y="0"/>
            <a:chExt cx="4441216" cy="3215981"/>
          </a:xfrm>
        </p:grpSpPr>
        <p:sp>
          <p:nvSpPr>
            <p:cNvPr name="AutoShape 21" id="21"/>
            <p:cNvSpPr/>
            <p:nvPr/>
          </p:nvSpPr>
          <p:spPr>
            <a:xfrm>
              <a:off x="19049" y="239"/>
              <a:ext cx="40313" cy="3215503"/>
            </a:xfrm>
            <a:prstGeom prst="line">
              <a:avLst/>
            </a:prstGeom>
            <a:ln cap="rnd" w="38100">
              <a:solidFill>
                <a:srgbClr val="A14D3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199135" y="1040535"/>
              <a:ext cx="4242081" cy="768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72"/>
                </a:lnSpc>
              </a:pPr>
              <a:r>
                <a:rPr lang="en-US" sz="3708" b="true">
                  <a:solidFill>
                    <a:srgbClr val="A14D3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爭車 → 懷怨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98554" y="8004356"/>
            <a:ext cx="152400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9"/>
              </a:lnSpc>
              <a:spcBef>
                <a:spcPct val="0"/>
              </a:spcBef>
            </a:pPr>
            <a:r>
              <a:rPr lang="en-US" b="true" sz="120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🗡️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368493" y="4153825"/>
            <a:ext cx="6306157" cy="4047261"/>
            <a:chOff x="0" y="0"/>
            <a:chExt cx="8408210" cy="5396348"/>
          </a:xfrm>
        </p:grpSpPr>
        <p:sp>
          <p:nvSpPr>
            <p:cNvPr name="AutoShape 25" id="25"/>
            <p:cNvSpPr/>
            <p:nvPr/>
          </p:nvSpPr>
          <p:spPr>
            <a:xfrm flipV="true">
              <a:off x="14228" y="2699398"/>
              <a:ext cx="2389914" cy="2684282"/>
            </a:xfrm>
            <a:prstGeom prst="line">
              <a:avLst/>
            </a:prstGeom>
            <a:ln cap="rnd" w="38100">
              <a:solidFill>
                <a:srgbClr val="647A73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2265596" y="0"/>
              <a:ext cx="6142614" cy="2837931"/>
              <a:chOff x="0" y="0"/>
              <a:chExt cx="4589056" cy="212017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589018" cy="2120138"/>
              </a:xfrm>
              <a:custGeom>
                <a:avLst/>
                <a:gdLst/>
                <a:ahLst/>
                <a:cxnLst/>
                <a:rect r="r" b="b" t="t" l="l"/>
                <a:pathLst>
                  <a:path h="2120138" w="4589018">
                    <a:moveTo>
                      <a:pt x="0" y="353314"/>
                    </a:moveTo>
                    <a:cubicBezTo>
                      <a:pt x="0" y="158242"/>
                      <a:pt x="158242" y="0"/>
                      <a:pt x="353314" y="0"/>
                    </a:cubicBezTo>
                    <a:lnTo>
                      <a:pt x="4235704" y="0"/>
                    </a:lnTo>
                    <a:cubicBezTo>
                      <a:pt x="4430903" y="0"/>
                      <a:pt x="4589018" y="158242"/>
                      <a:pt x="4589018" y="353314"/>
                    </a:cubicBezTo>
                    <a:lnTo>
                      <a:pt x="4589018" y="1766824"/>
                    </a:lnTo>
                    <a:cubicBezTo>
                      <a:pt x="4589018" y="1962023"/>
                      <a:pt x="4430776" y="2120138"/>
                      <a:pt x="4235704" y="2120138"/>
                    </a:cubicBezTo>
                    <a:lnTo>
                      <a:pt x="353314" y="2120138"/>
                    </a:lnTo>
                    <a:cubicBezTo>
                      <a:pt x="158242" y="2120138"/>
                      <a:pt x="0" y="1962023"/>
                      <a:pt x="0" y="17668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" cap="sq">
                <a:solidFill>
                  <a:srgbClr val="EEE8DD"/>
                </a:solidFill>
                <a:prstDash val="solid"/>
                <a:miter/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4241776" y="297727"/>
              <a:ext cx="2190254" cy="889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32"/>
                </a:lnSpc>
              </a:pPr>
              <a:r>
                <a:rPr lang="en-US" sz="4311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瑕叔盈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726280" y="1335562"/>
              <a:ext cx="5221246" cy="13140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9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鄭臣</a:t>
              </a:r>
            </a:p>
            <a:p>
              <a:pPr algn="ctr">
                <a:lnSpc>
                  <a:spcPts val="4042"/>
                </a:lnSpc>
              </a:pPr>
              <a:r>
                <a:rPr lang="en-US" sz="3208">
                  <a:solidFill>
                    <a:srgbClr val="6D6A64"/>
                  </a:solidFill>
                  <a:latin typeface="芫荽"/>
                  <a:ea typeface="芫荽"/>
                  <a:cs typeface="芫荽"/>
                  <a:sym typeface="芫荽"/>
                </a:rPr>
                <a:t>後來接旗登城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033625" y="3945665"/>
              <a:ext cx="3385311" cy="768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71"/>
                </a:lnSpc>
              </a:pPr>
              <a:r>
                <a:rPr lang="en-US" sz="3707" b="true">
                  <a:solidFill>
                    <a:srgbClr val="6D6A6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後續攻城</a:t>
              </a:r>
            </a:p>
          </p:txBody>
        </p:sp>
      </p:grp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848874"/>
            <a:ext cx="16367217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5"/>
              </a:lnSpc>
            </a:pPr>
            <a:r>
              <a:rPr lang="en-US" sz="45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三位臣子之分析：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16279" y="2385447"/>
            <a:ext cx="6051498" cy="7257276"/>
            <a:chOff x="0" y="0"/>
            <a:chExt cx="8068664" cy="967636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341992" y="0"/>
              <a:ext cx="7726672" cy="9676369"/>
              <a:chOff x="0" y="0"/>
              <a:chExt cx="7726672" cy="967636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726761" cy="9676457"/>
              </a:xfrm>
              <a:custGeom>
                <a:avLst/>
                <a:gdLst/>
                <a:ahLst/>
                <a:cxnLst/>
                <a:rect r="r" b="b" t="t" l="l"/>
                <a:pathLst>
                  <a:path h="9676457" w="7726761">
                    <a:moveTo>
                      <a:pt x="0" y="1612841"/>
                    </a:moveTo>
                    <a:cubicBezTo>
                      <a:pt x="0" y="722042"/>
                      <a:pt x="519744" y="0"/>
                      <a:pt x="1160964" y="0"/>
                    </a:cubicBezTo>
                    <a:lnTo>
                      <a:pt x="6565800" y="0"/>
                    </a:lnTo>
                    <a:cubicBezTo>
                      <a:pt x="7206889" y="0"/>
                      <a:pt x="7726761" y="722042"/>
                      <a:pt x="7726761" y="1612841"/>
                    </a:cubicBezTo>
                    <a:lnTo>
                      <a:pt x="7726761" y="8063656"/>
                    </a:lnTo>
                    <a:cubicBezTo>
                      <a:pt x="7726761" y="8954272"/>
                      <a:pt x="7207021" y="9676457"/>
                      <a:pt x="6565800" y="9676457"/>
                    </a:cubicBezTo>
                    <a:lnTo>
                      <a:pt x="1160964" y="9676457"/>
                    </a:lnTo>
                    <a:cubicBezTo>
                      <a:pt x="519744" y="9676313"/>
                      <a:pt x="0" y="8954272"/>
                      <a:pt x="0" y="8063656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960482" y="680390"/>
              <a:ext cx="6186716" cy="9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21"/>
                </a:lnSpc>
              </a:pPr>
              <a:r>
                <a:rPr lang="en-US" sz="469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潁考叔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072005"/>
              <a:ext cx="8068664" cy="3757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有先登許國城牆之功。</a:t>
              </a:r>
            </a:p>
            <a:p>
              <a:pPr algn="l">
                <a:lnSpc>
                  <a:spcPts val="2772"/>
                </a:lnSpc>
              </a:pPr>
            </a:p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他的孝心無法推及到對同僚的態度。</a:t>
              </a:r>
            </a:p>
            <a:p>
              <a:pPr algn="just">
                <a:lnSpc>
                  <a:spcPts val="4913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705656" y="2335280"/>
              <a:ext cx="2696369" cy="10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5308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勇</a:t>
              </a:r>
              <a:r>
                <a:rPr lang="en-US" sz="5308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、孝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35335" y="2385447"/>
            <a:ext cx="5795004" cy="7257276"/>
            <a:chOff x="0" y="0"/>
            <a:chExt cx="7726672" cy="967636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726672" cy="9676369"/>
              <a:chOff x="0" y="0"/>
              <a:chExt cx="7726672" cy="967636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726761" cy="9676457"/>
              </a:xfrm>
              <a:custGeom>
                <a:avLst/>
                <a:gdLst/>
                <a:ahLst/>
                <a:cxnLst/>
                <a:rect r="r" b="b" t="t" l="l"/>
                <a:pathLst>
                  <a:path h="9676457" w="7726761">
                    <a:moveTo>
                      <a:pt x="0" y="1612841"/>
                    </a:moveTo>
                    <a:cubicBezTo>
                      <a:pt x="0" y="722042"/>
                      <a:pt x="519744" y="0"/>
                      <a:pt x="1160964" y="0"/>
                    </a:cubicBezTo>
                    <a:lnTo>
                      <a:pt x="6565800" y="0"/>
                    </a:lnTo>
                    <a:cubicBezTo>
                      <a:pt x="7206889" y="0"/>
                      <a:pt x="7726761" y="722042"/>
                      <a:pt x="7726761" y="1612841"/>
                    </a:cubicBezTo>
                    <a:lnTo>
                      <a:pt x="7726761" y="8063656"/>
                    </a:lnTo>
                    <a:cubicBezTo>
                      <a:pt x="7726761" y="8954272"/>
                      <a:pt x="7207021" y="9676457"/>
                      <a:pt x="6565800" y="9676457"/>
                    </a:cubicBezTo>
                    <a:lnTo>
                      <a:pt x="1160964" y="9676457"/>
                    </a:lnTo>
                    <a:cubicBezTo>
                      <a:pt x="519744" y="9676313"/>
                      <a:pt x="0" y="8954272"/>
                      <a:pt x="0" y="8063656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618490" y="680390"/>
              <a:ext cx="6186716" cy="9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21"/>
                </a:lnSpc>
              </a:pPr>
              <a:r>
                <a:rPr lang="en-US" sz="469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公孫閼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072005"/>
              <a:ext cx="7362934" cy="5040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因一時之忿在戰場上殺害自己人。</a:t>
              </a:r>
            </a:p>
            <a:p>
              <a:pPr algn="l">
                <a:lnSpc>
                  <a:spcPts val="2772"/>
                </a:lnSpc>
              </a:pPr>
            </a:p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為私怨壞公事。</a:t>
              </a:r>
            </a:p>
            <a:p>
              <a:pPr algn="l">
                <a:lnSpc>
                  <a:spcPts val="2771"/>
                </a:lnSpc>
              </a:pPr>
            </a:p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三人中品格最差的。（我認為）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363614" y="2335280"/>
              <a:ext cx="2696468" cy="10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5308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忿</a:t>
              </a:r>
              <a:r>
                <a:rPr lang="en-US" sz="5308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、妒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77964" y="2385447"/>
            <a:ext cx="6051498" cy="7257276"/>
            <a:chOff x="0" y="0"/>
            <a:chExt cx="8068664" cy="967636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341992" y="0"/>
              <a:ext cx="7726672" cy="9676369"/>
              <a:chOff x="0" y="0"/>
              <a:chExt cx="7726672" cy="967636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726761" cy="9676457"/>
              </a:xfrm>
              <a:custGeom>
                <a:avLst/>
                <a:gdLst/>
                <a:ahLst/>
                <a:cxnLst/>
                <a:rect r="r" b="b" t="t" l="l"/>
                <a:pathLst>
                  <a:path h="9676457" w="7726761">
                    <a:moveTo>
                      <a:pt x="0" y="1612841"/>
                    </a:moveTo>
                    <a:cubicBezTo>
                      <a:pt x="0" y="722042"/>
                      <a:pt x="519744" y="0"/>
                      <a:pt x="1160964" y="0"/>
                    </a:cubicBezTo>
                    <a:lnTo>
                      <a:pt x="6565800" y="0"/>
                    </a:lnTo>
                    <a:cubicBezTo>
                      <a:pt x="7206889" y="0"/>
                      <a:pt x="7726761" y="722042"/>
                      <a:pt x="7726761" y="1612841"/>
                    </a:cubicBezTo>
                    <a:lnTo>
                      <a:pt x="7726761" y="8063656"/>
                    </a:lnTo>
                    <a:cubicBezTo>
                      <a:pt x="7726761" y="8954272"/>
                      <a:pt x="7207021" y="9676457"/>
                      <a:pt x="6565800" y="9676457"/>
                    </a:cubicBezTo>
                    <a:lnTo>
                      <a:pt x="1160964" y="9676457"/>
                    </a:lnTo>
                    <a:cubicBezTo>
                      <a:pt x="519744" y="9676313"/>
                      <a:pt x="0" y="8954272"/>
                      <a:pt x="0" y="8063656"/>
                    </a:cubicBezTo>
                    <a:close/>
                  </a:path>
                </a:pathLst>
              </a:custGeom>
              <a:solidFill>
                <a:srgbClr val="E3EBE7"/>
              </a:solidFill>
              <a:ln w="13335" cap="sq">
                <a:solidFill>
                  <a:srgbClr val="E3EBE7"/>
                </a:solidFill>
                <a:prstDash val="solid"/>
                <a:miter/>
              </a:ln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960482" y="680390"/>
              <a:ext cx="6186716" cy="971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21"/>
                </a:lnSpc>
              </a:pPr>
              <a:r>
                <a:rPr lang="en-US" sz="4699" b="true">
                  <a:solidFill>
                    <a:srgbClr val="263A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瑕叔盈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4072005"/>
              <a:ext cx="8068664" cy="3757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潁考叔倒下後,他臨危不亂，接續攻城。</a:t>
              </a:r>
            </a:p>
            <a:p>
              <a:pPr algn="l">
                <a:lnSpc>
                  <a:spcPts val="2772"/>
                </a:lnSpc>
              </a:pPr>
            </a:p>
            <a:p>
              <a:pPr algn="l" marL="842004" indent="-421002" lvl="1">
                <a:lnSpc>
                  <a:spcPts val="4913"/>
                </a:lnSpc>
                <a:buFont typeface="Arial"/>
                <a:buChar char="•"/>
              </a:pPr>
              <a:r>
                <a:rPr lang="en-US" sz="38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幫忙善後，穩定軍心。</a:t>
              </a:r>
            </a:p>
            <a:p>
              <a:pPr algn="just">
                <a:lnSpc>
                  <a:spcPts val="4913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705606" y="2335280"/>
              <a:ext cx="2696468" cy="10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69"/>
                </a:lnSpc>
                <a:spcBef>
                  <a:spcPct val="0"/>
                </a:spcBef>
              </a:pPr>
              <a:r>
                <a:rPr lang="en-US" sz="5308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智</a:t>
              </a:r>
              <a:r>
                <a:rPr lang="en-US" sz="5308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、穩</a:t>
              </a:r>
            </a:p>
          </p:txBody>
        </p:sp>
      </p:grp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6240" cy="10286457"/>
            <a:chOff x="0" y="0"/>
            <a:chExt cx="328320" cy="13715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" cy="13715237"/>
            </a:xfrm>
            <a:custGeom>
              <a:avLst/>
              <a:gdLst/>
              <a:ahLst/>
              <a:cxnLst/>
              <a:rect r="r" b="b" t="t" l="l"/>
              <a:pathLst>
                <a:path h="13715237" w="328295">
                  <a:moveTo>
                    <a:pt x="0" y="0"/>
                  </a:moveTo>
                  <a:lnTo>
                    <a:pt x="328295" y="0"/>
                  </a:lnTo>
                  <a:lnTo>
                    <a:pt x="328295" y="13715237"/>
                  </a:lnTo>
                  <a:lnTo>
                    <a:pt x="0" y="13715237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69271" y="2498636"/>
            <a:ext cx="141677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9"/>
              </a:lnSpc>
            </a:pPr>
            <a:r>
              <a:rPr lang="en-US" sz="6549" b="true">
                <a:solidFill>
                  <a:srgbClr val="A14D34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9271" y="4176200"/>
            <a:ext cx="549243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9"/>
              </a:lnSpc>
            </a:pPr>
            <a:r>
              <a:rPr lang="en-US" sz="904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問題討論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0537" y="2993936"/>
            <a:ext cx="1513277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9"/>
              </a:lnSpc>
            </a:pP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5059" y="1187682"/>
            <a:ext cx="163672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為什麼打許？誰有資格「討」？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007685"/>
            <a:ext cx="4264752" cy="1411938"/>
            <a:chOff x="0" y="0"/>
            <a:chExt cx="5686336" cy="1882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6425" cy="1882648"/>
            </a:xfrm>
            <a:custGeom>
              <a:avLst/>
              <a:gdLst/>
              <a:ahLst/>
              <a:cxnLst/>
              <a:rect r="r" b="b" t="t" l="l"/>
              <a:pathLst>
                <a:path h="1882648" w="5686425">
                  <a:moveTo>
                    <a:pt x="0" y="313817"/>
                  </a:moveTo>
                  <a:cubicBezTo>
                    <a:pt x="0" y="140462"/>
                    <a:pt x="140462" y="0"/>
                    <a:pt x="313817" y="0"/>
                  </a:cubicBezTo>
                  <a:lnTo>
                    <a:pt x="5372608" y="0"/>
                  </a:lnTo>
                  <a:cubicBezTo>
                    <a:pt x="5545836" y="0"/>
                    <a:pt x="5686425" y="140462"/>
                    <a:pt x="5686425" y="313817"/>
                  </a:cubicBezTo>
                  <a:lnTo>
                    <a:pt x="5686425" y="1568831"/>
                  </a:lnTo>
                  <a:cubicBezTo>
                    <a:pt x="5686425" y="1742059"/>
                    <a:pt x="5545963" y="1882648"/>
                    <a:pt x="5372608" y="1882648"/>
                  </a:cubicBezTo>
                  <a:lnTo>
                    <a:pt x="313817" y="1882648"/>
                  </a:lnTo>
                  <a:cubicBezTo>
                    <a:pt x="140462" y="1882521"/>
                    <a:pt x="0" y="1742059"/>
                    <a:pt x="0" y="1568831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68644" y="3327511"/>
            <a:ext cx="4013952" cy="772287"/>
            <a:chOff x="0" y="0"/>
            <a:chExt cx="5351936" cy="10297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1940" cy="1029720"/>
            </a:xfrm>
            <a:custGeom>
              <a:avLst/>
              <a:gdLst/>
              <a:ahLst/>
              <a:cxnLst/>
              <a:rect r="r" b="b" t="t" l="l"/>
              <a:pathLst>
                <a:path h="1029720" w="5351940">
                  <a:moveTo>
                    <a:pt x="0" y="0"/>
                  </a:moveTo>
                  <a:lnTo>
                    <a:pt x="5351940" y="0"/>
                  </a:lnTo>
                  <a:lnTo>
                    <a:pt x="5351940" y="1029720"/>
                  </a:lnTo>
                  <a:lnTo>
                    <a:pt x="0" y="1029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46" r="6043" b="-439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351936" cy="1029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Q1 為什麼打許？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67387" y="2883132"/>
            <a:ext cx="10629357" cy="1972437"/>
            <a:chOff x="0" y="0"/>
            <a:chExt cx="14172476" cy="26299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72481" cy="2629920"/>
            </a:xfrm>
            <a:custGeom>
              <a:avLst/>
              <a:gdLst/>
              <a:ahLst/>
              <a:cxnLst/>
              <a:rect r="r" b="b" t="t" l="l"/>
              <a:pathLst>
                <a:path h="2629920" w="14172481">
                  <a:moveTo>
                    <a:pt x="0" y="0"/>
                  </a:moveTo>
                  <a:lnTo>
                    <a:pt x="14172481" y="0"/>
                  </a:lnTo>
                  <a:lnTo>
                    <a:pt x="14172481" y="2629920"/>
                  </a:lnTo>
                  <a:lnTo>
                    <a:pt x="0" y="262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25" r="0" b="-362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17247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文本正式理由是「許不共」，因此以「討罪」為名；但後世也質疑這是否只是鄭擴張的正當化語言。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280692"/>
            <a:ext cx="4264752" cy="1411938"/>
            <a:chOff x="0" y="0"/>
            <a:chExt cx="5686336" cy="18825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6425" cy="1882648"/>
            </a:xfrm>
            <a:custGeom>
              <a:avLst/>
              <a:gdLst/>
              <a:ahLst/>
              <a:cxnLst/>
              <a:rect r="r" b="b" t="t" l="l"/>
              <a:pathLst>
                <a:path h="1882648" w="5686425">
                  <a:moveTo>
                    <a:pt x="0" y="313817"/>
                  </a:moveTo>
                  <a:cubicBezTo>
                    <a:pt x="0" y="140462"/>
                    <a:pt x="140462" y="0"/>
                    <a:pt x="313817" y="0"/>
                  </a:cubicBezTo>
                  <a:lnTo>
                    <a:pt x="5372608" y="0"/>
                  </a:lnTo>
                  <a:cubicBezTo>
                    <a:pt x="5545836" y="0"/>
                    <a:pt x="5686425" y="140462"/>
                    <a:pt x="5686425" y="313817"/>
                  </a:cubicBezTo>
                  <a:lnTo>
                    <a:pt x="5686425" y="1568831"/>
                  </a:lnTo>
                  <a:cubicBezTo>
                    <a:pt x="5686425" y="1742059"/>
                    <a:pt x="5545963" y="1882648"/>
                    <a:pt x="5372608" y="1882648"/>
                  </a:cubicBezTo>
                  <a:lnTo>
                    <a:pt x="313817" y="1882648"/>
                  </a:lnTo>
                  <a:cubicBezTo>
                    <a:pt x="140462" y="1882521"/>
                    <a:pt x="0" y="1742059"/>
                    <a:pt x="0" y="1568831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68644" y="6320268"/>
            <a:ext cx="3594924" cy="1372362"/>
            <a:chOff x="0" y="0"/>
            <a:chExt cx="4793233" cy="1829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93236" cy="1829820"/>
            </a:xfrm>
            <a:custGeom>
              <a:avLst/>
              <a:gdLst/>
              <a:ahLst/>
              <a:cxnLst/>
              <a:rect r="r" b="b" t="t" l="l"/>
              <a:pathLst>
                <a:path h="1829820" w="4793236">
                  <a:moveTo>
                    <a:pt x="0" y="0"/>
                  </a:moveTo>
                  <a:lnTo>
                    <a:pt x="4793236" y="0"/>
                  </a:lnTo>
                  <a:lnTo>
                    <a:pt x="4793236" y="1829820"/>
                  </a:lnTo>
                  <a:lnTo>
                    <a:pt x="0" y="18298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1" r="-4907" b="189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793233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Q2 誰有資格「討」許？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67387" y="6276560"/>
            <a:ext cx="10629357" cy="1372362"/>
            <a:chOff x="0" y="0"/>
            <a:chExt cx="14172476" cy="18298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72481" cy="1829820"/>
            </a:xfrm>
            <a:custGeom>
              <a:avLst/>
              <a:gdLst/>
              <a:ahLst/>
              <a:cxnLst/>
              <a:rect r="r" b="b" t="t" l="l"/>
              <a:pathLst>
                <a:path h="1829820" w="14172481">
                  <a:moveTo>
                    <a:pt x="0" y="0"/>
                  </a:moveTo>
                  <a:lnTo>
                    <a:pt x="14172481" y="0"/>
                  </a:lnTo>
                  <a:lnTo>
                    <a:pt x="14172481" y="1829820"/>
                  </a:lnTo>
                  <a:lnTo>
                    <a:pt x="0" y="18298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962" r="0" b="-9587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17247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爭議：後世劉敞等認為若許有罪也應由周王處理，鄭莊公無王命而專擅，是僭越王權。</a:t>
              </a:r>
            </a:p>
          </p:txBody>
        </p:sp>
      </p:grp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5059" y="1187682"/>
            <a:ext cx="163672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為什麼寫授兵於大宮？為什麼寫爭車？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007685"/>
            <a:ext cx="4264752" cy="1411938"/>
            <a:chOff x="0" y="0"/>
            <a:chExt cx="5686336" cy="1882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6425" cy="1882648"/>
            </a:xfrm>
            <a:custGeom>
              <a:avLst/>
              <a:gdLst/>
              <a:ahLst/>
              <a:cxnLst/>
              <a:rect r="r" b="b" t="t" l="l"/>
              <a:pathLst>
                <a:path h="1882648" w="5686425">
                  <a:moveTo>
                    <a:pt x="0" y="313817"/>
                  </a:moveTo>
                  <a:cubicBezTo>
                    <a:pt x="0" y="140462"/>
                    <a:pt x="140462" y="0"/>
                    <a:pt x="313817" y="0"/>
                  </a:cubicBezTo>
                  <a:lnTo>
                    <a:pt x="5372608" y="0"/>
                  </a:lnTo>
                  <a:cubicBezTo>
                    <a:pt x="5545836" y="0"/>
                    <a:pt x="5686425" y="140462"/>
                    <a:pt x="5686425" y="313817"/>
                  </a:cubicBezTo>
                  <a:lnTo>
                    <a:pt x="5686425" y="1568831"/>
                  </a:lnTo>
                  <a:cubicBezTo>
                    <a:pt x="5686425" y="1742059"/>
                    <a:pt x="5545963" y="1882648"/>
                    <a:pt x="5372608" y="1882648"/>
                  </a:cubicBezTo>
                  <a:lnTo>
                    <a:pt x="313817" y="1882648"/>
                  </a:lnTo>
                  <a:cubicBezTo>
                    <a:pt x="140462" y="1882521"/>
                    <a:pt x="0" y="1742059"/>
                    <a:pt x="0" y="1568831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54100" y="3047262"/>
            <a:ext cx="4013952" cy="1372362"/>
            <a:chOff x="0" y="0"/>
            <a:chExt cx="5351936" cy="18298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51940" cy="1829820"/>
            </a:xfrm>
            <a:custGeom>
              <a:avLst/>
              <a:gdLst/>
              <a:ahLst/>
              <a:cxnLst/>
              <a:rect r="r" b="b" t="t" l="l"/>
              <a:pathLst>
                <a:path h="1829820" w="5351940">
                  <a:moveTo>
                    <a:pt x="0" y="0"/>
                  </a:moveTo>
                  <a:lnTo>
                    <a:pt x="5351940" y="0"/>
                  </a:lnTo>
                  <a:lnTo>
                    <a:pt x="5351940" y="1829820"/>
                  </a:lnTo>
                  <a:lnTo>
                    <a:pt x="0" y="18298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1" r="6043" b="1898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35193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63A3A"/>
                  </a:solidFill>
                  <a:latin typeface="芫荽"/>
                  <a:ea typeface="芫荽"/>
                  <a:cs typeface="芫荽"/>
                  <a:sym typeface="芫荽"/>
                </a:rPr>
                <a:t>Q3 為什麼「授兵於大宮」？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67387" y="2883132"/>
            <a:ext cx="10629357" cy="1972437"/>
            <a:chOff x="0" y="0"/>
            <a:chExt cx="14172476" cy="26299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72481" cy="2629920"/>
            </a:xfrm>
            <a:custGeom>
              <a:avLst/>
              <a:gdLst/>
              <a:ahLst/>
              <a:cxnLst/>
              <a:rect r="r" b="b" t="t" l="l"/>
              <a:pathLst>
                <a:path h="2629920" w="14172481">
                  <a:moveTo>
                    <a:pt x="0" y="0"/>
                  </a:moveTo>
                  <a:lnTo>
                    <a:pt x="14172481" y="0"/>
                  </a:lnTo>
                  <a:lnTo>
                    <a:pt x="14172481" y="2629920"/>
                  </a:lnTo>
                  <a:lnTo>
                    <a:pt x="0" y="262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25" r="0" b="-362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17247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表示戰爭是國家與宗廟秩序中的</a:t>
              </a: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正式行動；也與緊接而來的臣子爭車形成「制度有禮／個人失序」反差。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280692"/>
            <a:ext cx="4264752" cy="1411938"/>
            <a:chOff x="0" y="0"/>
            <a:chExt cx="5686336" cy="18825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6425" cy="1882648"/>
            </a:xfrm>
            <a:custGeom>
              <a:avLst/>
              <a:gdLst/>
              <a:ahLst/>
              <a:cxnLst/>
              <a:rect r="r" b="b" t="t" l="l"/>
              <a:pathLst>
                <a:path h="1882648" w="5686425">
                  <a:moveTo>
                    <a:pt x="0" y="313817"/>
                  </a:moveTo>
                  <a:cubicBezTo>
                    <a:pt x="0" y="140462"/>
                    <a:pt x="140462" y="0"/>
                    <a:pt x="313817" y="0"/>
                  </a:cubicBezTo>
                  <a:lnTo>
                    <a:pt x="5372608" y="0"/>
                  </a:lnTo>
                  <a:cubicBezTo>
                    <a:pt x="5545836" y="0"/>
                    <a:pt x="5686425" y="140462"/>
                    <a:pt x="5686425" y="313817"/>
                  </a:cubicBezTo>
                  <a:lnTo>
                    <a:pt x="5686425" y="1568831"/>
                  </a:lnTo>
                  <a:cubicBezTo>
                    <a:pt x="5686425" y="1742059"/>
                    <a:pt x="5545963" y="1882648"/>
                    <a:pt x="5372608" y="1882648"/>
                  </a:cubicBezTo>
                  <a:lnTo>
                    <a:pt x="313817" y="1882648"/>
                  </a:lnTo>
                  <a:cubicBezTo>
                    <a:pt x="140462" y="1882521"/>
                    <a:pt x="0" y="1742059"/>
                    <a:pt x="0" y="1568831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68644" y="6320268"/>
            <a:ext cx="3594924" cy="1372362"/>
            <a:chOff x="0" y="0"/>
            <a:chExt cx="4793233" cy="1829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93236" cy="1829820"/>
            </a:xfrm>
            <a:custGeom>
              <a:avLst/>
              <a:gdLst/>
              <a:ahLst/>
              <a:cxnLst/>
              <a:rect r="r" b="b" t="t" l="l"/>
              <a:pathLst>
                <a:path h="1829820" w="4793236">
                  <a:moveTo>
                    <a:pt x="0" y="0"/>
                  </a:moveTo>
                  <a:lnTo>
                    <a:pt x="4793236" y="0"/>
                  </a:lnTo>
                  <a:lnTo>
                    <a:pt x="4793236" y="1829820"/>
                  </a:lnTo>
                  <a:lnTo>
                    <a:pt x="0" y="18298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81" r="-4907" b="189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793233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Q4 為什麼要把爭車寫出來？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67387" y="6276560"/>
            <a:ext cx="10629357" cy="2572512"/>
            <a:chOff x="0" y="0"/>
            <a:chExt cx="14172476" cy="34300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72481" cy="3430020"/>
            </a:xfrm>
            <a:custGeom>
              <a:avLst/>
              <a:gdLst/>
              <a:ahLst/>
              <a:cxnLst/>
              <a:rect r="r" b="b" t="t" l="l"/>
              <a:pathLst>
                <a:path h="3430020" w="14172481">
                  <a:moveTo>
                    <a:pt x="0" y="0"/>
                  </a:moveTo>
                  <a:lnTo>
                    <a:pt x="14172481" y="0"/>
                  </a:lnTo>
                  <a:lnTo>
                    <a:pt x="14172481" y="3430020"/>
                  </a:lnTo>
                  <a:lnTo>
                    <a:pt x="0" y="3430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27" r="0" b="-44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172476" cy="3430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為子都射殺潁考叔埋伏筆，也把「私人競爭破壞公共軍事秩序」具體化;凸顯雖然鄭莊公在外交與軍事上屢屢獲勝，軍隊內部卻連將領爭車都無法有效約束。</a:t>
              </a:r>
            </a:p>
          </p:txBody>
        </p:sp>
      </p:grp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5059" y="1231376"/>
            <a:ext cx="163672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為什麼「君登矣」？「入」和「滅」有何不同？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079226"/>
            <a:ext cx="4264752" cy="1915583"/>
            <a:chOff x="0" y="0"/>
            <a:chExt cx="5686336" cy="2554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6425" cy="2554175"/>
            </a:xfrm>
            <a:custGeom>
              <a:avLst/>
              <a:gdLst/>
              <a:ahLst/>
              <a:cxnLst/>
              <a:rect r="r" b="b" t="t" l="l"/>
              <a:pathLst>
                <a:path h="2554175" w="5686425">
                  <a:moveTo>
                    <a:pt x="0" y="425757"/>
                  </a:moveTo>
                  <a:cubicBezTo>
                    <a:pt x="0" y="190565"/>
                    <a:pt x="140462" y="0"/>
                    <a:pt x="313817" y="0"/>
                  </a:cubicBezTo>
                  <a:lnTo>
                    <a:pt x="5372608" y="0"/>
                  </a:lnTo>
                  <a:cubicBezTo>
                    <a:pt x="5545836" y="0"/>
                    <a:pt x="5686425" y="190565"/>
                    <a:pt x="5686425" y="425757"/>
                  </a:cubicBezTo>
                  <a:lnTo>
                    <a:pt x="5686425" y="2128440"/>
                  </a:lnTo>
                  <a:cubicBezTo>
                    <a:pt x="5686425" y="2363460"/>
                    <a:pt x="5545963" y="2554175"/>
                    <a:pt x="5372608" y="2554175"/>
                  </a:cubicBezTo>
                  <a:lnTo>
                    <a:pt x="313817" y="2554175"/>
                  </a:lnTo>
                  <a:cubicBezTo>
                    <a:pt x="140462" y="2554025"/>
                    <a:pt x="0" y="2363460"/>
                    <a:pt x="0" y="2128440"/>
                  </a:cubicBezTo>
                  <a:close/>
                </a:path>
              </a:pathLst>
            </a:custGeom>
            <a:solidFill>
              <a:srgbClr val="F3EBD8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27027" y="3079226"/>
            <a:ext cx="3481605" cy="1972437"/>
            <a:chOff x="0" y="0"/>
            <a:chExt cx="4642140" cy="2629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42144" cy="2629915"/>
            </a:xfrm>
            <a:custGeom>
              <a:avLst/>
              <a:gdLst/>
              <a:ahLst/>
              <a:cxnLst/>
              <a:rect r="r" b="b" t="t" l="l"/>
              <a:pathLst>
                <a:path h="2629915" w="4642144">
                  <a:moveTo>
                    <a:pt x="0" y="0"/>
                  </a:moveTo>
                  <a:lnTo>
                    <a:pt x="4642144" y="0"/>
                  </a:lnTo>
                  <a:lnTo>
                    <a:pt x="4642144" y="2629915"/>
                  </a:lnTo>
                  <a:lnTo>
                    <a:pt x="0" y="26299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06" r="-8322" b="425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642140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A87E3A"/>
                  </a:solidFill>
                  <a:latin typeface="芫荽"/>
                  <a:ea typeface="芫荽"/>
                  <a:cs typeface="芫荽"/>
                  <a:sym typeface="芫荽"/>
                </a:rPr>
                <a:t>Q5 鄭莊公沒登城，為何喊「君登矣」？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74141" y="3312934"/>
            <a:ext cx="10629357" cy="1372362"/>
            <a:chOff x="0" y="0"/>
            <a:chExt cx="14172476" cy="18298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72481" cy="1829820"/>
            </a:xfrm>
            <a:custGeom>
              <a:avLst/>
              <a:gdLst/>
              <a:ahLst/>
              <a:cxnLst/>
              <a:rect r="r" b="b" t="t" l="l"/>
              <a:pathLst>
                <a:path h="1829820" w="14172481">
                  <a:moveTo>
                    <a:pt x="0" y="0"/>
                  </a:moveTo>
                  <a:lnTo>
                    <a:pt x="14172481" y="0"/>
                  </a:lnTo>
                  <a:lnTo>
                    <a:pt x="14172481" y="1829820"/>
                  </a:lnTo>
                  <a:lnTo>
                    <a:pt x="0" y="18298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962" r="0" b="-9587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17247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因「蝥弧」是鄭伯之旗，君旗可象徵君主權威；旗登城即象徵君權登城，進而號召全軍。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5059" y="6128223"/>
            <a:ext cx="4264752" cy="1625813"/>
            <a:chOff x="0" y="0"/>
            <a:chExt cx="5686336" cy="2167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6425" cy="2167814"/>
            </a:xfrm>
            <a:custGeom>
              <a:avLst/>
              <a:gdLst/>
              <a:ahLst/>
              <a:cxnLst/>
              <a:rect r="r" b="b" t="t" l="l"/>
              <a:pathLst>
                <a:path h="2167814" w="5686425">
                  <a:moveTo>
                    <a:pt x="0" y="361353"/>
                  </a:moveTo>
                  <a:cubicBezTo>
                    <a:pt x="0" y="161739"/>
                    <a:pt x="140462" y="0"/>
                    <a:pt x="313817" y="0"/>
                  </a:cubicBezTo>
                  <a:lnTo>
                    <a:pt x="5372608" y="0"/>
                  </a:lnTo>
                  <a:cubicBezTo>
                    <a:pt x="5545836" y="0"/>
                    <a:pt x="5686425" y="161739"/>
                    <a:pt x="5686425" y="361353"/>
                  </a:cubicBezTo>
                  <a:lnTo>
                    <a:pt x="5686425" y="1806471"/>
                  </a:lnTo>
                  <a:cubicBezTo>
                    <a:pt x="5686425" y="2005938"/>
                    <a:pt x="5545963" y="2167814"/>
                    <a:pt x="5372608" y="2167814"/>
                  </a:cubicBezTo>
                  <a:lnTo>
                    <a:pt x="313817" y="2167814"/>
                  </a:lnTo>
                  <a:cubicBezTo>
                    <a:pt x="140462" y="2167677"/>
                    <a:pt x="0" y="2005938"/>
                    <a:pt x="0" y="1806471"/>
                  </a:cubicBezTo>
                  <a:close/>
                </a:path>
              </a:pathLst>
            </a:custGeom>
            <a:solidFill>
              <a:srgbClr val="F3EBD8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95003" y="6261573"/>
            <a:ext cx="3771357" cy="1372362"/>
            <a:chOff x="0" y="0"/>
            <a:chExt cx="5028476" cy="1829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8480" cy="1829815"/>
            </a:xfrm>
            <a:custGeom>
              <a:avLst/>
              <a:gdLst/>
              <a:ahLst/>
              <a:cxnLst/>
              <a:rect r="r" b="b" t="t" l="l"/>
              <a:pathLst>
                <a:path h="1829815" w="5028480">
                  <a:moveTo>
                    <a:pt x="0" y="0"/>
                  </a:moveTo>
                  <a:lnTo>
                    <a:pt x="5028480" y="0"/>
                  </a:lnTo>
                  <a:lnTo>
                    <a:pt x="5028480" y="1829815"/>
                  </a:lnTo>
                  <a:lnTo>
                    <a:pt x="0" y="18298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6" r="0" b="174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02847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A87E3A"/>
                  </a:solidFill>
                  <a:latin typeface="芫荽"/>
                  <a:ea typeface="芫荽"/>
                  <a:cs typeface="芫荽"/>
                  <a:sym typeface="芫荽"/>
                </a:rPr>
                <a:t>Q6 「入許」和「滅許」不同？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93746" y="6261573"/>
            <a:ext cx="10629357" cy="1972437"/>
            <a:chOff x="0" y="0"/>
            <a:chExt cx="14172476" cy="26299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72481" cy="2629920"/>
            </a:xfrm>
            <a:custGeom>
              <a:avLst/>
              <a:gdLst/>
              <a:ahLst/>
              <a:cxnLst/>
              <a:rect r="r" b="b" t="t" l="l"/>
              <a:pathLst>
                <a:path h="2629920" w="14172481">
                  <a:moveTo>
                    <a:pt x="0" y="0"/>
                  </a:moveTo>
                  <a:lnTo>
                    <a:pt x="14172481" y="0"/>
                  </a:lnTo>
                  <a:lnTo>
                    <a:pt x="14172481" y="2629920"/>
                  </a:lnTo>
                  <a:lnTo>
                    <a:pt x="0" y="262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25" r="0" b="-362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17247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「入」重在軍事進入／控制；本篇仍保存許的宗室與名義。到前504年《左傳》才明載鄭「滅許」。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73764" y="1514970"/>
            <a:ext cx="163672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為什麼齊讓許、魯不要許？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27773" y="2650423"/>
            <a:ext cx="7625172" cy="5957704"/>
            <a:chOff x="0" y="0"/>
            <a:chExt cx="10166896" cy="7943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6858" cy="7943694"/>
            </a:xfrm>
            <a:custGeom>
              <a:avLst/>
              <a:gdLst/>
              <a:ahLst/>
              <a:cxnLst/>
              <a:rect r="r" b="b" t="t" l="l"/>
              <a:pathLst>
                <a:path h="7943694" w="10166858">
                  <a:moveTo>
                    <a:pt x="0" y="1324020"/>
                  </a:moveTo>
                  <a:cubicBezTo>
                    <a:pt x="0" y="592695"/>
                    <a:pt x="540258" y="0"/>
                    <a:pt x="1206881" y="0"/>
                  </a:cubicBezTo>
                  <a:lnTo>
                    <a:pt x="8960104" y="0"/>
                  </a:lnTo>
                  <a:cubicBezTo>
                    <a:pt x="9626600" y="0"/>
                    <a:pt x="10166858" y="592695"/>
                    <a:pt x="10166858" y="1324020"/>
                  </a:cubicBezTo>
                  <a:lnTo>
                    <a:pt x="10166858" y="6619682"/>
                  </a:lnTo>
                  <a:cubicBezTo>
                    <a:pt x="10166858" y="7350868"/>
                    <a:pt x="9626600" y="7943694"/>
                    <a:pt x="8959977" y="7943694"/>
                  </a:cubicBezTo>
                  <a:lnTo>
                    <a:pt x="1206881" y="7943694"/>
                  </a:lnTo>
                  <a:cubicBezTo>
                    <a:pt x="540258" y="7943563"/>
                    <a:pt x="0" y="7350868"/>
                    <a:pt x="0" y="6619682"/>
                  </a:cubicBezTo>
                  <a:close/>
                </a:path>
              </a:pathLst>
            </a:custGeom>
            <a:solidFill>
              <a:srgbClr val="F3EBD8"/>
            </a:solidFill>
            <a:ln w="13335" cap="sq">
              <a:solidFill>
                <a:srgbClr val="F3EBD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60220" y="3182147"/>
            <a:ext cx="656027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87E3A"/>
                </a:solidFill>
                <a:latin typeface="芫荽"/>
                <a:ea typeface="芫荽"/>
                <a:cs typeface="芫荽"/>
                <a:sym typeface="芫荽"/>
              </a:rPr>
              <a:t>Q7 為什麼齊侯先讓許給魯？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0436" y="4184215"/>
            <a:ext cx="6185516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三國共同取勝，戰後必須處理支配權。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「讓」能避免齊自己直接獨占戰果。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也降低聯盟因分配問題立即破裂的風險。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57372" y="2650423"/>
            <a:ext cx="7625172" cy="5957704"/>
            <a:chOff x="0" y="0"/>
            <a:chExt cx="10166896" cy="79436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6858" cy="7943694"/>
            </a:xfrm>
            <a:custGeom>
              <a:avLst/>
              <a:gdLst/>
              <a:ahLst/>
              <a:cxnLst/>
              <a:rect r="r" b="b" t="t" l="l"/>
              <a:pathLst>
                <a:path h="7943694" w="10166858">
                  <a:moveTo>
                    <a:pt x="0" y="1324020"/>
                  </a:moveTo>
                  <a:cubicBezTo>
                    <a:pt x="0" y="592695"/>
                    <a:pt x="540258" y="0"/>
                    <a:pt x="1206881" y="0"/>
                  </a:cubicBezTo>
                  <a:lnTo>
                    <a:pt x="8960104" y="0"/>
                  </a:lnTo>
                  <a:cubicBezTo>
                    <a:pt x="9626600" y="0"/>
                    <a:pt x="10166858" y="592695"/>
                    <a:pt x="10166858" y="1324020"/>
                  </a:cubicBezTo>
                  <a:lnTo>
                    <a:pt x="10166858" y="6619682"/>
                  </a:lnTo>
                  <a:cubicBezTo>
                    <a:pt x="10166858" y="7350868"/>
                    <a:pt x="9626600" y="7943694"/>
                    <a:pt x="8959977" y="7943694"/>
                  </a:cubicBezTo>
                  <a:lnTo>
                    <a:pt x="1206881" y="7943694"/>
                  </a:lnTo>
                  <a:cubicBezTo>
                    <a:pt x="540258" y="7943563"/>
                    <a:pt x="0" y="7350868"/>
                    <a:pt x="0" y="6619682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89820" y="3182147"/>
            <a:ext cx="656027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Q8 為什麼魯隱公不要許？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77201" y="4051890"/>
            <a:ext cx="6185516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文本：許已「伏其罪」，討伐目的完成。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名分：若再取許，容易從「討罪」變成「貪土」。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延伸：魯離許較遠，實際統治利益也不如鄭直接；這點要標為政治分析。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2083" y="1019175"/>
            <a:ext cx="163672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Q9：鄭莊公明明在擴張，為什麼《左傳》還說他「有禮」？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3646" y="3741572"/>
            <a:ext cx="9030534" cy="3320817"/>
            <a:chOff x="0" y="0"/>
            <a:chExt cx="10989856" cy="4041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89818" cy="4041261"/>
            </a:xfrm>
            <a:custGeom>
              <a:avLst/>
              <a:gdLst/>
              <a:ahLst/>
              <a:cxnLst/>
              <a:rect r="r" b="b" t="t" l="l"/>
              <a:pathLst>
                <a:path h="4041261" w="10989818">
                  <a:moveTo>
                    <a:pt x="0" y="673475"/>
                  </a:moveTo>
                  <a:cubicBezTo>
                    <a:pt x="0" y="301639"/>
                    <a:pt x="185547" y="0"/>
                    <a:pt x="414274" y="0"/>
                  </a:cubicBezTo>
                  <a:lnTo>
                    <a:pt x="10575544" y="0"/>
                  </a:lnTo>
                  <a:cubicBezTo>
                    <a:pt x="10804398" y="0"/>
                    <a:pt x="10989818" y="301639"/>
                    <a:pt x="10989818" y="673475"/>
                  </a:cubicBezTo>
                  <a:lnTo>
                    <a:pt x="10989818" y="3367786"/>
                  </a:lnTo>
                  <a:cubicBezTo>
                    <a:pt x="10989818" y="3739828"/>
                    <a:pt x="10804271" y="4041261"/>
                    <a:pt x="10575544" y="4041261"/>
                  </a:cubicBezTo>
                  <a:lnTo>
                    <a:pt x="414274" y="4041261"/>
                  </a:lnTo>
                  <a:cubicBezTo>
                    <a:pt x="185547" y="4041261"/>
                    <a:pt x="0" y="3739828"/>
                    <a:pt x="0" y="3367786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57284" y="4219642"/>
            <a:ext cx="7543257" cy="1372362"/>
            <a:chOff x="0" y="0"/>
            <a:chExt cx="10057676" cy="18298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7680" cy="1829815"/>
            </a:xfrm>
            <a:custGeom>
              <a:avLst/>
              <a:gdLst/>
              <a:ahLst/>
              <a:cxnLst/>
              <a:rect r="r" b="b" t="t" l="l"/>
              <a:pathLst>
                <a:path h="1829815" w="10057680">
                  <a:moveTo>
                    <a:pt x="0" y="0"/>
                  </a:moveTo>
                  <a:lnTo>
                    <a:pt x="10057680" y="0"/>
                  </a:lnTo>
                  <a:lnTo>
                    <a:pt x="10057680" y="1829815"/>
                  </a:lnTo>
                  <a:lnTo>
                    <a:pt x="0" y="182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647" r="0" b="-4855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0057676" cy="18298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>
                  <a:solidFill>
                    <a:srgbClr val="A14D34"/>
                  </a:solidFill>
                  <a:latin typeface="芫荽"/>
                  <a:ea typeface="芫荽"/>
                  <a:cs typeface="芫荽"/>
                  <a:sym typeface="芫荽"/>
                </a:rPr>
                <a:t>禮，經國家，定社稷，序民人，利後嗣者也。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22679" y="6188141"/>
            <a:ext cx="71247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300">
                <a:solidFill>
                  <a:srgbClr val="69655E"/>
                </a:solidFill>
                <a:latin typeface="芫荽"/>
                <a:ea typeface="芫荽"/>
                <a:cs typeface="芫荽"/>
                <a:sym typeface="芫荽"/>
              </a:rPr>
              <a:t>《左傳・隱公十一年》篇末「君子曰」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37432" y="1982152"/>
            <a:ext cx="7890446" cy="7651067"/>
            <a:chOff x="0" y="0"/>
            <a:chExt cx="10520595" cy="102014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20683" cy="10201511"/>
            </a:xfrm>
            <a:custGeom>
              <a:avLst/>
              <a:gdLst/>
              <a:ahLst/>
              <a:cxnLst/>
              <a:rect r="r" b="b" t="t" l="l"/>
              <a:pathLst>
                <a:path h="10201511" w="10520683">
                  <a:moveTo>
                    <a:pt x="0" y="1700346"/>
                  </a:moveTo>
                  <a:cubicBezTo>
                    <a:pt x="0" y="761207"/>
                    <a:pt x="628310" y="0"/>
                    <a:pt x="1403489" y="0"/>
                  </a:cubicBezTo>
                  <a:lnTo>
                    <a:pt x="9117208" y="0"/>
                  </a:lnTo>
                  <a:cubicBezTo>
                    <a:pt x="9892241" y="0"/>
                    <a:pt x="10520683" y="761207"/>
                    <a:pt x="10520683" y="1700346"/>
                  </a:cubicBezTo>
                  <a:lnTo>
                    <a:pt x="10520683" y="8501200"/>
                  </a:lnTo>
                  <a:cubicBezTo>
                    <a:pt x="10520683" y="9440163"/>
                    <a:pt x="9892387" y="10201511"/>
                    <a:pt x="9117208" y="10201511"/>
                  </a:cubicBezTo>
                  <a:lnTo>
                    <a:pt x="1403489" y="10201511"/>
                  </a:lnTo>
                  <a:cubicBezTo>
                    <a:pt x="628310" y="10201370"/>
                    <a:pt x="0" y="9440163"/>
                    <a:pt x="0" y="8501200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382936" y="2543175"/>
            <a:ext cx="706298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不要把「禮」理解成「善良」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82936" y="3741572"/>
            <a:ext cx="7444943" cy="540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《左傳》自己把禮定義成國家治理、社稷秩序與後代利益。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稱讚鄭莊公的重點是「度德、量力、相時、無累後人」。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所以「有禮」可以和現實利益同時存在：重點是權力有無節制與長期計算。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1544"/>
            <a:chOff x="0" y="0"/>
            <a:chExt cx="24382806" cy="108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8712"/>
            </a:xfrm>
            <a:custGeom>
              <a:avLst/>
              <a:gdLst/>
              <a:ahLst/>
              <a:cxnLst/>
              <a:rect r="r" b="b" t="t" l="l"/>
              <a:pathLst>
                <a:path h="108712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A14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2083" y="1401826"/>
            <a:ext cx="1636721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Q10：鄭莊公到底是「仁君」還是「權謀家」？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4202" y="2780935"/>
            <a:ext cx="9557680" cy="5957704"/>
            <a:chOff x="0" y="0"/>
            <a:chExt cx="12743574" cy="79436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43663" cy="7943694"/>
            </a:xfrm>
            <a:custGeom>
              <a:avLst/>
              <a:gdLst/>
              <a:ahLst/>
              <a:cxnLst/>
              <a:rect r="r" b="b" t="t" l="l"/>
              <a:pathLst>
                <a:path h="7943694" w="12743663">
                  <a:moveTo>
                    <a:pt x="0" y="1324020"/>
                  </a:moveTo>
                  <a:cubicBezTo>
                    <a:pt x="0" y="592695"/>
                    <a:pt x="683326" y="0"/>
                    <a:pt x="1526479" y="0"/>
                  </a:cubicBezTo>
                  <a:lnTo>
                    <a:pt x="11217207" y="0"/>
                  </a:lnTo>
                  <a:cubicBezTo>
                    <a:pt x="12060200" y="0"/>
                    <a:pt x="12743663" y="592695"/>
                    <a:pt x="12743663" y="1324020"/>
                  </a:cubicBezTo>
                  <a:lnTo>
                    <a:pt x="12743663" y="6619682"/>
                  </a:lnTo>
                  <a:cubicBezTo>
                    <a:pt x="12743663" y="7350868"/>
                    <a:pt x="12060361" y="7943694"/>
                    <a:pt x="11217207" y="7943694"/>
                  </a:cubicBezTo>
                  <a:lnTo>
                    <a:pt x="1526479" y="7943694"/>
                  </a:lnTo>
                  <a:cubicBezTo>
                    <a:pt x="683326" y="7943563"/>
                    <a:pt x="0" y="7350868"/>
                    <a:pt x="0" y="6619682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610557" y="3312658"/>
            <a:ext cx="457177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站在《左傳》的角度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3174" y="4623484"/>
            <a:ext cx="9317195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能克敵，也能在勝利後節制。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量力、相時，避免把許變成後代包袱。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「禮」＝治理分寸，不等於完全無私。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80369" y="2780935"/>
            <a:ext cx="7556592" cy="5957704"/>
            <a:chOff x="0" y="0"/>
            <a:chExt cx="10075456" cy="79436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75545" cy="7943694"/>
            </a:xfrm>
            <a:custGeom>
              <a:avLst/>
              <a:gdLst/>
              <a:ahLst/>
              <a:cxnLst/>
              <a:rect r="r" b="b" t="t" l="l"/>
              <a:pathLst>
                <a:path h="7943694" w="10075545">
                  <a:moveTo>
                    <a:pt x="0" y="1324020"/>
                  </a:moveTo>
                  <a:cubicBezTo>
                    <a:pt x="0" y="592695"/>
                    <a:pt x="540258" y="0"/>
                    <a:pt x="1206881" y="0"/>
                  </a:cubicBezTo>
                  <a:lnTo>
                    <a:pt x="8868664" y="0"/>
                  </a:lnTo>
                  <a:cubicBezTo>
                    <a:pt x="9535160" y="0"/>
                    <a:pt x="10075545" y="592695"/>
                    <a:pt x="10075545" y="1324020"/>
                  </a:cubicBezTo>
                  <a:lnTo>
                    <a:pt x="10075545" y="6619682"/>
                  </a:lnTo>
                  <a:cubicBezTo>
                    <a:pt x="10075545" y="7350868"/>
                    <a:pt x="9535287" y="7943694"/>
                    <a:pt x="8868664" y="7943694"/>
                  </a:cubicBezTo>
                  <a:lnTo>
                    <a:pt x="1206881" y="7943694"/>
                  </a:lnTo>
                  <a:cubicBezTo>
                    <a:pt x="540258" y="7943563"/>
                    <a:pt x="0" y="7350868"/>
                    <a:pt x="0" y="6619682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064827" y="3312658"/>
            <a:ext cx="558767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站在後世批判／現實政治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03754" y="4177787"/>
            <a:ext cx="6509823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鄭無王命而伐國，存在僭越問題。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鄭、許接近，鄭對許確有更強直接利益。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保留許名義、又維持影響力，也可讀成高明的權力安排。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9944" y="985871"/>
            <a:ext cx="16367217" cy="5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「有禮」與「有現實利益」其實可以同時成立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3" y="2119312"/>
            <a:ext cx="7488012" cy="5853427"/>
            <a:chOff x="0" y="0"/>
            <a:chExt cx="9984016" cy="7804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84105" cy="7804658"/>
            </a:xfrm>
            <a:custGeom>
              <a:avLst/>
              <a:gdLst/>
              <a:ahLst/>
              <a:cxnLst/>
              <a:rect r="r" b="b" t="t" l="l"/>
              <a:pathLst>
                <a:path h="7804658" w="9984105">
                  <a:moveTo>
                    <a:pt x="0" y="1300846"/>
                  </a:moveTo>
                  <a:cubicBezTo>
                    <a:pt x="0" y="582321"/>
                    <a:pt x="540258" y="0"/>
                    <a:pt x="1206881" y="0"/>
                  </a:cubicBezTo>
                  <a:lnTo>
                    <a:pt x="8777224" y="0"/>
                  </a:lnTo>
                  <a:cubicBezTo>
                    <a:pt x="9443720" y="0"/>
                    <a:pt x="9984105" y="582321"/>
                    <a:pt x="9984105" y="1300846"/>
                  </a:cubicBezTo>
                  <a:lnTo>
                    <a:pt x="9984105" y="6503819"/>
                  </a:lnTo>
                  <a:cubicBezTo>
                    <a:pt x="9984105" y="7222206"/>
                    <a:pt x="9443847" y="7804658"/>
                    <a:pt x="8777224" y="7804658"/>
                  </a:cubicBezTo>
                  <a:lnTo>
                    <a:pt x="1206881" y="7804658"/>
                  </a:lnTo>
                  <a:cubicBezTo>
                    <a:pt x="540258" y="7804528"/>
                    <a:pt x="0" y="7222206"/>
                    <a:pt x="0" y="6503819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617377" y="2643416"/>
            <a:ext cx="457164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57875"/>
                </a:solidFill>
                <a:latin typeface="芫荽"/>
                <a:ea typeface="芫荽"/>
                <a:cs typeface="芫荽"/>
                <a:sym typeface="芫荽"/>
              </a:rPr>
              <a:t>《左傳》所謂「禮」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4768" y="3482085"/>
            <a:ext cx="6756862" cy="410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不是「沒有利益」或「一味仁慈」。</a:t>
            </a:r>
          </a:p>
          <a:p>
            <a:pPr algn="l">
              <a:lnSpc>
                <a:spcPts val="54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篇末明說「經國家、定社稷、序民人、利後嗣」。</a:t>
            </a:r>
          </a:p>
          <a:p>
            <a:pPr algn="l">
              <a:lnSpc>
                <a:spcPts val="543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重點在度德、量力、相時，不把眼前勝利變成後代負擔。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88793" y="2119312"/>
            <a:ext cx="7488012" cy="5853427"/>
            <a:chOff x="0" y="0"/>
            <a:chExt cx="9984016" cy="78045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84105" cy="7804658"/>
            </a:xfrm>
            <a:custGeom>
              <a:avLst/>
              <a:gdLst/>
              <a:ahLst/>
              <a:cxnLst/>
              <a:rect r="r" b="b" t="t" l="l"/>
              <a:pathLst>
                <a:path h="7804658" w="9984105">
                  <a:moveTo>
                    <a:pt x="0" y="1300846"/>
                  </a:moveTo>
                  <a:cubicBezTo>
                    <a:pt x="0" y="582321"/>
                    <a:pt x="540258" y="0"/>
                    <a:pt x="1206881" y="0"/>
                  </a:cubicBezTo>
                  <a:lnTo>
                    <a:pt x="8777224" y="0"/>
                  </a:lnTo>
                  <a:cubicBezTo>
                    <a:pt x="9443720" y="0"/>
                    <a:pt x="9984105" y="582321"/>
                    <a:pt x="9984105" y="1300846"/>
                  </a:cubicBezTo>
                  <a:lnTo>
                    <a:pt x="9984105" y="6503819"/>
                  </a:lnTo>
                  <a:cubicBezTo>
                    <a:pt x="9984105" y="7222206"/>
                    <a:pt x="9443847" y="7804658"/>
                    <a:pt x="8777224" y="7804658"/>
                  </a:cubicBezTo>
                  <a:lnTo>
                    <a:pt x="1206881" y="7804658"/>
                  </a:lnTo>
                  <a:cubicBezTo>
                    <a:pt x="540258" y="7804528"/>
                    <a:pt x="0" y="7222206"/>
                    <a:pt x="0" y="6503819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116898" y="2662466"/>
            <a:ext cx="203180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現實政治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06804" y="3541140"/>
            <a:ext cx="6651989" cy="399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保留許國形式，降低直接統治成本。</a:t>
            </a:r>
          </a:p>
          <a:p>
            <a:pPr algn="l">
              <a:lnSpc>
                <a:spcPts val="531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派鄭臣進駐，維持實質影響力。</a:t>
            </a:r>
          </a:p>
          <a:p>
            <a:pPr algn="l">
              <a:lnSpc>
                <a:spcPts val="531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• 以許鞏固鄭國邊境，又避免立即正式吞併造成外交壓力。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6191" y="8520208"/>
            <a:ext cx="1499561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在《左傳》的政治倫理裡，「禮」可以理解為節制、秩序與長期治理，而不是放棄國家利益。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03758"/>
            <a:ext cx="1636721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與</a:t>
            </a: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《史記》交叉比對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59192" y="2891205"/>
            <a:ext cx="7625172" cy="5430612"/>
            <a:chOff x="0" y="0"/>
            <a:chExt cx="10166896" cy="724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6858" cy="7240905"/>
            </a:xfrm>
            <a:custGeom>
              <a:avLst/>
              <a:gdLst/>
              <a:ahLst/>
              <a:cxnLst/>
              <a:rect r="r" b="b" t="t" l="l"/>
              <a:pathLst>
                <a:path h="7240905" w="10166858">
                  <a:moveTo>
                    <a:pt x="0" y="1206881"/>
                  </a:moveTo>
                  <a:cubicBezTo>
                    <a:pt x="0" y="540258"/>
                    <a:pt x="540258" y="0"/>
                    <a:pt x="1206881" y="0"/>
                  </a:cubicBezTo>
                  <a:lnTo>
                    <a:pt x="8960104" y="0"/>
                  </a:lnTo>
                  <a:cubicBezTo>
                    <a:pt x="9626600" y="0"/>
                    <a:pt x="10166858" y="540258"/>
                    <a:pt x="10166858" y="1206881"/>
                  </a:cubicBezTo>
                  <a:lnTo>
                    <a:pt x="10166858" y="6034024"/>
                  </a:lnTo>
                  <a:cubicBezTo>
                    <a:pt x="10166858" y="6700520"/>
                    <a:pt x="9626600" y="7240905"/>
                    <a:pt x="8959977" y="7240905"/>
                  </a:cubicBezTo>
                  <a:lnTo>
                    <a:pt x="1206881" y="7240905"/>
                  </a:lnTo>
                  <a:cubicBezTo>
                    <a:pt x="540258" y="7240778"/>
                    <a:pt x="0" y="6700520"/>
                    <a:pt x="0" y="6034024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3EBE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685957" y="3750513"/>
            <a:ext cx="457164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《左傳・隱十一年》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88820" y="4775250"/>
            <a:ext cx="5965917" cy="1972437"/>
            <a:chOff x="0" y="0"/>
            <a:chExt cx="7954556" cy="26299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54560" cy="2629920"/>
            </a:xfrm>
            <a:custGeom>
              <a:avLst/>
              <a:gdLst/>
              <a:ahLst/>
              <a:cxnLst/>
              <a:rect r="r" b="b" t="t" l="l"/>
              <a:pathLst>
                <a:path h="2629920" w="7954560">
                  <a:moveTo>
                    <a:pt x="0" y="0"/>
                  </a:moveTo>
                  <a:lnTo>
                    <a:pt x="7954560" y="0"/>
                  </a:lnTo>
                  <a:lnTo>
                    <a:pt x="7954560" y="2629920"/>
                  </a:lnTo>
                  <a:lnTo>
                    <a:pt x="0" y="262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72" r="0" b="-75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954556" cy="2629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鄭莊公能與魯、齊共同「討」許，並在戰後取得許國處置的主導。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57372" y="2891205"/>
            <a:ext cx="7625172" cy="5430612"/>
            <a:chOff x="0" y="0"/>
            <a:chExt cx="10166896" cy="72408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6858" cy="7240905"/>
            </a:xfrm>
            <a:custGeom>
              <a:avLst/>
              <a:gdLst/>
              <a:ahLst/>
              <a:cxnLst/>
              <a:rect r="r" b="b" t="t" l="l"/>
              <a:pathLst>
                <a:path h="7240905" w="10166858">
                  <a:moveTo>
                    <a:pt x="0" y="1206881"/>
                  </a:moveTo>
                  <a:cubicBezTo>
                    <a:pt x="0" y="540258"/>
                    <a:pt x="540258" y="0"/>
                    <a:pt x="1206881" y="0"/>
                  </a:cubicBezTo>
                  <a:lnTo>
                    <a:pt x="8960104" y="0"/>
                  </a:lnTo>
                  <a:cubicBezTo>
                    <a:pt x="9626600" y="0"/>
                    <a:pt x="10166858" y="540258"/>
                    <a:pt x="10166858" y="1206881"/>
                  </a:cubicBezTo>
                  <a:lnTo>
                    <a:pt x="10166858" y="6034024"/>
                  </a:lnTo>
                  <a:cubicBezTo>
                    <a:pt x="10166858" y="6700520"/>
                    <a:pt x="9626600" y="7240905"/>
                    <a:pt x="8959977" y="7240905"/>
                  </a:cubicBezTo>
                  <a:lnTo>
                    <a:pt x="1206881" y="7240905"/>
                  </a:lnTo>
                  <a:cubicBezTo>
                    <a:pt x="540258" y="7240778"/>
                    <a:pt x="0" y="6700520"/>
                    <a:pt x="0" y="6034024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F2E4D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989820" y="3450475"/>
            <a:ext cx="6560277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《史記・鄭世家》＋《左傳・桓五年》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18420" y="4938348"/>
            <a:ext cx="6103077" cy="2572512"/>
            <a:chOff x="0" y="0"/>
            <a:chExt cx="8137436" cy="34300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37440" cy="3430020"/>
            </a:xfrm>
            <a:custGeom>
              <a:avLst/>
              <a:gdLst/>
              <a:ahLst/>
              <a:cxnLst/>
              <a:rect r="r" b="b" t="t" l="l"/>
              <a:pathLst>
                <a:path h="3430020" w="8137440">
                  <a:moveTo>
                    <a:pt x="0" y="0"/>
                  </a:moveTo>
                  <a:lnTo>
                    <a:pt x="8137440" y="0"/>
                  </a:lnTo>
                  <a:lnTo>
                    <a:pt x="8137440" y="3430020"/>
                  </a:lnTo>
                  <a:lnTo>
                    <a:pt x="0" y="3430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6" r="0" b="124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137436" cy="3430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243132"/>
                  </a:solidFill>
                  <a:latin typeface="芫荽"/>
                  <a:ea typeface="芫荽"/>
                  <a:cs typeface="芫荽"/>
                  <a:sym typeface="芫荽"/>
                </a:rPr>
                <a:t>數年後周桓王親自伐鄭，反而在繻葛之戰敗北；顯示王室名義仍在，但軍事實力已不足以壓制鄭。</a:t>
              </a:r>
            </a:p>
          </p:txBody>
        </p:sp>
      </p:grp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1856" y="1420871"/>
            <a:ext cx="16367217" cy="59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兩百年問題的開端之一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69490" y="2935313"/>
            <a:ext cx="2175450" cy="1000458"/>
            <a:chOff x="0" y="0"/>
            <a:chExt cx="2900600" cy="13339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689" cy="1334008"/>
            </a:xfrm>
            <a:custGeom>
              <a:avLst/>
              <a:gdLst/>
              <a:ahLst/>
              <a:cxnLst/>
              <a:rect r="r" b="b" t="t" l="l"/>
              <a:pathLst>
                <a:path h="1334008" w="2900689">
                  <a:moveTo>
                    <a:pt x="0" y="222377"/>
                  </a:moveTo>
                  <a:cubicBezTo>
                    <a:pt x="0" y="99568"/>
                    <a:pt x="116176" y="0"/>
                    <a:pt x="259470" y="0"/>
                  </a:cubicBezTo>
                  <a:lnTo>
                    <a:pt x="2641234" y="0"/>
                  </a:lnTo>
                  <a:cubicBezTo>
                    <a:pt x="2784528" y="0"/>
                    <a:pt x="2900689" y="99568"/>
                    <a:pt x="2900689" y="222377"/>
                  </a:cubicBezTo>
                  <a:lnTo>
                    <a:pt x="2900689" y="1111631"/>
                  </a:lnTo>
                  <a:cubicBezTo>
                    <a:pt x="2900689" y="1234440"/>
                    <a:pt x="2784528" y="1334008"/>
                    <a:pt x="2641234" y="1334008"/>
                  </a:cubicBezTo>
                  <a:lnTo>
                    <a:pt x="259470" y="1334008"/>
                  </a:lnTo>
                  <a:cubicBezTo>
                    <a:pt x="116176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423171" y="3151683"/>
            <a:ext cx="146808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前712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54217" y="3151683"/>
            <a:ext cx="360434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隱公十一年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81659" y="3151683"/>
            <a:ext cx="773685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齊、魯、鄭入許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069490" y="4416537"/>
            <a:ext cx="2175450" cy="1000458"/>
            <a:chOff x="0" y="0"/>
            <a:chExt cx="2900600" cy="1333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00689" cy="1334008"/>
            </a:xfrm>
            <a:custGeom>
              <a:avLst/>
              <a:gdLst/>
              <a:ahLst/>
              <a:cxnLst/>
              <a:rect r="r" b="b" t="t" l="l"/>
              <a:pathLst>
                <a:path h="1334008" w="2900689">
                  <a:moveTo>
                    <a:pt x="0" y="222377"/>
                  </a:moveTo>
                  <a:cubicBezTo>
                    <a:pt x="0" y="99568"/>
                    <a:pt x="116176" y="0"/>
                    <a:pt x="259470" y="0"/>
                  </a:cubicBezTo>
                  <a:lnTo>
                    <a:pt x="2641234" y="0"/>
                  </a:lnTo>
                  <a:cubicBezTo>
                    <a:pt x="2784528" y="0"/>
                    <a:pt x="2900689" y="99568"/>
                    <a:pt x="2900689" y="222377"/>
                  </a:cubicBezTo>
                  <a:lnTo>
                    <a:pt x="2900689" y="1111631"/>
                  </a:lnTo>
                  <a:cubicBezTo>
                    <a:pt x="2900689" y="1234440"/>
                    <a:pt x="2784528" y="1334008"/>
                    <a:pt x="2641234" y="1334008"/>
                  </a:cubicBezTo>
                  <a:lnTo>
                    <a:pt x="259470" y="1334008"/>
                  </a:lnTo>
                  <a:cubicBezTo>
                    <a:pt x="116176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161039" y="4632897"/>
            <a:ext cx="199235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約前588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54217" y="4632902"/>
            <a:ext cx="217023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成公三年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67658" y="4661263"/>
            <a:ext cx="773685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「許恃楚而不事鄭，鄭子良伐許」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069490" y="5897750"/>
            <a:ext cx="2175450" cy="1000458"/>
            <a:chOff x="0" y="0"/>
            <a:chExt cx="2900600" cy="1333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00689" cy="1334008"/>
            </a:xfrm>
            <a:custGeom>
              <a:avLst/>
              <a:gdLst/>
              <a:ahLst/>
              <a:cxnLst/>
              <a:rect r="r" b="b" t="t" l="l"/>
              <a:pathLst>
                <a:path h="1334008" w="2900689">
                  <a:moveTo>
                    <a:pt x="0" y="222377"/>
                  </a:moveTo>
                  <a:cubicBezTo>
                    <a:pt x="0" y="99568"/>
                    <a:pt x="116176" y="0"/>
                    <a:pt x="259470" y="0"/>
                  </a:cubicBezTo>
                  <a:lnTo>
                    <a:pt x="2641234" y="0"/>
                  </a:lnTo>
                  <a:cubicBezTo>
                    <a:pt x="2784528" y="0"/>
                    <a:pt x="2900689" y="99568"/>
                    <a:pt x="2900689" y="222377"/>
                  </a:cubicBezTo>
                  <a:lnTo>
                    <a:pt x="2900689" y="1111631"/>
                  </a:lnTo>
                  <a:cubicBezTo>
                    <a:pt x="2900689" y="1234440"/>
                    <a:pt x="2784528" y="1334008"/>
                    <a:pt x="2641234" y="1334008"/>
                  </a:cubicBezTo>
                  <a:lnTo>
                    <a:pt x="259470" y="1334008"/>
                  </a:lnTo>
                  <a:cubicBezTo>
                    <a:pt x="116176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E3EBE7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423171" y="6097942"/>
            <a:ext cx="146808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263A3A"/>
                </a:solidFill>
                <a:latin typeface="芫荽"/>
                <a:ea typeface="芫荽"/>
                <a:cs typeface="芫荽"/>
                <a:sym typeface="芫荽"/>
              </a:rPr>
              <a:t>前576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54217" y="6097942"/>
            <a:ext cx="264827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成公十五年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67658" y="6126303"/>
            <a:ext cx="773685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「許靈公畏逼於鄭」而遷葉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069490" y="7379516"/>
            <a:ext cx="2175450" cy="1000458"/>
            <a:chOff x="0" y="0"/>
            <a:chExt cx="2900600" cy="1333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00689" cy="1334008"/>
            </a:xfrm>
            <a:custGeom>
              <a:avLst/>
              <a:gdLst/>
              <a:ahLst/>
              <a:cxnLst/>
              <a:rect r="r" b="b" t="t" l="l"/>
              <a:pathLst>
                <a:path h="1334008" w="2900689">
                  <a:moveTo>
                    <a:pt x="0" y="222377"/>
                  </a:moveTo>
                  <a:cubicBezTo>
                    <a:pt x="0" y="99568"/>
                    <a:pt x="116176" y="0"/>
                    <a:pt x="259470" y="0"/>
                  </a:cubicBezTo>
                  <a:lnTo>
                    <a:pt x="2641234" y="0"/>
                  </a:lnTo>
                  <a:cubicBezTo>
                    <a:pt x="2784528" y="0"/>
                    <a:pt x="2900689" y="99568"/>
                    <a:pt x="2900689" y="222377"/>
                  </a:cubicBezTo>
                  <a:lnTo>
                    <a:pt x="2900689" y="1111631"/>
                  </a:lnTo>
                  <a:cubicBezTo>
                    <a:pt x="2900689" y="1234440"/>
                    <a:pt x="2784528" y="1334008"/>
                    <a:pt x="2641234" y="1334008"/>
                  </a:cubicBezTo>
                  <a:lnTo>
                    <a:pt x="259470" y="1334008"/>
                  </a:lnTo>
                  <a:cubicBezTo>
                    <a:pt x="116176" y="1333881"/>
                    <a:pt x="0" y="1234440"/>
                    <a:pt x="0" y="1111631"/>
                  </a:cubicBezTo>
                  <a:close/>
                </a:path>
              </a:pathLst>
            </a:custGeom>
            <a:solidFill>
              <a:srgbClr val="F2E4DF"/>
            </a:solidFill>
            <a:ln w="13335" cap="sq">
              <a:solidFill>
                <a:srgbClr val="EEE8DD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2423171" y="7595343"/>
            <a:ext cx="146808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A14D34"/>
                </a:solidFill>
                <a:latin typeface="芫荽"/>
                <a:ea typeface="芫荽"/>
                <a:cs typeface="芫荽"/>
                <a:sym typeface="芫荽"/>
              </a:rPr>
              <a:t>前504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54217" y="7579708"/>
            <a:ext cx="2170232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6D6A64"/>
                </a:solidFill>
                <a:latin typeface="芫荽"/>
                <a:ea typeface="芫荽"/>
                <a:cs typeface="芫荽"/>
                <a:sym typeface="芫荽"/>
              </a:rPr>
              <a:t>定公六年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67658" y="7623705"/>
            <a:ext cx="773685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43132"/>
                </a:solidFill>
                <a:latin typeface="芫荽"/>
                <a:ea typeface="芫荽"/>
                <a:cs typeface="芫荽"/>
                <a:sym typeface="芫荽"/>
              </a:rPr>
              <a:t>「鄭游速帥師滅許」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4937" r="0" b="4937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521103"/>
            <a:ext cx="16458657" cy="769758"/>
            <a:chOff x="0" y="0"/>
            <a:chExt cx="21944876" cy="10263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026348"/>
            </a:xfrm>
            <a:custGeom>
              <a:avLst/>
              <a:gdLst/>
              <a:ahLst/>
              <a:cxnLst/>
              <a:rect r="r" b="b" t="t" l="l"/>
              <a:pathLst>
                <a:path h="1026348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026348"/>
                  </a:lnTo>
                  <a:lnTo>
                    <a:pt x="0" y="1026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654" r="0" b="-3655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026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63A3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References｜原典、注疏與古人評點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1851660"/>
            <a:ext cx="15635697" cy="695374"/>
            <a:chOff x="0" y="0"/>
            <a:chExt cx="20847596" cy="927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47600" cy="927166"/>
            </a:xfrm>
            <a:custGeom>
              <a:avLst/>
              <a:gdLst/>
              <a:ahLst/>
              <a:cxnLst/>
              <a:rect r="r" b="b" t="t" l="l"/>
              <a:pathLst>
                <a:path h="927166" w="20847600">
                  <a:moveTo>
                    <a:pt x="0" y="0"/>
                  </a:moveTo>
                  <a:lnTo>
                    <a:pt x="20847600" y="0"/>
                  </a:lnTo>
                  <a:lnTo>
                    <a:pt x="20847600" y="927166"/>
                  </a:lnTo>
                  <a:lnTo>
                    <a:pt x="0" y="927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18" r="0" b="-3716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847596" cy="927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9"/>
                </a:lnSpc>
              </a:pPr>
              <a:r>
                <a:rPr lang="en-US" sz="3524">
                  <a:solidFill>
                    <a:srgbClr val="263A3A"/>
                  </a:solidFill>
                  <a:latin typeface="Noto Sans"/>
                  <a:ea typeface="Noto Sans"/>
                  <a:cs typeface="Noto Sans"/>
                  <a:sym typeface="Noto Sans"/>
                </a:rPr>
                <a:t>《春秋左傳正義》卷3（晉杜預注、唐孔穎達疏）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8760" y="2427837"/>
            <a:ext cx="15087057" cy="570486"/>
            <a:chOff x="0" y="0"/>
            <a:chExt cx="20116076" cy="760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16081" cy="760652"/>
            </a:xfrm>
            <a:custGeom>
              <a:avLst/>
              <a:gdLst/>
              <a:ahLst/>
              <a:cxnLst/>
              <a:rect r="r" b="b" t="t" l="l"/>
              <a:pathLst>
                <a:path h="760652" w="20116081">
                  <a:moveTo>
                    <a:pt x="0" y="0"/>
                  </a:moveTo>
                  <a:lnTo>
                    <a:pt x="20116081" y="0"/>
                  </a:lnTo>
                  <a:lnTo>
                    <a:pt x="20116081" y="760652"/>
                  </a:lnTo>
                  <a:lnTo>
                    <a:pt x="0" y="760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292" r="0" b="-44530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0116076" cy="760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u="sng">
                  <a:solidFill>
                    <a:srgbClr val="0563C1"/>
                  </a:solidFill>
                  <a:latin typeface="Noto Sans"/>
                  <a:ea typeface="Noto Sans"/>
                  <a:cs typeface="Noto Sans"/>
                  <a:sym typeface="Noto Sans"/>
                  <a:hlinkClick r:id="rId4" tooltip="https://zh.wikisource.org/zh-hant/%E6%98%A5%E7%A7%8B%E5%B7%A6%E5%82%B3%E6%AD%A3%E7%BE%A9/%E5%8D%B703"/>
                </a:rPr>
                <a:t>https://zh.wikisource.org/zh-hant/春秋左傳正義/卷03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223260"/>
            <a:ext cx="15635697" cy="695374"/>
            <a:chOff x="0" y="0"/>
            <a:chExt cx="20847596" cy="9271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7600" cy="927166"/>
            </a:xfrm>
            <a:custGeom>
              <a:avLst/>
              <a:gdLst/>
              <a:ahLst/>
              <a:cxnLst/>
              <a:rect r="r" b="b" t="t" l="l"/>
              <a:pathLst>
                <a:path h="927166" w="20847600">
                  <a:moveTo>
                    <a:pt x="0" y="0"/>
                  </a:moveTo>
                  <a:lnTo>
                    <a:pt x="20847600" y="0"/>
                  </a:lnTo>
                  <a:lnTo>
                    <a:pt x="20847600" y="927166"/>
                  </a:lnTo>
                  <a:lnTo>
                    <a:pt x="0" y="927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18" r="0" b="-37163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0847596" cy="927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9"/>
                </a:lnSpc>
              </a:pPr>
              <a:r>
                <a:rPr lang="en-US" sz="3524">
                  <a:solidFill>
                    <a:srgbClr val="263A3A"/>
                  </a:solidFill>
                  <a:latin typeface="Noto Sans"/>
                  <a:ea typeface="Noto Sans"/>
                  <a:cs typeface="Noto Sans"/>
                  <a:sym typeface="Noto Sans"/>
                </a:rPr>
                <a:t>《春秋左傳・隱公十年／十一年》（中國哲學書電子化計劃）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8760" y="3799437"/>
            <a:ext cx="15087057" cy="570486"/>
            <a:chOff x="0" y="0"/>
            <a:chExt cx="20116076" cy="760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116081" cy="760652"/>
            </a:xfrm>
            <a:custGeom>
              <a:avLst/>
              <a:gdLst/>
              <a:ahLst/>
              <a:cxnLst/>
              <a:rect r="r" b="b" t="t" l="l"/>
              <a:pathLst>
                <a:path h="760652" w="20116081">
                  <a:moveTo>
                    <a:pt x="0" y="0"/>
                  </a:moveTo>
                  <a:lnTo>
                    <a:pt x="20116081" y="0"/>
                  </a:lnTo>
                  <a:lnTo>
                    <a:pt x="20116081" y="760652"/>
                  </a:lnTo>
                  <a:lnTo>
                    <a:pt x="0" y="760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292" r="0" b="-44530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0116076" cy="760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u="sng">
                  <a:solidFill>
                    <a:srgbClr val="0563C1"/>
                  </a:solidFill>
                  <a:latin typeface="Noto Sans"/>
                  <a:ea typeface="Noto Sans"/>
                  <a:cs typeface="Noto Sans"/>
                  <a:sym typeface="Noto Sans"/>
                  <a:hlinkClick r:id="rId5" tooltip="https://ctext.org/chun-qiu-zuo-zhuan/yin-gong/zh"/>
                </a:rPr>
                <a:t>https://ctext.org/chun-qiu-zuo-zhuan/yin-gong/zh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4594860"/>
            <a:ext cx="15635697" cy="695374"/>
            <a:chOff x="0" y="0"/>
            <a:chExt cx="20847596" cy="9271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847600" cy="927166"/>
            </a:xfrm>
            <a:custGeom>
              <a:avLst/>
              <a:gdLst/>
              <a:ahLst/>
              <a:cxnLst/>
              <a:rect r="r" b="b" t="t" l="l"/>
              <a:pathLst>
                <a:path h="927166" w="20847600">
                  <a:moveTo>
                    <a:pt x="0" y="0"/>
                  </a:moveTo>
                  <a:lnTo>
                    <a:pt x="20847600" y="0"/>
                  </a:lnTo>
                  <a:lnTo>
                    <a:pt x="20847600" y="927166"/>
                  </a:lnTo>
                  <a:lnTo>
                    <a:pt x="0" y="927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18" r="0" b="-37163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0847596" cy="927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9"/>
                </a:lnSpc>
              </a:pPr>
              <a:r>
                <a:rPr lang="en-US" sz="3524">
                  <a:solidFill>
                    <a:srgbClr val="263A3A"/>
                  </a:solidFill>
                  <a:latin typeface="Noto Sans"/>
                  <a:ea typeface="Noto Sans"/>
                  <a:cs typeface="Noto Sans"/>
                  <a:sym typeface="Noto Sans"/>
                </a:rPr>
                <a:t>馬驌：《左傳事緯》卷1（四庫全書本）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5171037"/>
            <a:ext cx="15087057" cy="570486"/>
            <a:chOff x="0" y="0"/>
            <a:chExt cx="20116076" cy="7606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081" cy="760652"/>
            </a:xfrm>
            <a:custGeom>
              <a:avLst/>
              <a:gdLst/>
              <a:ahLst/>
              <a:cxnLst/>
              <a:rect r="r" b="b" t="t" l="l"/>
              <a:pathLst>
                <a:path h="760652" w="20116081">
                  <a:moveTo>
                    <a:pt x="0" y="0"/>
                  </a:moveTo>
                  <a:lnTo>
                    <a:pt x="20116081" y="0"/>
                  </a:lnTo>
                  <a:lnTo>
                    <a:pt x="20116081" y="760652"/>
                  </a:lnTo>
                  <a:lnTo>
                    <a:pt x="0" y="760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292" r="0" b="-4453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0116076" cy="760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u="sng">
                  <a:solidFill>
                    <a:srgbClr val="0563C1"/>
                  </a:solidFill>
                  <a:latin typeface="Noto Sans"/>
                  <a:ea typeface="Noto Sans"/>
                  <a:cs typeface="Noto Sans"/>
                  <a:sym typeface="Noto Sans"/>
                  <a:hlinkClick r:id="rId6" tooltip="https://zh.wikisource.org/zh/%E5%B7%A6%E5%82%B3%E4%BA%8B%E7%B7%AF_(%E5%9B%9B%E5%BA%AB%E5%85%A8%E6%9B%B8%E6%9C%AC)/%E5%8D%B701"/>
                </a:rPr>
                <a:t>https://zh.wikisource.org/zh/左傳事緯_(四庫全書本)/卷01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5966460"/>
            <a:ext cx="15635697" cy="695374"/>
            <a:chOff x="0" y="0"/>
            <a:chExt cx="20847596" cy="9271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47600" cy="927166"/>
            </a:xfrm>
            <a:custGeom>
              <a:avLst/>
              <a:gdLst/>
              <a:ahLst/>
              <a:cxnLst/>
              <a:rect r="r" b="b" t="t" l="l"/>
              <a:pathLst>
                <a:path h="927166" w="20847600">
                  <a:moveTo>
                    <a:pt x="0" y="0"/>
                  </a:moveTo>
                  <a:lnTo>
                    <a:pt x="20847600" y="0"/>
                  </a:lnTo>
                  <a:lnTo>
                    <a:pt x="20847600" y="927166"/>
                  </a:lnTo>
                  <a:lnTo>
                    <a:pt x="0" y="927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18" r="0" b="-3716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0847596" cy="927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9"/>
                </a:lnSpc>
              </a:pPr>
              <a:r>
                <a:rPr lang="en-US" sz="3524">
                  <a:solidFill>
                    <a:srgbClr val="263A3A"/>
                  </a:solidFill>
                  <a:latin typeface="Noto Sans"/>
                  <a:ea typeface="Noto Sans"/>
                  <a:cs typeface="Noto Sans"/>
                  <a:sym typeface="Noto Sans"/>
                </a:rPr>
                <a:t>吳楚材、吳調侯：《古文觀止》卷1，〈鄭莊公戒飭守臣〉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6542637"/>
            <a:ext cx="15087057" cy="570486"/>
            <a:chOff x="0" y="0"/>
            <a:chExt cx="20116076" cy="7606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081" cy="760652"/>
            </a:xfrm>
            <a:custGeom>
              <a:avLst/>
              <a:gdLst/>
              <a:ahLst/>
              <a:cxnLst/>
              <a:rect r="r" b="b" t="t" l="l"/>
              <a:pathLst>
                <a:path h="760652" w="20116081">
                  <a:moveTo>
                    <a:pt x="0" y="0"/>
                  </a:moveTo>
                  <a:lnTo>
                    <a:pt x="20116081" y="0"/>
                  </a:lnTo>
                  <a:lnTo>
                    <a:pt x="20116081" y="760652"/>
                  </a:lnTo>
                  <a:lnTo>
                    <a:pt x="0" y="760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292" r="0" b="-44530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0116076" cy="760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u="sng">
                  <a:solidFill>
                    <a:srgbClr val="0563C1"/>
                  </a:solidFill>
                  <a:latin typeface="Noto Sans"/>
                  <a:ea typeface="Noto Sans"/>
                  <a:cs typeface="Noto Sans"/>
                  <a:sym typeface="Noto Sans"/>
                  <a:hlinkClick r:id="rId7" tooltip="https://ctext.org/wiki.pl?chapter=190871&amp;if=gb"/>
                </a:rPr>
                <a:t>https://ctext.org/wiki.pl?chapter=190871&amp;if=gb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7513173"/>
            <a:ext cx="15635697" cy="695374"/>
            <a:chOff x="0" y="0"/>
            <a:chExt cx="20847596" cy="9271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847600" cy="927166"/>
            </a:xfrm>
            <a:custGeom>
              <a:avLst/>
              <a:gdLst/>
              <a:ahLst/>
              <a:cxnLst/>
              <a:rect r="r" b="b" t="t" l="l"/>
              <a:pathLst>
                <a:path h="927166" w="20847600">
                  <a:moveTo>
                    <a:pt x="0" y="0"/>
                  </a:moveTo>
                  <a:lnTo>
                    <a:pt x="20847600" y="0"/>
                  </a:lnTo>
                  <a:lnTo>
                    <a:pt x="20847600" y="927166"/>
                  </a:lnTo>
                  <a:lnTo>
                    <a:pt x="0" y="927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18" r="0" b="-3716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0847596" cy="9271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9"/>
                </a:lnSpc>
              </a:pPr>
              <a:r>
                <a:rPr lang="en-US" sz="3524">
                  <a:solidFill>
                    <a:srgbClr val="263A3A"/>
                  </a:solidFill>
                  <a:latin typeface="Noto Sans"/>
                  <a:ea typeface="Noto Sans"/>
                  <a:cs typeface="Noto Sans"/>
                  <a:sym typeface="Noto Sans"/>
                </a:rPr>
                <a:t>《欽定春秋傳說彙纂》隱公十一年（彙錄杜預、孔穎達、趙匡等說）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03020" y="8089350"/>
            <a:ext cx="15087057" cy="570486"/>
            <a:chOff x="0" y="0"/>
            <a:chExt cx="20116076" cy="7606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16081" cy="760652"/>
            </a:xfrm>
            <a:custGeom>
              <a:avLst/>
              <a:gdLst/>
              <a:ahLst/>
              <a:cxnLst/>
              <a:rect r="r" b="b" t="t" l="l"/>
              <a:pathLst>
                <a:path h="760652" w="20116081">
                  <a:moveTo>
                    <a:pt x="0" y="0"/>
                  </a:moveTo>
                  <a:lnTo>
                    <a:pt x="20116081" y="0"/>
                  </a:lnTo>
                  <a:lnTo>
                    <a:pt x="20116081" y="760652"/>
                  </a:lnTo>
                  <a:lnTo>
                    <a:pt x="0" y="760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292" r="0" b="-44530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0116076" cy="760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5"/>
                </a:lnSpc>
              </a:pPr>
              <a:r>
                <a:rPr lang="en-US" sz="2879" u="sng">
                  <a:solidFill>
                    <a:srgbClr val="0563C1"/>
                  </a:solidFill>
                  <a:latin typeface="Noto Sans"/>
                  <a:ea typeface="Noto Sans"/>
                  <a:cs typeface="Noto Sans"/>
                  <a:sym typeface="Noto Sans"/>
                  <a:hlinkClick r:id="rId8" tooltip="https://www.shidianguji.com/zh/book/SK0458/chapter/1l9uwkkl72nu0"/>
                </a:rPr>
                <a:t>https://www.shidianguji.com/zh/book/SK0458/chapter/1l9uwkkl72nu0</a:t>
              </a:r>
            </a:p>
          </p:txBody>
        </p:sp>
      </p:grp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482984"/>
            <a:ext cx="16367217" cy="61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900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References｜原典、注疏與古人評點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720947" y="1760223"/>
            <a:ext cx="14789877" cy="109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08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《春秋左氏傳・隱公元年、十一年》。可參中國哲學書電子化計劃（CTP）與《十三經注疏》本。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0947" y="3670920"/>
            <a:ext cx="15208905" cy="5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08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晉・杜預注，唐・孔穎達疏：《春秋左傳正義》，阮元校勘《十三經注疏》本。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0947" y="5029167"/>
            <a:ext cx="14789877" cy="109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08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南宋・呂祖謙：《東萊博議》〈潁考叔爭車〉。核心議題：能否由「孝」推至宗廟之敬、軍旅之肅。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0947" y="6574057"/>
            <a:ext cx="14789877" cy="54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08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清・吳楚材、吳調侯：《古文觀止》〈鄭莊公戒飭守臣〉及評點。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0947" y="7643801"/>
            <a:ext cx="14789877" cy="5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08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《欽定春秋傳說彙纂》隱公十一年，收趙匡、劉敞、李廉等經學評論。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0947" y="8713534"/>
            <a:ext cx="14789877" cy="5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508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教育部《重編國語辭典修訂本》：「授兵」條。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1540" y="521103"/>
            <a:ext cx="16458657" cy="753837"/>
            <a:chOff x="0" y="0"/>
            <a:chExt cx="21944876" cy="10051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4881" cy="1005120"/>
            </a:xfrm>
            <a:custGeom>
              <a:avLst/>
              <a:gdLst/>
              <a:ahLst/>
              <a:cxnLst/>
              <a:rect r="r" b="b" t="t" l="l"/>
              <a:pathLst>
                <a:path h="1005120" w="21944881">
                  <a:moveTo>
                    <a:pt x="0" y="0"/>
                  </a:moveTo>
                  <a:lnTo>
                    <a:pt x="21944881" y="0"/>
                  </a:lnTo>
                  <a:lnTo>
                    <a:pt x="21944881" y="1005120"/>
                  </a:lnTo>
                  <a:lnTo>
                    <a:pt x="0" y="1005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5418" r="0" b="-37541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4876" cy="1005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63A3A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References｜現代研究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1851660"/>
            <a:ext cx="15635697" cy="1118131"/>
            <a:chOff x="0" y="0"/>
            <a:chExt cx="20847596" cy="14908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47600" cy="1490841"/>
            </a:xfrm>
            <a:custGeom>
              <a:avLst/>
              <a:gdLst/>
              <a:ahLst/>
              <a:cxnLst/>
              <a:rect r="r" b="b" t="t" l="l"/>
              <a:pathLst>
                <a:path h="1490841" w="20847600">
                  <a:moveTo>
                    <a:pt x="0" y="0"/>
                  </a:moveTo>
                  <a:lnTo>
                    <a:pt x="20847600" y="0"/>
                  </a:lnTo>
                  <a:lnTo>
                    <a:pt x="20847600" y="1490841"/>
                  </a:lnTo>
                  <a:lnTo>
                    <a:pt x="0" y="1490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062" r="0" b="-20188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847596" cy="149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7"/>
                </a:lnSpc>
              </a:pPr>
              <a:r>
                <a:rPr lang="en-US" sz="3189">
                  <a:solidFill>
                    <a:srgbClr val="263A3A"/>
                  </a:solidFill>
                  <a:latin typeface="Noto Sans"/>
                  <a:ea typeface="Noto Sans"/>
                  <a:cs typeface="Noto Sans"/>
                  <a:sym typeface="Noto Sans"/>
                </a:rPr>
                <a:t>康凱淋（2026）〈古文評選在經義詮釋上的價值——以《左傳》「鄭莊公入許」為例〉，《中國學術年刊》48（春季號），47–74。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3020" y="2707872"/>
            <a:ext cx="14264097" cy="901439"/>
            <a:chOff x="0" y="0"/>
            <a:chExt cx="19018796" cy="12019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18800" cy="1201906"/>
            </a:xfrm>
            <a:custGeom>
              <a:avLst/>
              <a:gdLst/>
              <a:ahLst/>
              <a:cxnLst/>
              <a:rect r="r" b="b" t="t" l="l"/>
              <a:pathLst>
                <a:path h="1201906" w="19018800">
                  <a:moveTo>
                    <a:pt x="0" y="0"/>
                  </a:moveTo>
                  <a:lnTo>
                    <a:pt x="19018800" y="0"/>
                  </a:lnTo>
                  <a:lnTo>
                    <a:pt x="19018800" y="1201906"/>
                  </a:lnTo>
                  <a:lnTo>
                    <a:pt x="0" y="120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615" r="0" b="-2250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9018796" cy="1211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3"/>
                </a:lnSpc>
              </a:pPr>
              <a:r>
                <a:rPr lang="en-US" sz="2619" u="sng">
                  <a:solidFill>
                    <a:srgbClr val="0563C1"/>
                  </a:solidFill>
                  <a:latin typeface="Noto Sans"/>
                  <a:ea typeface="Noto Sans"/>
                  <a:cs typeface="Noto Sans"/>
                  <a:sym typeface="Noto Sans"/>
                  <a:hlinkClick r:id="rId4" tooltip="https://www.ch.ntnu.edu.tw/SIS/downloadfile.php?issue_id=69&amp;paper_id=643&amp;periodicalsDir=DESC&amp;periodicalsOrder=Sorter_issue_ch"/>
                </a:rPr>
                <a:t>https://www.ch.ntnu.edu.tw/SIS/downloadfile.php?issue_id=69&amp;paper_id=643&amp;periodicalsDir=DESC&amp;periodicalsOrder=Sorter_issue_ch</a:t>
              </a:r>
            </a:p>
          </p:txBody>
        </p:sp>
      </p:grp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7260" y="511559"/>
            <a:ext cx="1636721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263A3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References｜原典、史書與傳統評論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105" cy="47520"/>
            <a:chOff x="0" y="0"/>
            <a:chExt cx="24382806" cy="63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2857" cy="63373"/>
            </a:xfrm>
            <a:custGeom>
              <a:avLst/>
              <a:gdLst/>
              <a:ahLst/>
              <a:cxnLst/>
              <a:rect r="r" b="b" t="t" l="l"/>
              <a:pathLst>
                <a:path h="63373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63373"/>
                  </a:lnTo>
                  <a:lnTo>
                    <a:pt x="0" y="63373"/>
                  </a:lnTo>
                  <a:close/>
                </a:path>
              </a:pathLst>
            </a:custGeom>
            <a:solidFill>
              <a:srgbClr val="647A73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23060" y="1568834"/>
            <a:ext cx="1499561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《春秋左氏傳・隱公十一年》：https://ctext.org/chun-qiu-zuo-zhuan/yin-gong-shi-yi-nian/zh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3060" y="2846956"/>
            <a:ext cx="1499561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《春秋左氏傳・成公三年》：「許恃楚而不事鄭，鄭子良伐許」：https://ctext.org/chun-qiu-zuo-zhuan/cheng-gong-san-nian/zh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3060" y="4222513"/>
            <a:ext cx="1499561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《春秋左氏傳・成公十五年》：「許靈公畏逼於鄭……遷許於葉」：https://ctext.org/chun-qiu-zuo-zhuan/cheng-gong-shi-wu-nian/zhs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060" y="5498863"/>
            <a:ext cx="1499561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《春秋左氏傳・定公六年》：「鄭游速帥師滅許」：https://ctext.org/chun-qiu-zuo-zhuan/ding-gong-liu-nian/zh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3060" y="6701352"/>
            <a:ext cx="149956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司馬遷《史記・鄭世家》：https://ctext.org/shiji/zheng-shi-jia/zh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3060" y="7702506"/>
            <a:ext cx="149956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馬驌《左傳事緯》〈鄭莊入許〉：https://ctext.org/wiki.pl?chapter=705704&amp;if=gb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3060" y="8703669"/>
            <a:ext cx="1499561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49">
                <a:solidFill>
                  <a:srgbClr val="243132"/>
                </a:solidFill>
                <a:latin typeface="Noto Sans"/>
                <a:ea typeface="Noto Sans"/>
                <a:cs typeface="Noto Sans"/>
                <a:sym typeface="Noto Sans"/>
              </a:rPr>
              <a:t>《左傳紀事本末》相關鄭、許條目：https://zh.wikisource.org/wiki/左傳紀事本末_(四庫全書本)/全覽2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9525" y="-9525"/>
            <a:ext cx="18306155" cy="128130"/>
            <a:chOff x="0" y="0"/>
            <a:chExt cx="24408206" cy="170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08257" cy="170815"/>
            </a:xfrm>
            <a:custGeom>
              <a:avLst/>
              <a:gdLst/>
              <a:ahLst/>
              <a:cxnLst/>
              <a:rect r="r" b="b" t="t" l="l"/>
              <a:pathLst>
                <a:path h="170815" w="24408257">
                  <a:moveTo>
                    <a:pt x="0" y="0"/>
                  </a:moveTo>
                  <a:lnTo>
                    <a:pt x="24408257" y="0"/>
                  </a:lnTo>
                  <a:lnTo>
                    <a:pt x="24408257" y="170815"/>
                  </a:lnTo>
                  <a:lnTo>
                    <a:pt x="0" y="170815"/>
                  </a:lnTo>
                  <a:close/>
                </a:path>
              </a:pathLst>
            </a:custGeom>
            <a:solidFill>
              <a:srgbClr val="263A3A"/>
            </a:solidFill>
            <a:ln w="19050" cap="sq">
              <a:solidFill>
                <a:srgbClr val="263A3A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DAHXge2nXuk</dc:identifier>
  <dcterms:modified xsi:type="dcterms:W3CDTF">2011-08-01T06:04:30Z</dcterms:modified>
  <cp:revision>1</cp:revision>
  <dc:title>鄭莊入許67.pptx</dc:title>
</cp:coreProperties>
</file>